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000000">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657600"/>
            <a:ext cx="12188952" cy="3200400"/>
          </a:xfrm>
          <a:prstGeom prst="rect">
            <a:avLst/>
          </a:prstGeom>
          <a:solidFill>
            <a:srgbClr val="000000">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88952" cy="54864"/>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57200"/>
            <a:ext cx="2743200" cy="411480"/>
          </a:xfrm>
          <a:prstGeom prst="rect">
            <a:avLst/>
          </a:prstGeom>
          <a:noFill/>
        </p:spPr>
        <p:txBody>
          <a:bodyPr wrap="square" anchor="t">
            <a:spAutoFit/>
          </a:bodyPr>
          <a:lstStyle/>
          <a:p>
            <a:pPr algn="l">
              <a:spcAft>
                <a:spcPts val="600"/>
              </a:spcAft>
            </a:pPr>
            <a:r>
              <a:rPr sz="1300" b="1" i="0">
                <a:solidFill>
                  <a:srgbClr val="B7955D"/>
                </a:solidFill>
                <a:latin typeface="Segoe UI"/>
              </a:rPr>
              <a:t>VSL 360</a:t>
            </a:r>
          </a:p>
        </p:txBody>
      </p:sp>
      <p:sp>
        <p:nvSpPr>
          <p:cNvPr id="7" name="TextBox 6"/>
          <p:cNvSpPr txBox="1"/>
          <p:nvPr/>
        </p:nvSpPr>
        <p:spPr>
          <a:xfrm>
            <a:off x="841248" y="804672"/>
            <a:ext cx="4572000" cy="274320"/>
          </a:xfrm>
          <a:prstGeom prst="rect">
            <a:avLst/>
          </a:prstGeom>
          <a:noFill/>
        </p:spPr>
        <p:txBody>
          <a:bodyPr wrap="square" anchor="t">
            <a:spAutoFit/>
          </a:bodyPr>
          <a:lstStyle/>
          <a:p>
            <a:pPr algn="l">
              <a:spcAft>
                <a:spcPts val="0"/>
              </a:spcAft>
            </a:pPr>
            <a:r>
              <a:rPr sz="950" b="0" i="0">
                <a:solidFill>
                  <a:srgbClr val="D2D2D2"/>
                </a:solidFill>
                <a:latin typeface="Segoe UI"/>
              </a:rPr>
              <a:t>T R A V E L  I T I N E R A R Y</a:t>
            </a:r>
          </a:p>
        </p:txBody>
      </p:sp>
      <p:sp>
        <p:nvSpPr>
          <p:cNvPr id="8" name="Rectangle 7"/>
          <p:cNvSpPr/>
          <p:nvPr/>
        </p:nvSpPr>
        <p:spPr>
          <a:xfrm>
            <a:off x="841248" y="1115568"/>
            <a:ext cx="146304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60320"/>
            <a:ext cx="7772400" cy="1463040"/>
          </a:xfrm>
          <a:prstGeom prst="rect">
            <a:avLst/>
          </a:prstGeom>
          <a:noFill/>
        </p:spPr>
        <p:txBody>
          <a:bodyPr wrap="square" anchor="t">
            <a:spAutoFit/>
          </a:bodyPr>
          <a:lstStyle/>
          <a:p>
            <a:pPr algn="l"/>
            <a:r>
              <a:rPr sz="5400" b="1" i="0">
                <a:solidFill>
                  <a:srgbClr val="FFFFFF"/>
                </a:solidFill>
                <a:latin typeface="Georgia"/>
              </a:rPr>
              <a:t>8 Days Tour in Sri Lanka</a:t>
            </a:r>
          </a:p>
        </p:txBody>
      </p:sp>
      <p:sp>
        <p:nvSpPr>
          <p:cNvPr id="10" name="TextBox 9"/>
          <p:cNvSpPr txBox="1"/>
          <p:nvPr/>
        </p:nvSpPr>
        <p:spPr>
          <a:xfrm>
            <a:off x="868680" y="4160520"/>
            <a:ext cx="4572000" cy="457200"/>
          </a:xfrm>
          <a:prstGeom prst="rect">
            <a:avLst/>
          </a:prstGeom>
          <a:noFill/>
        </p:spPr>
        <p:txBody>
          <a:bodyPr wrap="square" anchor="t">
            <a:spAutoFit/>
          </a:bodyPr>
          <a:lstStyle/>
          <a:p>
            <a:pPr algn="l">
              <a:spcAft>
                <a:spcPts val="400"/>
              </a:spcAft>
            </a:pPr>
            <a:r>
              <a:rPr sz="1800" b="0" i="1">
                <a:solidFill>
                  <a:srgbClr val="DCD7CD"/>
                </a:solidFill>
                <a:latin typeface="Segoe UI"/>
              </a:rPr>
              <a:t>SRI LANKA</a:t>
            </a:r>
          </a:p>
        </p:txBody>
      </p:sp>
      <p:sp>
        <p:nvSpPr>
          <p:cNvPr id="11" name="Rectangle 10"/>
          <p:cNvSpPr/>
          <p:nvPr/>
        </p:nvSpPr>
        <p:spPr>
          <a:xfrm>
            <a:off x="841248" y="4754880"/>
            <a:ext cx="32004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235440" y="5029200"/>
            <a:ext cx="2377440" cy="1188720"/>
          </a:xfrm>
          <a:prstGeom prst="roundRect">
            <a:avLst/>
          </a:prstGeom>
          <a:solidFill>
            <a:srgbClr val="000000">
              <a:alpha val="60000"/>
            </a:srgbClr>
          </a:solidFill>
          <a:ln w="9525">
            <a:solidFill>
              <a:srgbClr val="B7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0" y="5074920"/>
            <a:ext cx="2377440" cy="594360"/>
          </a:xfrm>
          <a:prstGeom prst="rect">
            <a:avLst/>
          </a:prstGeom>
          <a:noFill/>
        </p:spPr>
        <p:txBody>
          <a:bodyPr wrap="square" anchor="t">
            <a:spAutoFit/>
          </a:bodyPr>
          <a:lstStyle/>
          <a:p>
            <a:pPr algn="ctr"/>
            <a:r>
              <a:rPr sz="3600" b="1" i="0">
                <a:solidFill>
                  <a:srgbClr val="FFFFFF"/>
                </a:solidFill>
                <a:latin typeface="Georgia"/>
              </a:rPr>
              <a:t>7</a:t>
            </a:r>
          </a:p>
        </p:txBody>
      </p:sp>
      <p:sp>
        <p:nvSpPr>
          <p:cNvPr id="14" name="TextBox 13"/>
          <p:cNvSpPr txBox="1"/>
          <p:nvPr/>
        </p:nvSpPr>
        <p:spPr>
          <a:xfrm>
            <a:off x="9235440" y="5623560"/>
            <a:ext cx="2377440" cy="320040"/>
          </a:xfrm>
          <a:prstGeom prst="rect">
            <a:avLst/>
          </a:prstGeom>
          <a:noFill/>
        </p:spPr>
        <p:txBody>
          <a:bodyPr wrap="square" anchor="t">
            <a:spAutoFit/>
          </a:bodyPr>
          <a:lstStyle/>
          <a:p>
            <a:pPr algn="ctr"/>
            <a:r>
              <a:rPr sz="950" b="0" i="0">
                <a:solidFill>
                  <a:srgbClr val="E8DAC0"/>
                </a:solidFill>
                <a:latin typeface="Segoe UI"/>
              </a:rPr>
              <a:t>NIGHTS  /  8 DAYS</a:t>
            </a:r>
          </a:p>
        </p:txBody>
      </p:sp>
      <p:sp>
        <p:nvSpPr>
          <p:cNvPr id="15" name="TextBox 14"/>
          <p:cNvSpPr txBox="1"/>
          <p:nvPr/>
        </p:nvSpPr>
        <p:spPr>
          <a:xfrm>
            <a:off x="841248" y="6080760"/>
            <a:ext cx="5486400" cy="320040"/>
          </a:xfrm>
          <a:prstGeom prst="rect">
            <a:avLst/>
          </a:prstGeom>
          <a:noFill/>
        </p:spPr>
        <p:txBody>
          <a:bodyPr wrap="square" anchor="t">
            <a:spAutoFit/>
          </a:bodyPr>
          <a:lstStyle/>
          <a:p>
            <a:pPr algn="l"/>
            <a:r>
              <a:rPr sz="1200" b="0" i="1">
                <a:solidFill>
                  <a:srgbClr val="C8C8C8"/>
                </a:solidFill>
                <a:latin typeface="Segoe UI"/>
              </a:rPr>
              <a:t>Prepared for Mr. Shery Jain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3657600" cy="320040"/>
          </a:xfrm>
          <a:prstGeom prst="rect">
            <a:avLst/>
          </a:prstGeom>
          <a:noFill/>
        </p:spPr>
        <p:txBody>
          <a:bodyPr wrap="square" anchor="t">
            <a:spAutoFit/>
          </a:bodyPr>
          <a:lstStyle/>
          <a:p>
            <a:pPr algn="l"/>
            <a:r>
              <a:rPr sz="1000" b="1" i="0">
                <a:solidFill>
                  <a:srgbClr val="8E8E93"/>
                </a:solidFill>
                <a:latin typeface="Segoe UI"/>
              </a:rPr>
              <a:t>OVERVIEW</a:t>
            </a:r>
          </a:p>
        </p:txBody>
      </p:sp>
      <p:sp>
        <p:nvSpPr>
          <p:cNvPr id="5" name="Rectangle 4"/>
          <p:cNvSpPr/>
          <p:nvPr/>
        </p:nvSpPr>
        <p:spPr>
          <a:xfrm>
            <a:off x="822960" y="886968"/>
            <a:ext cx="109728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97280"/>
            <a:ext cx="5486400" cy="594360"/>
          </a:xfrm>
          <a:prstGeom prst="rect">
            <a:avLst/>
          </a:prstGeom>
          <a:noFill/>
        </p:spPr>
        <p:txBody>
          <a:bodyPr wrap="square" anchor="t">
            <a:spAutoFit/>
          </a:bodyPr>
          <a:lstStyle/>
          <a:p>
            <a:pPr algn="l"/>
            <a:r>
              <a:rPr sz="3800" b="1" i="0">
                <a:solidFill>
                  <a:srgbClr val="1C1C1E"/>
                </a:solidFill>
                <a:latin typeface="Georgia"/>
              </a:rPr>
              <a:t>Your Journey</a:t>
            </a:r>
          </a:p>
        </p:txBody>
      </p:sp>
      <p:sp>
        <p:nvSpPr>
          <p:cNvPr id="7" name="TextBox 6"/>
          <p:cNvSpPr txBox="1"/>
          <p:nvPr/>
        </p:nvSpPr>
        <p:spPr>
          <a:xfrm>
            <a:off x="822960" y="2011680"/>
            <a:ext cx="6217920" cy="3657600"/>
          </a:xfrm>
          <a:prstGeom prst="rect">
            <a:avLst/>
          </a:prstGeom>
          <a:noFill/>
        </p:spPr>
        <p:txBody>
          <a:bodyPr wrap="square" anchor="t">
            <a:spAutoFit/>
          </a:bodyPr>
          <a:lstStyle/>
          <a:p>
            <a:pPr algn="l"/>
            <a:r>
              <a:rPr sz="1500" b="0" i="0">
                <a:solidFill>
                  <a:srgbClr val="48484A"/>
                </a:solidFill>
                <a:latin typeface="Segoe UI"/>
              </a:rPr>
              <a:t>Embark on an unforgettable journey through Sri Lanka, the Pearl of the Indian Ocean. This carefully curated 8-day adventure takes you from the bustling streets of Colombo to the ancient cultural wonders of Kandy, through the misty tea plantations of Nuwara Eliya, and down to the pristine southern coast. Experience the perfect blend of cultural heritage, natural beauty, and authentic Sri Lankan hospitality.</a:t>
            </a:r>
          </a:p>
        </p:txBody>
      </p:sp>
      <p:sp>
        <p:nvSpPr>
          <p:cNvPr id="8" name="TextBox 7"/>
          <p:cNvSpPr txBox="1"/>
          <p:nvPr/>
        </p:nvSpPr>
        <p:spPr>
          <a:xfrm>
            <a:off x="822960" y="5852160"/>
            <a:ext cx="4572000" cy="320040"/>
          </a:xfrm>
          <a:prstGeom prst="rect">
            <a:avLst/>
          </a:prstGeom>
          <a:noFill/>
        </p:spPr>
        <p:txBody>
          <a:bodyPr wrap="square" anchor="t">
            <a:spAutoFit/>
          </a:bodyPr>
          <a:lstStyle/>
          <a:p>
            <a:pPr algn="l"/>
            <a:r>
              <a:rPr sz="1200" b="0" i="1">
                <a:solidFill>
                  <a:srgbClr val="8E8E93"/>
                </a:solidFill>
                <a:latin typeface="Segoe UI"/>
              </a:rPr>
              <a:t>March 15, 2024  —  March 23, 2024</a:t>
            </a:r>
          </a:p>
        </p:txBody>
      </p:sp>
      <p:sp>
        <p:nvSpPr>
          <p:cNvPr id="9" name="Rounded Rectangle 8"/>
          <p:cNvSpPr/>
          <p:nvPr/>
        </p:nvSpPr>
        <p:spPr>
          <a:xfrm>
            <a:off x="7680960" y="502920"/>
            <a:ext cx="3977639" cy="5852160"/>
          </a:xfrm>
          <a:prstGeom prst="roundRect">
            <a:avLst/>
          </a:prstGeom>
          <a:solidFill>
            <a:srgbClr val="FFFFFF"/>
          </a:solidFill>
          <a:ln w="9525">
            <a:solidFill>
              <a:srgbClr val="E1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0" y="502920"/>
            <a:ext cx="3977639" cy="73152"/>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914400"/>
            <a:ext cx="3200400" cy="320040"/>
          </a:xfrm>
          <a:prstGeom prst="rect">
            <a:avLst/>
          </a:prstGeom>
          <a:noFill/>
        </p:spPr>
        <p:txBody>
          <a:bodyPr wrap="square" anchor="t">
            <a:spAutoFit/>
          </a:bodyPr>
          <a:lstStyle/>
          <a:p>
            <a:pPr algn="l"/>
            <a:r>
              <a:rPr sz="1000" b="1" i="0">
                <a:solidFill>
                  <a:srgbClr val="8C6D3C"/>
                </a:solidFill>
                <a:latin typeface="Segoe UI"/>
              </a:rPr>
              <a:t>DESTINATIONS</a:t>
            </a:r>
          </a:p>
        </p:txBody>
      </p:sp>
      <p:sp>
        <p:nvSpPr>
          <p:cNvPr id="12" name="Rectangle 11"/>
          <p:cNvSpPr/>
          <p:nvPr/>
        </p:nvSpPr>
        <p:spPr>
          <a:xfrm>
            <a:off x="8046720" y="1261872"/>
            <a:ext cx="182880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174736" y="1618488"/>
            <a:ext cx="109728" cy="109728"/>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554480"/>
            <a:ext cx="2286000" cy="292608"/>
          </a:xfrm>
          <a:prstGeom prst="rect">
            <a:avLst/>
          </a:prstGeom>
          <a:noFill/>
        </p:spPr>
        <p:txBody>
          <a:bodyPr wrap="square" anchor="t">
            <a:spAutoFit/>
          </a:bodyPr>
          <a:lstStyle/>
          <a:p>
            <a:pPr algn="l"/>
            <a:r>
              <a:rPr sz="1500" b="1" i="0">
                <a:solidFill>
                  <a:srgbClr val="1C1C1E"/>
                </a:solidFill>
                <a:latin typeface="Segoe UI"/>
              </a:rPr>
              <a:t>Colombo</a:t>
            </a:r>
          </a:p>
        </p:txBody>
      </p:sp>
      <p:sp>
        <p:nvSpPr>
          <p:cNvPr id="15" name="TextBox 14"/>
          <p:cNvSpPr txBox="1"/>
          <p:nvPr/>
        </p:nvSpPr>
        <p:spPr>
          <a:xfrm>
            <a:off x="10607040" y="1554480"/>
            <a:ext cx="914400" cy="292608"/>
          </a:xfrm>
          <a:prstGeom prst="rect">
            <a:avLst/>
          </a:prstGeom>
          <a:noFill/>
        </p:spPr>
        <p:txBody>
          <a:bodyPr wrap="square" anchor="t">
            <a:spAutoFit/>
          </a:bodyPr>
          <a:lstStyle/>
          <a:p>
            <a:pPr algn="r"/>
            <a:r>
              <a:rPr sz="1200" b="0" i="0">
                <a:solidFill>
                  <a:srgbClr val="8E8E93"/>
                </a:solidFill>
                <a:latin typeface="Segoe UI"/>
              </a:rPr>
              <a:t>2 nights</a:t>
            </a:r>
          </a:p>
        </p:txBody>
      </p:sp>
      <p:sp>
        <p:nvSpPr>
          <p:cNvPr id="16" name="Oval 15"/>
          <p:cNvSpPr/>
          <p:nvPr/>
        </p:nvSpPr>
        <p:spPr>
          <a:xfrm>
            <a:off x="8174736" y="2093975"/>
            <a:ext cx="109728" cy="109728"/>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029967"/>
            <a:ext cx="2286000" cy="292608"/>
          </a:xfrm>
          <a:prstGeom prst="rect">
            <a:avLst/>
          </a:prstGeom>
          <a:noFill/>
        </p:spPr>
        <p:txBody>
          <a:bodyPr wrap="square" anchor="t">
            <a:spAutoFit/>
          </a:bodyPr>
          <a:lstStyle/>
          <a:p>
            <a:pPr algn="l"/>
            <a:r>
              <a:rPr sz="1500" b="1" i="0">
                <a:solidFill>
                  <a:srgbClr val="1C1C1E"/>
                </a:solidFill>
                <a:latin typeface="Segoe UI"/>
              </a:rPr>
              <a:t>Kandy</a:t>
            </a:r>
          </a:p>
        </p:txBody>
      </p:sp>
      <p:sp>
        <p:nvSpPr>
          <p:cNvPr id="18" name="TextBox 17"/>
          <p:cNvSpPr txBox="1"/>
          <p:nvPr/>
        </p:nvSpPr>
        <p:spPr>
          <a:xfrm>
            <a:off x="10607040" y="2029967"/>
            <a:ext cx="914400" cy="292608"/>
          </a:xfrm>
          <a:prstGeom prst="rect">
            <a:avLst/>
          </a:prstGeom>
          <a:noFill/>
        </p:spPr>
        <p:txBody>
          <a:bodyPr wrap="square" anchor="t">
            <a:spAutoFit/>
          </a:bodyPr>
          <a:lstStyle/>
          <a:p>
            <a:pPr algn="r"/>
            <a:r>
              <a:rPr sz="1200" b="0" i="0">
                <a:solidFill>
                  <a:srgbClr val="8E8E93"/>
                </a:solidFill>
                <a:latin typeface="Segoe UI"/>
              </a:rPr>
              <a:t>2 nights</a:t>
            </a:r>
          </a:p>
        </p:txBody>
      </p:sp>
      <p:sp>
        <p:nvSpPr>
          <p:cNvPr id="19" name="Oval 18"/>
          <p:cNvSpPr/>
          <p:nvPr/>
        </p:nvSpPr>
        <p:spPr>
          <a:xfrm>
            <a:off x="8174736" y="2569463"/>
            <a:ext cx="109728" cy="109728"/>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2505456"/>
            <a:ext cx="2286000" cy="292608"/>
          </a:xfrm>
          <a:prstGeom prst="rect">
            <a:avLst/>
          </a:prstGeom>
          <a:noFill/>
        </p:spPr>
        <p:txBody>
          <a:bodyPr wrap="square" anchor="t">
            <a:spAutoFit/>
          </a:bodyPr>
          <a:lstStyle/>
          <a:p>
            <a:pPr algn="l"/>
            <a:r>
              <a:rPr sz="1500" b="1" i="0">
                <a:solidFill>
                  <a:srgbClr val="1C1C1E"/>
                </a:solidFill>
                <a:latin typeface="Segoe UI"/>
              </a:rPr>
              <a:t>Nuwara Eliya</a:t>
            </a:r>
          </a:p>
        </p:txBody>
      </p:sp>
      <p:sp>
        <p:nvSpPr>
          <p:cNvPr id="21" name="TextBox 20"/>
          <p:cNvSpPr txBox="1"/>
          <p:nvPr/>
        </p:nvSpPr>
        <p:spPr>
          <a:xfrm>
            <a:off x="10607040" y="2505456"/>
            <a:ext cx="914400" cy="292608"/>
          </a:xfrm>
          <a:prstGeom prst="rect">
            <a:avLst/>
          </a:prstGeom>
          <a:noFill/>
        </p:spPr>
        <p:txBody>
          <a:bodyPr wrap="square" anchor="t">
            <a:spAutoFit/>
          </a:bodyPr>
          <a:lstStyle/>
          <a:p>
            <a:pPr algn="r"/>
            <a:r>
              <a:rPr sz="1200" b="0" i="0">
                <a:solidFill>
                  <a:srgbClr val="8E8E93"/>
                </a:solidFill>
                <a:latin typeface="Segoe UI"/>
              </a:rPr>
              <a:t>2 nights</a:t>
            </a:r>
          </a:p>
        </p:txBody>
      </p:sp>
      <p:sp>
        <p:nvSpPr>
          <p:cNvPr id="22" name="Oval 21"/>
          <p:cNvSpPr/>
          <p:nvPr/>
        </p:nvSpPr>
        <p:spPr>
          <a:xfrm>
            <a:off x="8174736" y="3044951"/>
            <a:ext cx="109728" cy="109728"/>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2980944"/>
            <a:ext cx="2286000" cy="292608"/>
          </a:xfrm>
          <a:prstGeom prst="rect">
            <a:avLst/>
          </a:prstGeom>
          <a:noFill/>
        </p:spPr>
        <p:txBody>
          <a:bodyPr wrap="square" anchor="t">
            <a:spAutoFit/>
          </a:bodyPr>
          <a:lstStyle/>
          <a:p>
            <a:pPr algn="l"/>
            <a:r>
              <a:rPr sz="1500" b="1" i="0">
                <a:solidFill>
                  <a:srgbClr val="1C1C1E"/>
                </a:solidFill>
                <a:latin typeface="Segoe UI"/>
              </a:rPr>
              <a:t>Galle</a:t>
            </a:r>
          </a:p>
        </p:txBody>
      </p:sp>
      <p:sp>
        <p:nvSpPr>
          <p:cNvPr id="24" name="TextBox 23"/>
          <p:cNvSpPr txBox="1"/>
          <p:nvPr/>
        </p:nvSpPr>
        <p:spPr>
          <a:xfrm>
            <a:off x="10607040" y="2980944"/>
            <a:ext cx="914400" cy="292608"/>
          </a:xfrm>
          <a:prstGeom prst="rect">
            <a:avLst/>
          </a:prstGeom>
          <a:noFill/>
        </p:spPr>
        <p:txBody>
          <a:bodyPr wrap="square" anchor="t">
            <a:spAutoFit/>
          </a:bodyPr>
          <a:lstStyle/>
          <a:p>
            <a:pPr algn="r"/>
            <a:r>
              <a:rPr sz="1200" b="0" i="0">
                <a:solidFill>
                  <a:srgbClr val="8E8E93"/>
                </a:solidFill>
                <a:latin typeface="Segoe UI"/>
              </a:rPr>
              <a:t>1 night</a:t>
            </a:r>
          </a:p>
        </p:txBody>
      </p:sp>
      <p:sp>
        <p:nvSpPr>
          <p:cNvPr id="25" name="Rectangle 24"/>
          <p:cNvSpPr/>
          <p:nvPr/>
        </p:nvSpPr>
        <p:spPr>
          <a:xfrm>
            <a:off x="8046720" y="3593591"/>
            <a:ext cx="324612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3776472"/>
            <a:ext cx="3246120" cy="320040"/>
          </a:xfrm>
          <a:prstGeom prst="rect">
            <a:avLst/>
          </a:prstGeom>
          <a:noFill/>
        </p:spPr>
        <p:txBody>
          <a:bodyPr wrap="square" anchor="t">
            <a:spAutoFit/>
          </a:bodyPr>
          <a:lstStyle/>
          <a:p>
            <a:pPr algn="ctr"/>
            <a:r>
              <a:rPr sz="1300" b="1" i="0">
                <a:solidFill>
                  <a:srgbClr val="8C6D3C"/>
                </a:solidFill>
                <a:latin typeface="Segoe UI"/>
              </a:rPr>
              <a:t>7 Nights  |  8 Days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2743200" cy="274320"/>
          </a:xfrm>
          <a:prstGeom prst="rect">
            <a:avLst/>
          </a:prstGeom>
          <a:noFill/>
        </p:spPr>
        <p:txBody>
          <a:bodyPr wrap="square" anchor="t">
            <a:spAutoFit/>
          </a:bodyPr>
          <a:lstStyle/>
          <a:p>
            <a:pPr algn="l"/>
            <a:r>
              <a:rPr sz="1000" b="1" i="0">
                <a:solidFill>
                  <a:srgbClr val="8E8E93"/>
                </a:solidFill>
                <a:latin typeface="Segoe UI"/>
              </a:rPr>
              <a:t>ROUTE</a:t>
            </a:r>
          </a:p>
        </p:txBody>
      </p:sp>
      <p:sp>
        <p:nvSpPr>
          <p:cNvPr id="5" name="Rectangle 4"/>
          <p:cNvSpPr/>
          <p:nvPr/>
        </p:nvSpPr>
        <p:spPr>
          <a:xfrm>
            <a:off x="822960" y="804672"/>
            <a:ext cx="9144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960120"/>
            <a:ext cx="4572000" cy="548640"/>
          </a:xfrm>
          <a:prstGeom prst="rect">
            <a:avLst/>
          </a:prstGeom>
          <a:noFill/>
        </p:spPr>
        <p:txBody>
          <a:bodyPr wrap="square" anchor="t">
            <a:spAutoFit/>
          </a:bodyPr>
          <a:lstStyle/>
          <a:p>
            <a:pPr algn="l"/>
            <a:r>
              <a:rPr sz="3600" b="1" i="0">
                <a:solidFill>
                  <a:srgbClr val="1C1C1E"/>
                </a:solidFill>
                <a:latin typeface="Georgia"/>
              </a:rPr>
              <a:t>At a Glance</a:t>
            </a:r>
          </a:p>
        </p:txBody>
      </p:sp>
      <p:sp>
        <p:nvSpPr>
          <p:cNvPr id="7" name="Rectangle 6"/>
          <p:cNvSpPr/>
          <p:nvPr/>
        </p:nvSpPr>
        <p:spPr>
          <a:xfrm>
            <a:off x="1280160" y="3456432"/>
            <a:ext cx="9601200" cy="27432"/>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52143" y="3337560"/>
            <a:ext cx="256032" cy="256032"/>
          </a:xfrm>
          <a:prstGeom prst="ellipse">
            <a:avLst/>
          </a:prstGeom>
          <a:solidFill>
            <a:srgbClr val="FFFFFF"/>
          </a:solidFill>
          <a:ln w="12700">
            <a:solidFill>
              <a:srgbClr val="B7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16151" y="3401568"/>
            <a:ext cx="128016" cy="128016"/>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59" y="3794760"/>
            <a:ext cx="1371600" cy="384048"/>
          </a:xfrm>
          <a:prstGeom prst="rect">
            <a:avLst/>
          </a:prstGeom>
          <a:noFill/>
        </p:spPr>
        <p:txBody>
          <a:bodyPr wrap="square" anchor="t">
            <a:spAutoFit/>
          </a:bodyPr>
          <a:lstStyle/>
          <a:p>
            <a:pPr algn="ctr"/>
            <a:r>
              <a:rPr sz="1200" b="1" i="0">
                <a:solidFill>
                  <a:srgbClr val="1C1C1E"/>
                </a:solidFill>
                <a:latin typeface="Segoe UI"/>
              </a:rPr>
              <a:t>Colombo</a:t>
            </a:r>
          </a:p>
        </p:txBody>
      </p:sp>
      <p:sp>
        <p:nvSpPr>
          <p:cNvPr id="11" name="TextBox 10"/>
          <p:cNvSpPr txBox="1"/>
          <p:nvPr/>
        </p:nvSpPr>
        <p:spPr>
          <a:xfrm>
            <a:off x="822959" y="2971800"/>
            <a:ext cx="914400" cy="320040"/>
          </a:xfrm>
          <a:prstGeom prst="rect">
            <a:avLst/>
          </a:prstGeom>
          <a:noFill/>
        </p:spPr>
        <p:txBody>
          <a:bodyPr wrap="square" anchor="t">
            <a:spAutoFit/>
          </a:bodyPr>
          <a:lstStyle/>
          <a:p>
            <a:pPr algn="ctr"/>
            <a:r>
              <a:rPr sz="900" b="0" i="0">
                <a:solidFill>
                  <a:srgbClr val="8E8E93"/>
                </a:solidFill>
                <a:latin typeface="Segoe UI"/>
              </a:rPr>
              <a:t>Day 1</a:t>
            </a:r>
          </a:p>
        </p:txBody>
      </p:sp>
      <p:sp>
        <p:nvSpPr>
          <p:cNvPr id="12" name="Oval 11"/>
          <p:cNvSpPr/>
          <p:nvPr/>
        </p:nvSpPr>
        <p:spPr>
          <a:xfrm>
            <a:off x="3552444" y="3337560"/>
            <a:ext cx="256032" cy="256032"/>
          </a:xfrm>
          <a:prstGeom prst="ellipse">
            <a:avLst/>
          </a:prstGeom>
          <a:solidFill>
            <a:srgbClr val="FFFFFF"/>
          </a:solidFill>
          <a:ln w="12700">
            <a:solidFill>
              <a:srgbClr val="B7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16452" y="3401568"/>
            <a:ext cx="128016" cy="128016"/>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94660" y="3794760"/>
            <a:ext cx="1371600" cy="384048"/>
          </a:xfrm>
          <a:prstGeom prst="rect">
            <a:avLst/>
          </a:prstGeom>
          <a:noFill/>
        </p:spPr>
        <p:txBody>
          <a:bodyPr wrap="square" anchor="t">
            <a:spAutoFit/>
          </a:bodyPr>
          <a:lstStyle/>
          <a:p>
            <a:pPr algn="ctr"/>
            <a:r>
              <a:rPr sz="1200" b="1" i="0">
                <a:solidFill>
                  <a:srgbClr val="1C1C1E"/>
                </a:solidFill>
                <a:latin typeface="Segoe UI"/>
              </a:rPr>
              <a:t>Kandy</a:t>
            </a:r>
          </a:p>
        </p:txBody>
      </p:sp>
      <p:sp>
        <p:nvSpPr>
          <p:cNvPr id="15" name="TextBox 14"/>
          <p:cNvSpPr txBox="1"/>
          <p:nvPr/>
        </p:nvSpPr>
        <p:spPr>
          <a:xfrm>
            <a:off x="3223260" y="2971800"/>
            <a:ext cx="914400" cy="320040"/>
          </a:xfrm>
          <a:prstGeom prst="rect">
            <a:avLst/>
          </a:prstGeom>
          <a:noFill/>
        </p:spPr>
        <p:txBody>
          <a:bodyPr wrap="square" anchor="t">
            <a:spAutoFit/>
          </a:bodyPr>
          <a:lstStyle/>
          <a:p>
            <a:pPr algn="ctr"/>
            <a:r>
              <a:rPr sz="900" b="0" i="0">
                <a:solidFill>
                  <a:srgbClr val="8E8E93"/>
                </a:solidFill>
                <a:latin typeface="Segoe UI"/>
              </a:rPr>
              <a:t>Day 2</a:t>
            </a:r>
          </a:p>
        </p:txBody>
      </p:sp>
      <p:sp>
        <p:nvSpPr>
          <p:cNvPr id="16" name="Oval 15"/>
          <p:cNvSpPr/>
          <p:nvPr/>
        </p:nvSpPr>
        <p:spPr>
          <a:xfrm>
            <a:off x="5952744" y="3337560"/>
            <a:ext cx="256032" cy="256032"/>
          </a:xfrm>
          <a:prstGeom prst="ellipse">
            <a:avLst/>
          </a:prstGeom>
          <a:solidFill>
            <a:srgbClr val="FFFFFF"/>
          </a:solidFill>
          <a:ln w="12700">
            <a:solidFill>
              <a:srgbClr val="B7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16752" y="3401568"/>
            <a:ext cx="128016" cy="128016"/>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94960" y="3794760"/>
            <a:ext cx="1371600" cy="384048"/>
          </a:xfrm>
          <a:prstGeom prst="rect">
            <a:avLst/>
          </a:prstGeom>
          <a:noFill/>
        </p:spPr>
        <p:txBody>
          <a:bodyPr wrap="square" anchor="t">
            <a:spAutoFit/>
          </a:bodyPr>
          <a:lstStyle/>
          <a:p>
            <a:pPr algn="ctr"/>
            <a:r>
              <a:rPr sz="1200" b="1" i="0">
                <a:solidFill>
                  <a:srgbClr val="1C1C1E"/>
                </a:solidFill>
                <a:latin typeface="Segoe UI"/>
              </a:rPr>
              <a:t>Nuwara Eliya</a:t>
            </a:r>
          </a:p>
        </p:txBody>
      </p:sp>
      <p:sp>
        <p:nvSpPr>
          <p:cNvPr id="19" name="TextBox 18"/>
          <p:cNvSpPr txBox="1"/>
          <p:nvPr/>
        </p:nvSpPr>
        <p:spPr>
          <a:xfrm>
            <a:off x="5623560" y="2971800"/>
            <a:ext cx="914400" cy="320040"/>
          </a:xfrm>
          <a:prstGeom prst="rect">
            <a:avLst/>
          </a:prstGeom>
          <a:noFill/>
        </p:spPr>
        <p:txBody>
          <a:bodyPr wrap="square" anchor="t">
            <a:spAutoFit/>
          </a:bodyPr>
          <a:lstStyle/>
          <a:p>
            <a:pPr algn="ctr"/>
            <a:r>
              <a:rPr sz="900" b="0" i="0">
                <a:solidFill>
                  <a:srgbClr val="8E8E93"/>
                </a:solidFill>
                <a:latin typeface="Segoe UI"/>
              </a:rPr>
              <a:t>Day 3</a:t>
            </a:r>
          </a:p>
        </p:txBody>
      </p:sp>
      <p:sp>
        <p:nvSpPr>
          <p:cNvPr id="20" name="Oval 19"/>
          <p:cNvSpPr/>
          <p:nvPr/>
        </p:nvSpPr>
        <p:spPr>
          <a:xfrm>
            <a:off x="8353044" y="3337560"/>
            <a:ext cx="256032" cy="256032"/>
          </a:xfrm>
          <a:prstGeom prst="ellipse">
            <a:avLst/>
          </a:prstGeom>
          <a:solidFill>
            <a:srgbClr val="FFFFFF"/>
          </a:solidFill>
          <a:ln w="12700">
            <a:solidFill>
              <a:srgbClr val="B7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17052" y="3401568"/>
            <a:ext cx="128016" cy="128016"/>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95260" y="3794760"/>
            <a:ext cx="1371600" cy="384048"/>
          </a:xfrm>
          <a:prstGeom prst="rect">
            <a:avLst/>
          </a:prstGeom>
          <a:noFill/>
        </p:spPr>
        <p:txBody>
          <a:bodyPr wrap="square" anchor="t">
            <a:spAutoFit/>
          </a:bodyPr>
          <a:lstStyle/>
          <a:p>
            <a:pPr algn="ctr"/>
            <a:r>
              <a:rPr sz="1200" b="1" i="0">
                <a:solidFill>
                  <a:srgbClr val="1C1C1E"/>
                </a:solidFill>
                <a:latin typeface="Segoe UI"/>
              </a:rPr>
              <a:t>Galle</a:t>
            </a:r>
          </a:p>
        </p:txBody>
      </p:sp>
      <p:sp>
        <p:nvSpPr>
          <p:cNvPr id="23" name="TextBox 22"/>
          <p:cNvSpPr txBox="1"/>
          <p:nvPr/>
        </p:nvSpPr>
        <p:spPr>
          <a:xfrm>
            <a:off x="8023860" y="2971800"/>
            <a:ext cx="914400" cy="320040"/>
          </a:xfrm>
          <a:prstGeom prst="rect">
            <a:avLst/>
          </a:prstGeom>
          <a:noFill/>
        </p:spPr>
        <p:txBody>
          <a:bodyPr wrap="square" anchor="t">
            <a:spAutoFit/>
          </a:bodyPr>
          <a:lstStyle/>
          <a:p>
            <a:pPr algn="ctr"/>
            <a:r>
              <a:rPr sz="900" b="0" i="0">
                <a:solidFill>
                  <a:srgbClr val="8E8E93"/>
                </a:solidFill>
                <a:latin typeface="Segoe UI"/>
              </a:rPr>
              <a:t>Day 4</a:t>
            </a:r>
          </a:p>
        </p:txBody>
      </p:sp>
      <p:sp>
        <p:nvSpPr>
          <p:cNvPr id="24" name="Oval 23"/>
          <p:cNvSpPr/>
          <p:nvPr/>
        </p:nvSpPr>
        <p:spPr>
          <a:xfrm>
            <a:off x="10753344" y="3337560"/>
            <a:ext cx="256032" cy="256032"/>
          </a:xfrm>
          <a:prstGeom prst="ellipse">
            <a:avLst/>
          </a:prstGeom>
          <a:solidFill>
            <a:srgbClr val="FFFFFF"/>
          </a:solidFill>
          <a:ln w="12700">
            <a:solidFill>
              <a:srgbClr val="B7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817352" y="3401568"/>
            <a:ext cx="128016" cy="128016"/>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195560" y="3794760"/>
            <a:ext cx="1371600" cy="384048"/>
          </a:xfrm>
          <a:prstGeom prst="rect">
            <a:avLst/>
          </a:prstGeom>
          <a:noFill/>
        </p:spPr>
        <p:txBody>
          <a:bodyPr wrap="square" anchor="t">
            <a:spAutoFit/>
          </a:bodyPr>
          <a:lstStyle/>
          <a:p>
            <a:pPr algn="ctr"/>
            <a:r>
              <a:rPr sz="1200" b="1" i="0">
                <a:solidFill>
                  <a:srgbClr val="1C1C1E"/>
                </a:solidFill>
                <a:latin typeface="Segoe UI"/>
              </a:rPr>
              <a:t>Colombo</a:t>
            </a:r>
          </a:p>
        </p:txBody>
      </p:sp>
      <p:sp>
        <p:nvSpPr>
          <p:cNvPr id="27" name="TextBox 26"/>
          <p:cNvSpPr txBox="1"/>
          <p:nvPr/>
        </p:nvSpPr>
        <p:spPr>
          <a:xfrm>
            <a:off x="10424160" y="2971800"/>
            <a:ext cx="914400" cy="320040"/>
          </a:xfrm>
          <a:prstGeom prst="rect">
            <a:avLst/>
          </a:prstGeom>
          <a:noFill/>
        </p:spPr>
        <p:txBody>
          <a:bodyPr wrap="square" anchor="t">
            <a:spAutoFit/>
          </a:bodyPr>
          <a:lstStyle/>
          <a:p>
            <a:pPr algn="ctr"/>
            <a:r>
              <a:rPr sz="900" b="0" i="0">
                <a:solidFill>
                  <a:srgbClr val="8E8E93"/>
                </a:solidFill>
                <a:latin typeface="Segoe UI"/>
              </a:rPr>
              <a:t>Day 5</a:t>
            </a:r>
          </a:p>
        </p:txBody>
      </p:sp>
      <p:sp>
        <p:nvSpPr>
          <p:cNvPr id="28" name="Rounded Rectangle 27"/>
          <p:cNvSpPr/>
          <p:nvPr/>
        </p:nvSpPr>
        <p:spPr>
          <a:xfrm>
            <a:off x="822960" y="5303520"/>
            <a:ext cx="10515600" cy="914400"/>
          </a:xfrm>
          <a:prstGeom prst="roundRect">
            <a:avLst/>
          </a:prstGeom>
          <a:solidFill>
            <a:srgbClr val="F5F3F0"/>
          </a:solidFill>
          <a:ln w="9525">
            <a:solidFill>
              <a:srgbClr val="E1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5440680"/>
            <a:ext cx="10058400" cy="731520"/>
          </a:xfrm>
          <a:prstGeom prst="rect">
            <a:avLst/>
          </a:prstGeom>
          <a:noFill/>
        </p:spPr>
        <p:txBody>
          <a:bodyPr wrap="square" anchor="t">
            <a:spAutoFit/>
          </a:bodyPr>
          <a:lstStyle/>
          <a:p>
            <a:pPr algn="ctr">
              <a:spcBef>
                <a:spcPts val="0"/>
              </a:spcBef>
              <a:spcAft>
                <a:spcPts val="650"/>
              </a:spcAft>
            </a:pPr>
            <a:r>
              <a:rPr sz="1300" b="0">
                <a:solidFill>
                  <a:srgbClr val="8E8E93"/>
                </a:solidFill>
                <a:latin typeface="Segoe UI"/>
              </a:rPr>
              <a:t>8 days  •  7 nights</a:t>
            </a:r>
          </a:p>
          <a:p>
            <a:pPr algn="ctr">
              <a:spcBef>
                <a:spcPts val="0"/>
              </a:spcBef>
              <a:spcAft>
                <a:spcPts val="650"/>
              </a:spcAft>
            </a:pPr>
            <a:r>
              <a:rPr sz="1300" b="0">
                <a:solidFill>
                  <a:srgbClr val="8E8E93"/>
                </a:solidFill>
                <a:latin typeface="Segoe UI"/>
              </a:rPr>
              <a:t>Curated experiences across each destination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6089904" cy="6858000"/>
          </a:xfrm>
          <a:prstGeom prst="rect">
            <a:avLst/>
          </a:prstGeom>
        </p:spPr>
      </p:pic>
      <p:sp>
        <p:nvSpPr>
          <p:cNvPr id="4" name="Rectangle 3"/>
          <p:cNvSpPr/>
          <p:nvPr/>
        </p:nvSpPr>
        <p:spPr>
          <a:xfrm>
            <a:off x="6071616" y="0"/>
            <a:ext cx="36576" cy="685800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88952" cy="36576"/>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47104" y="640080"/>
            <a:ext cx="530352" cy="530352"/>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47104" y="640080"/>
            <a:ext cx="530352" cy="530352"/>
          </a:xfrm>
          <a:prstGeom prst="rect">
            <a:avLst/>
          </a:prstGeom>
          <a:noFill/>
        </p:spPr>
        <p:txBody>
          <a:bodyPr wrap="square" anchor="ctr">
            <a:spAutoFit/>
          </a:bodyPr>
          <a:lstStyle/>
          <a:p>
            <a:pPr algn="ctr"/>
            <a:r>
              <a:rPr sz="2200" b="1" i="0">
                <a:solidFill>
                  <a:srgbClr val="FFFFFF"/>
                </a:solidFill>
                <a:latin typeface="Georgia"/>
              </a:rPr>
              <a:t>1</a:t>
            </a:r>
          </a:p>
        </p:txBody>
      </p:sp>
      <p:sp>
        <p:nvSpPr>
          <p:cNvPr id="8" name="TextBox 7"/>
          <p:cNvSpPr txBox="1"/>
          <p:nvPr/>
        </p:nvSpPr>
        <p:spPr>
          <a:xfrm>
            <a:off x="7205472" y="621792"/>
            <a:ext cx="457200" cy="201168"/>
          </a:xfrm>
          <a:prstGeom prst="rect">
            <a:avLst/>
          </a:prstGeom>
          <a:noFill/>
        </p:spPr>
        <p:txBody>
          <a:bodyPr wrap="square" anchor="t">
            <a:spAutoFit/>
          </a:bodyPr>
          <a:lstStyle/>
          <a:p>
            <a:pPr algn="l"/>
            <a:r>
              <a:rPr sz="900" b="1" i="0">
                <a:solidFill>
                  <a:srgbClr val="8E8E93"/>
                </a:solidFill>
                <a:latin typeface="Segoe UI"/>
              </a:rPr>
              <a:t>DAY</a:t>
            </a:r>
          </a:p>
        </p:txBody>
      </p:sp>
      <p:sp>
        <p:nvSpPr>
          <p:cNvPr id="9" name="TextBox 8"/>
          <p:cNvSpPr txBox="1"/>
          <p:nvPr/>
        </p:nvSpPr>
        <p:spPr>
          <a:xfrm>
            <a:off x="7205472" y="841248"/>
            <a:ext cx="4617720" cy="274320"/>
          </a:xfrm>
          <a:prstGeom prst="rect">
            <a:avLst/>
          </a:prstGeom>
          <a:noFill/>
        </p:spPr>
        <p:txBody>
          <a:bodyPr wrap="square" anchor="t">
            <a:spAutoFit/>
          </a:bodyPr>
          <a:lstStyle/>
          <a:p>
            <a:pPr algn="l"/>
            <a:r>
              <a:rPr sz="1300" b="1" i="0">
                <a:solidFill>
                  <a:srgbClr val="8C6D3C"/>
                </a:solidFill>
                <a:latin typeface="Segoe UI"/>
              </a:rPr>
              <a:t>COLOMBO</a:t>
            </a:r>
          </a:p>
        </p:txBody>
      </p:sp>
      <p:sp>
        <p:nvSpPr>
          <p:cNvPr id="10" name="TextBox 9"/>
          <p:cNvSpPr txBox="1"/>
          <p:nvPr/>
        </p:nvSpPr>
        <p:spPr>
          <a:xfrm>
            <a:off x="6547104" y="1371600"/>
            <a:ext cx="5276088" cy="731520"/>
          </a:xfrm>
          <a:prstGeom prst="rect">
            <a:avLst/>
          </a:prstGeom>
          <a:noFill/>
        </p:spPr>
        <p:txBody>
          <a:bodyPr wrap="square" anchor="t">
            <a:spAutoFit/>
          </a:bodyPr>
          <a:lstStyle/>
          <a:p>
            <a:pPr algn="l"/>
            <a:r>
              <a:rPr sz="2600" b="1" i="0">
                <a:solidFill>
                  <a:srgbClr val="1C1C1E"/>
                </a:solidFill>
                <a:latin typeface="Georgia"/>
              </a:rPr>
              <a:t>Welcome to Sri Lanka</a:t>
            </a:r>
          </a:p>
        </p:txBody>
      </p:sp>
      <p:sp>
        <p:nvSpPr>
          <p:cNvPr id="11" name="Rectangle 10"/>
          <p:cNvSpPr/>
          <p:nvPr/>
        </p:nvSpPr>
        <p:spPr>
          <a:xfrm>
            <a:off x="6547104" y="2148840"/>
            <a:ext cx="18288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0" y="249631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75704" y="2423160"/>
            <a:ext cx="5047488" cy="292608"/>
          </a:xfrm>
          <a:prstGeom prst="rect">
            <a:avLst/>
          </a:prstGeom>
          <a:noFill/>
        </p:spPr>
        <p:txBody>
          <a:bodyPr wrap="square" anchor="t">
            <a:spAutoFit/>
          </a:bodyPr>
          <a:lstStyle/>
          <a:p>
            <a:pPr algn="l"/>
            <a:r>
              <a:rPr sz="1300" b="0" i="0">
                <a:solidFill>
                  <a:srgbClr val="48484A"/>
                </a:solidFill>
                <a:latin typeface="Segoe UI"/>
              </a:rPr>
              <a:t>Arrive at Bandaranaike International Airport</a:t>
            </a:r>
          </a:p>
        </p:txBody>
      </p:sp>
      <p:sp>
        <p:nvSpPr>
          <p:cNvPr id="14" name="Oval 13"/>
          <p:cNvSpPr/>
          <p:nvPr/>
        </p:nvSpPr>
        <p:spPr>
          <a:xfrm>
            <a:off x="6583680" y="288036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75704" y="2807208"/>
            <a:ext cx="5047488" cy="292608"/>
          </a:xfrm>
          <a:prstGeom prst="rect">
            <a:avLst/>
          </a:prstGeom>
          <a:noFill/>
        </p:spPr>
        <p:txBody>
          <a:bodyPr wrap="square" anchor="t">
            <a:spAutoFit/>
          </a:bodyPr>
          <a:lstStyle/>
          <a:p>
            <a:pPr algn="l"/>
            <a:r>
              <a:rPr sz="1300" b="0" i="0">
                <a:solidFill>
                  <a:srgbClr val="48484A"/>
                </a:solidFill>
                <a:latin typeface="Segoe UI"/>
              </a:rPr>
              <a:t>Meet and greet by VSL 360 representative</a:t>
            </a:r>
          </a:p>
        </p:txBody>
      </p:sp>
      <p:sp>
        <p:nvSpPr>
          <p:cNvPr id="16" name="Oval 15"/>
          <p:cNvSpPr/>
          <p:nvPr/>
        </p:nvSpPr>
        <p:spPr>
          <a:xfrm>
            <a:off x="6583680" y="3264408"/>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75704" y="3191256"/>
            <a:ext cx="5047488" cy="292608"/>
          </a:xfrm>
          <a:prstGeom prst="rect">
            <a:avLst/>
          </a:prstGeom>
          <a:noFill/>
        </p:spPr>
        <p:txBody>
          <a:bodyPr wrap="square" anchor="t">
            <a:spAutoFit/>
          </a:bodyPr>
          <a:lstStyle/>
          <a:p>
            <a:pPr algn="l"/>
            <a:r>
              <a:rPr sz="1300" b="0" i="0">
                <a:solidFill>
                  <a:srgbClr val="48484A"/>
                </a:solidFill>
                <a:latin typeface="Segoe UI"/>
              </a:rPr>
              <a:t>Transfer to hotel in Colombo (30 mins)</a:t>
            </a:r>
          </a:p>
        </p:txBody>
      </p:sp>
      <p:sp>
        <p:nvSpPr>
          <p:cNvPr id="18" name="Oval 17"/>
          <p:cNvSpPr/>
          <p:nvPr/>
        </p:nvSpPr>
        <p:spPr>
          <a:xfrm>
            <a:off x="6583680" y="3648455"/>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75704" y="3575303"/>
            <a:ext cx="5047488" cy="292608"/>
          </a:xfrm>
          <a:prstGeom prst="rect">
            <a:avLst/>
          </a:prstGeom>
          <a:noFill/>
        </p:spPr>
        <p:txBody>
          <a:bodyPr wrap="square" anchor="t">
            <a:spAutoFit/>
          </a:bodyPr>
          <a:lstStyle/>
          <a:p>
            <a:pPr algn="l"/>
            <a:r>
              <a:rPr sz="1300" b="0" i="0">
                <a:solidFill>
                  <a:srgbClr val="48484A"/>
                </a:solidFill>
                <a:latin typeface="Segoe UI"/>
              </a:rPr>
              <a:t>Check-in and freshen up</a:t>
            </a:r>
          </a:p>
        </p:txBody>
      </p:sp>
      <p:sp>
        <p:nvSpPr>
          <p:cNvPr id="20" name="Oval 19"/>
          <p:cNvSpPr/>
          <p:nvPr/>
        </p:nvSpPr>
        <p:spPr>
          <a:xfrm>
            <a:off x="6583680" y="4032504"/>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75704" y="3959352"/>
            <a:ext cx="5047488" cy="292608"/>
          </a:xfrm>
          <a:prstGeom prst="rect">
            <a:avLst/>
          </a:prstGeom>
          <a:noFill/>
        </p:spPr>
        <p:txBody>
          <a:bodyPr wrap="square" anchor="t">
            <a:spAutoFit/>
          </a:bodyPr>
          <a:lstStyle/>
          <a:p>
            <a:pPr algn="l"/>
            <a:r>
              <a:rPr sz="1300" b="0" i="0">
                <a:solidFill>
                  <a:srgbClr val="48484A"/>
                </a:solidFill>
                <a:latin typeface="Segoe UI"/>
              </a:rPr>
              <a:t>Welcome dinner featuring traditional Sri Lankan cuisine</a:t>
            </a:r>
          </a:p>
        </p:txBody>
      </p:sp>
      <p:sp>
        <p:nvSpPr>
          <p:cNvPr id="22" name="Rectangle 21"/>
          <p:cNvSpPr/>
          <p:nvPr/>
        </p:nvSpPr>
        <p:spPr>
          <a:xfrm>
            <a:off x="6547104" y="5715000"/>
            <a:ext cx="5276088"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47104" y="5852160"/>
            <a:ext cx="5276088" cy="256032"/>
          </a:xfrm>
          <a:prstGeom prst="rect">
            <a:avLst/>
          </a:prstGeom>
          <a:noFill/>
        </p:spPr>
        <p:txBody>
          <a:bodyPr wrap="square" anchor="t">
            <a:spAutoFit/>
          </a:bodyPr>
          <a:lstStyle/>
          <a:p>
            <a:pPr algn="l"/>
            <a:r>
              <a:rPr sz="1000" b="0" i="0">
                <a:solidFill>
                  <a:srgbClr val="8E8E93"/>
                </a:solidFill>
                <a:latin typeface="Segoe UI"/>
              </a:rPr>
              <a:t>Travel: 30 minutes   •   Distance: 35 km   •   Overnight: Colombo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9048" y="0"/>
            <a:ext cx="6089904" cy="6858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0" y="3200400"/>
            <a:ext cx="1463040" cy="274320"/>
          </a:xfrm>
          <a:prstGeom prst="rect">
            <a:avLst/>
          </a:prstGeom>
          <a:noFill/>
        </p:spPr>
        <p:txBody>
          <a:bodyPr wrap="square" anchor="t">
            <a:spAutoFit/>
          </a:bodyPr>
          <a:lstStyle/>
          <a:p>
            <a:pPr algn="ctr"/>
            <a:r>
              <a:rPr sz="1100" b="0" i="1">
                <a:solidFill>
                  <a:srgbClr val="8E8E93"/>
                </a:solidFill>
                <a:latin typeface="Segoe UI"/>
              </a:rPr>
              <a:t>— image —</a:t>
            </a:r>
          </a:p>
        </p:txBody>
      </p:sp>
      <p:sp>
        <p:nvSpPr>
          <p:cNvPr id="5" name="Rectangle 4"/>
          <p:cNvSpPr/>
          <p:nvPr/>
        </p:nvSpPr>
        <p:spPr>
          <a:xfrm>
            <a:off x="6080760" y="0"/>
            <a:ext cx="36576" cy="685800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36576"/>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640080"/>
            <a:ext cx="530352" cy="530352"/>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0080"/>
            <a:ext cx="530352" cy="530352"/>
          </a:xfrm>
          <a:prstGeom prst="rect">
            <a:avLst/>
          </a:prstGeom>
          <a:noFill/>
        </p:spPr>
        <p:txBody>
          <a:bodyPr wrap="square" anchor="ctr">
            <a:spAutoFit/>
          </a:bodyPr>
          <a:lstStyle/>
          <a:p>
            <a:pPr algn="ctr"/>
            <a:r>
              <a:rPr sz="2200" b="1" i="0">
                <a:solidFill>
                  <a:srgbClr val="FFFFFF"/>
                </a:solidFill>
                <a:latin typeface="Georgia"/>
              </a:rPr>
              <a:t>2</a:t>
            </a:r>
          </a:p>
        </p:txBody>
      </p:sp>
      <p:sp>
        <p:nvSpPr>
          <p:cNvPr id="9" name="TextBox 8"/>
          <p:cNvSpPr txBox="1"/>
          <p:nvPr/>
        </p:nvSpPr>
        <p:spPr>
          <a:xfrm>
            <a:off x="1298448" y="621792"/>
            <a:ext cx="457200" cy="201168"/>
          </a:xfrm>
          <a:prstGeom prst="rect">
            <a:avLst/>
          </a:prstGeom>
          <a:noFill/>
        </p:spPr>
        <p:txBody>
          <a:bodyPr wrap="square" anchor="t">
            <a:spAutoFit/>
          </a:bodyPr>
          <a:lstStyle/>
          <a:p>
            <a:pPr algn="l"/>
            <a:r>
              <a:rPr sz="900" b="1" i="0">
                <a:solidFill>
                  <a:srgbClr val="8E8E93"/>
                </a:solidFill>
                <a:latin typeface="Segoe UI"/>
              </a:rPr>
              <a:t>DAY</a:t>
            </a:r>
          </a:p>
        </p:txBody>
      </p:sp>
      <p:sp>
        <p:nvSpPr>
          <p:cNvPr id="10" name="TextBox 9"/>
          <p:cNvSpPr txBox="1"/>
          <p:nvPr/>
        </p:nvSpPr>
        <p:spPr>
          <a:xfrm>
            <a:off x="1298448" y="841248"/>
            <a:ext cx="4617720" cy="274320"/>
          </a:xfrm>
          <a:prstGeom prst="rect">
            <a:avLst/>
          </a:prstGeom>
          <a:noFill/>
        </p:spPr>
        <p:txBody>
          <a:bodyPr wrap="square" anchor="t">
            <a:spAutoFit/>
          </a:bodyPr>
          <a:lstStyle/>
          <a:p>
            <a:pPr algn="l"/>
            <a:r>
              <a:rPr sz="1300" b="1" i="0">
                <a:solidFill>
                  <a:srgbClr val="8C6D3C"/>
                </a:solidFill>
                <a:latin typeface="Segoe UI"/>
              </a:rPr>
              <a:t>COLOMBO</a:t>
            </a:r>
          </a:p>
        </p:txBody>
      </p:sp>
      <p:sp>
        <p:nvSpPr>
          <p:cNvPr id="11" name="TextBox 10"/>
          <p:cNvSpPr txBox="1"/>
          <p:nvPr/>
        </p:nvSpPr>
        <p:spPr>
          <a:xfrm>
            <a:off x="640080" y="1371600"/>
            <a:ext cx="5276088" cy="731520"/>
          </a:xfrm>
          <a:prstGeom prst="rect">
            <a:avLst/>
          </a:prstGeom>
          <a:noFill/>
        </p:spPr>
        <p:txBody>
          <a:bodyPr wrap="square" anchor="t">
            <a:spAutoFit/>
          </a:bodyPr>
          <a:lstStyle/>
          <a:p>
            <a:pPr algn="l"/>
            <a:r>
              <a:rPr sz="2600" b="1" i="0">
                <a:solidFill>
                  <a:srgbClr val="1C1C1E"/>
                </a:solidFill>
                <a:latin typeface="Georgia"/>
              </a:rPr>
              <a:t>Discovering Colombo</a:t>
            </a:r>
          </a:p>
        </p:txBody>
      </p:sp>
      <p:sp>
        <p:nvSpPr>
          <p:cNvPr id="12" name="Rectangle 11"/>
          <p:cNvSpPr/>
          <p:nvPr/>
        </p:nvSpPr>
        <p:spPr>
          <a:xfrm>
            <a:off x="640080" y="2148840"/>
            <a:ext cx="18288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6655" y="249631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423160"/>
            <a:ext cx="5047488" cy="292608"/>
          </a:xfrm>
          <a:prstGeom prst="rect">
            <a:avLst/>
          </a:prstGeom>
          <a:noFill/>
        </p:spPr>
        <p:txBody>
          <a:bodyPr wrap="square" anchor="t">
            <a:spAutoFit/>
          </a:bodyPr>
          <a:lstStyle/>
          <a:p>
            <a:pPr algn="l"/>
            <a:r>
              <a:rPr sz="1300" b="0" i="0">
                <a:solidFill>
                  <a:srgbClr val="48484A"/>
                </a:solidFill>
                <a:latin typeface="Segoe UI"/>
              </a:rPr>
              <a:t>Breakfast at hotel</a:t>
            </a:r>
          </a:p>
        </p:txBody>
      </p:sp>
      <p:sp>
        <p:nvSpPr>
          <p:cNvPr id="15" name="Oval 14"/>
          <p:cNvSpPr/>
          <p:nvPr/>
        </p:nvSpPr>
        <p:spPr>
          <a:xfrm>
            <a:off x="676655" y="288036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807208"/>
            <a:ext cx="5047488" cy="292608"/>
          </a:xfrm>
          <a:prstGeom prst="rect">
            <a:avLst/>
          </a:prstGeom>
          <a:noFill/>
        </p:spPr>
        <p:txBody>
          <a:bodyPr wrap="square" anchor="t">
            <a:spAutoFit/>
          </a:bodyPr>
          <a:lstStyle/>
          <a:p>
            <a:pPr algn="l"/>
            <a:r>
              <a:rPr sz="1300" b="0" i="0">
                <a:solidFill>
                  <a:srgbClr val="48484A"/>
                </a:solidFill>
                <a:latin typeface="Segoe UI"/>
              </a:rPr>
              <a:t>Guided city tour: Galle Face Green, Independence Square &amp; colonial buildings</a:t>
            </a:r>
          </a:p>
        </p:txBody>
      </p:sp>
      <p:sp>
        <p:nvSpPr>
          <p:cNvPr id="17" name="Oval 16"/>
          <p:cNvSpPr/>
          <p:nvPr/>
        </p:nvSpPr>
        <p:spPr>
          <a:xfrm>
            <a:off x="676655" y="3264408"/>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191256"/>
            <a:ext cx="5047488" cy="292608"/>
          </a:xfrm>
          <a:prstGeom prst="rect">
            <a:avLst/>
          </a:prstGeom>
          <a:noFill/>
        </p:spPr>
        <p:txBody>
          <a:bodyPr wrap="square" anchor="t">
            <a:spAutoFit/>
          </a:bodyPr>
          <a:lstStyle/>
          <a:p>
            <a:pPr algn="l"/>
            <a:r>
              <a:rPr sz="1300" b="0" i="0">
                <a:solidFill>
                  <a:srgbClr val="48484A"/>
                </a:solidFill>
                <a:latin typeface="Segoe UI"/>
              </a:rPr>
              <a:t>Visit Gangaramaya Temple - Buddhist temple complex</a:t>
            </a:r>
          </a:p>
        </p:txBody>
      </p:sp>
      <p:sp>
        <p:nvSpPr>
          <p:cNvPr id="19" name="Oval 18"/>
          <p:cNvSpPr/>
          <p:nvPr/>
        </p:nvSpPr>
        <p:spPr>
          <a:xfrm>
            <a:off x="676655" y="3648455"/>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575303"/>
            <a:ext cx="5047488" cy="292608"/>
          </a:xfrm>
          <a:prstGeom prst="rect">
            <a:avLst/>
          </a:prstGeom>
          <a:noFill/>
        </p:spPr>
        <p:txBody>
          <a:bodyPr wrap="square" anchor="t">
            <a:spAutoFit/>
          </a:bodyPr>
          <a:lstStyle/>
          <a:p>
            <a:pPr algn="l"/>
            <a:r>
              <a:rPr sz="1300" b="0" i="0">
                <a:solidFill>
                  <a:srgbClr val="48484A"/>
                </a:solidFill>
                <a:latin typeface="Segoe UI"/>
              </a:rPr>
              <a:t>Lunch at Ministry of Crab (famous seafood restaurant)</a:t>
            </a:r>
          </a:p>
        </p:txBody>
      </p:sp>
      <p:sp>
        <p:nvSpPr>
          <p:cNvPr id="21" name="Oval 20"/>
          <p:cNvSpPr/>
          <p:nvPr/>
        </p:nvSpPr>
        <p:spPr>
          <a:xfrm>
            <a:off x="676655" y="4032504"/>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959352"/>
            <a:ext cx="5047488" cy="292608"/>
          </a:xfrm>
          <a:prstGeom prst="rect">
            <a:avLst/>
          </a:prstGeom>
          <a:noFill/>
        </p:spPr>
        <p:txBody>
          <a:bodyPr wrap="square" anchor="t">
            <a:spAutoFit/>
          </a:bodyPr>
          <a:lstStyle/>
          <a:p>
            <a:pPr algn="l"/>
            <a:r>
              <a:rPr sz="1300" b="0" i="0">
                <a:solidFill>
                  <a:srgbClr val="48484A"/>
                </a:solidFill>
                <a:latin typeface="Segoe UI"/>
              </a:rPr>
              <a:t>Colombo National Museum - explore Sri Lankan history</a:t>
            </a:r>
          </a:p>
        </p:txBody>
      </p:sp>
      <p:sp>
        <p:nvSpPr>
          <p:cNvPr id="23" name="Oval 22"/>
          <p:cNvSpPr/>
          <p:nvPr/>
        </p:nvSpPr>
        <p:spPr>
          <a:xfrm>
            <a:off x="676655" y="441655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343400"/>
            <a:ext cx="5047488" cy="292608"/>
          </a:xfrm>
          <a:prstGeom prst="rect">
            <a:avLst/>
          </a:prstGeom>
          <a:noFill/>
        </p:spPr>
        <p:txBody>
          <a:bodyPr wrap="square" anchor="t">
            <a:spAutoFit/>
          </a:bodyPr>
          <a:lstStyle/>
          <a:p>
            <a:pPr algn="l"/>
            <a:r>
              <a:rPr sz="1300" b="0" i="0">
                <a:solidFill>
                  <a:srgbClr val="48484A"/>
                </a:solidFill>
                <a:latin typeface="Segoe UI"/>
              </a:rPr>
              <a:t>Shopping at Barefoot Gallery and Odel</a:t>
            </a:r>
          </a:p>
        </p:txBody>
      </p:sp>
      <p:sp>
        <p:nvSpPr>
          <p:cNvPr id="25" name="Oval 24"/>
          <p:cNvSpPr/>
          <p:nvPr/>
        </p:nvSpPr>
        <p:spPr>
          <a:xfrm>
            <a:off x="676655" y="480060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727448"/>
            <a:ext cx="5047488" cy="292608"/>
          </a:xfrm>
          <a:prstGeom prst="rect">
            <a:avLst/>
          </a:prstGeom>
          <a:noFill/>
        </p:spPr>
        <p:txBody>
          <a:bodyPr wrap="square" anchor="t">
            <a:spAutoFit/>
          </a:bodyPr>
          <a:lstStyle/>
          <a:p>
            <a:pPr algn="l"/>
            <a:r>
              <a:rPr sz="1300" b="0" i="0">
                <a:solidFill>
                  <a:srgbClr val="48484A"/>
                </a:solidFill>
                <a:latin typeface="Segoe UI"/>
              </a:rPr>
              <a:t>Evening at leisure</a:t>
            </a:r>
          </a:p>
        </p:txBody>
      </p:sp>
      <p:sp>
        <p:nvSpPr>
          <p:cNvPr id="27" name="Rectangle 26"/>
          <p:cNvSpPr/>
          <p:nvPr/>
        </p:nvSpPr>
        <p:spPr>
          <a:xfrm>
            <a:off x="640080" y="5715000"/>
            <a:ext cx="5276088"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852160"/>
            <a:ext cx="5276088" cy="256032"/>
          </a:xfrm>
          <a:prstGeom prst="rect">
            <a:avLst/>
          </a:prstGeom>
          <a:noFill/>
        </p:spPr>
        <p:txBody>
          <a:bodyPr wrap="square" anchor="t">
            <a:spAutoFit/>
          </a:bodyPr>
          <a:lstStyle/>
          <a:p>
            <a:pPr algn="l"/>
            <a:r>
              <a:rPr sz="1000" b="0" i="0">
                <a:solidFill>
                  <a:srgbClr val="8E8E93"/>
                </a:solidFill>
                <a:latin typeface="Segoe UI"/>
              </a:rPr>
              <a:t>Distance: City tour   •   Overnight: Colombo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89904" cy="6858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313432" y="3200400"/>
            <a:ext cx="1463040" cy="274320"/>
          </a:xfrm>
          <a:prstGeom prst="rect">
            <a:avLst/>
          </a:prstGeom>
          <a:noFill/>
        </p:spPr>
        <p:txBody>
          <a:bodyPr wrap="square" anchor="t">
            <a:spAutoFit/>
          </a:bodyPr>
          <a:lstStyle/>
          <a:p>
            <a:pPr algn="ctr"/>
            <a:r>
              <a:rPr sz="1100" b="0" i="1">
                <a:solidFill>
                  <a:srgbClr val="8E8E93"/>
                </a:solidFill>
                <a:latin typeface="Segoe UI"/>
              </a:rPr>
              <a:t>— image —</a:t>
            </a:r>
          </a:p>
        </p:txBody>
      </p:sp>
      <p:sp>
        <p:nvSpPr>
          <p:cNvPr id="5" name="Rectangle 4"/>
          <p:cNvSpPr/>
          <p:nvPr/>
        </p:nvSpPr>
        <p:spPr>
          <a:xfrm>
            <a:off x="6071616" y="0"/>
            <a:ext cx="36576" cy="685800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36576"/>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47104" y="640080"/>
            <a:ext cx="530352" cy="530352"/>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47104" y="640080"/>
            <a:ext cx="530352" cy="530352"/>
          </a:xfrm>
          <a:prstGeom prst="rect">
            <a:avLst/>
          </a:prstGeom>
          <a:noFill/>
        </p:spPr>
        <p:txBody>
          <a:bodyPr wrap="square" anchor="ctr">
            <a:spAutoFit/>
          </a:bodyPr>
          <a:lstStyle/>
          <a:p>
            <a:pPr algn="ctr"/>
            <a:r>
              <a:rPr sz="2200" b="1" i="0">
                <a:solidFill>
                  <a:srgbClr val="FFFFFF"/>
                </a:solidFill>
                <a:latin typeface="Georgia"/>
              </a:rPr>
              <a:t>3</a:t>
            </a:r>
          </a:p>
        </p:txBody>
      </p:sp>
      <p:sp>
        <p:nvSpPr>
          <p:cNvPr id="9" name="TextBox 8"/>
          <p:cNvSpPr txBox="1"/>
          <p:nvPr/>
        </p:nvSpPr>
        <p:spPr>
          <a:xfrm>
            <a:off x="7205472" y="621792"/>
            <a:ext cx="457200" cy="201168"/>
          </a:xfrm>
          <a:prstGeom prst="rect">
            <a:avLst/>
          </a:prstGeom>
          <a:noFill/>
        </p:spPr>
        <p:txBody>
          <a:bodyPr wrap="square" anchor="t">
            <a:spAutoFit/>
          </a:bodyPr>
          <a:lstStyle/>
          <a:p>
            <a:pPr algn="l"/>
            <a:r>
              <a:rPr sz="900" b="1" i="0">
                <a:solidFill>
                  <a:srgbClr val="8E8E93"/>
                </a:solidFill>
                <a:latin typeface="Segoe UI"/>
              </a:rPr>
              <a:t>DAY</a:t>
            </a:r>
          </a:p>
        </p:txBody>
      </p:sp>
      <p:sp>
        <p:nvSpPr>
          <p:cNvPr id="10" name="TextBox 9"/>
          <p:cNvSpPr txBox="1"/>
          <p:nvPr/>
        </p:nvSpPr>
        <p:spPr>
          <a:xfrm>
            <a:off x="7205472" y="841248"/>
            <a:ext cx="4617720" cy="274320"/>
          </a:xfrm>
          <a:prstGeom prst="rect">
            <a:avLst/>
          </a:prstGeom>
          <a:noFill/>
        </p:spPr>
        <p:txBody>
          <a:bodyPr wrap="square" anchor="t">
            <a:spAutoFit/>
          </a:bodyPr>
          <a:lstStyle/>
          <a:p>
            <a:pPr algn="l"/>
            <a:r>
              <a:rPr sz="1300" b="1" i="0">
                <a:solidFill>
                  <a:srgbClr val="8C6D3C"/>
                </a:solidFill>
                <a:latin typeface="Segoe UI"/>
              </a:rPr>
              <a:t>KANDY</a:t>
            </a:r>
          </a:p>
        </p:txBody>
      </p:sp>
      <p:sp>
        <p:nvSpPr>
          <p:cNvPr id="11" name="TextBox 10"/>
          <p:cNvSpPr txBox="1"/>
          <p:nvPr/>
        </p:nvSpPr>
        <p:spPr>
          <a:xfrm>
            <a:off x="6547104" y="1371600"/>
            <a:ext cx="5276088" cy="731520"/>
          </a:xfrm>
          <a:prstGeom prst="rect">
            <a:avLst/>
          </a:prstGeom>
          <a:noFill/>
        </p:spPr>
        <p:txBody>
          <a:bodyPr wrap="square" anchor="t">
            <a:spAutoFit/>
          </a:bodyPr>
          <a:lstStyle/>
          <a:p>
            <a:pPr algn="l"/>
            <a:r>
              <a:rPr sz="2600" b="1" i="0">
                <a:solidFill>
                  <a:srgbClr val="1C1C1E"/>
                </a:solidFill>
                <a:latin typeface="Georgia"/>
              </a:rPr>
              <a:t>Journey to the Cultural Capital</a:t>
            </a:r>
          </a:p>
        </p:txBody>
      </p:sp>
      <p:sp>
        <p:nvSpPr>
          <p:cNvPr id="12" name="Rectangle 11"/>
          <p:cNvSpPr/>
          <p:nvPr/>
        </p:nvSpPr>
        <p:spPr>
          <a:xfrm>
            <a:off x="6547104" y="2148840"/>
            <a:ext cx="18288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0" y="249631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75704" y="2423160"/>
            <a:ext cx="5047488" cy="292608"/>
          </a:xfrm>
          <a:prstGeom prst="rect">
            <a:avLst/>
          </a:prstGeom>
          <a:noFill/>
        </p:spPr>
        <p:txBody>
          <a:bodyPr wrap="square" anchor="t">
            <a:spAutoFit/>
          </a:bodyPr>
          <a:lstStyle/>
          <a:p>
            <a:pPr algn="l"/>
            <a:r>
              <a:rPr sz="1300" b="0" i="0">
                <a:solidFill>
                  <a:srgbClr val="48484A"/>
                </a:solidFill>
                <a:latin typeface="Segoe UI"/>
              </a:rPr>
              <a:t>Breakfast and check-out</a:t>
            </a:r>
          </a:p>
        </p:txBody>
      </p:sp>
      <p:sp>
        <p:nvSpPr>
          <p:cNvPr id="15" name="Oval 14"/>
          <p:cNvSpPr/>
          <p:nvPr/>
        </p:nvSpPr>
        <p:spPr>
          <a:xfrm>
            <a:off x="6583680" y="288036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75704" y="2807208"/>
            <a:ext cx="5047488" cy="292608"/>
          </a:xfrm>
          <a:prstGeom prst="rect">
            <a:avLst/>
          </a:prstGeom>
          <a:noFill/>
        </p:spPr>
        <p:txBody>
          <a:bodyPr wrap="square" anchor="t">
            <a:spAutoFit/>
          </a:bodyPr>
          <a:lstStyle/>
          <a:p>
            <a:pPr algn="l"/>
            <a:r>
              <a:rPr sz="1300" b="0" i="0">
                <a:solidFill>
                  <a:srgbClr val="48484A"/>
                </a:solidFill>
                <a:latin typeface="Segoe UI"/>
              </a:rPr>
              <a:t>Scenic drive to Kandy through lush landscapes</a:t>
            </a:r>
          </a:p>
        </p:txBody>
      </p:sp>
      <p:sp>
        <p:nvSpPr>
          <p:cNvPr id="17" name="Oval 16"/>
          <p:cNvSpPr/>
          <p:nvPr/>
        </p:nvSpPr>
        <p:spPr>
          <a:xfrm>
            <a:off x="6583680" y="3264408"/>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75704" y="3191256"/>
            <a:ext cx="5047488" cy="292608"/>
          </a:xfrm>
          <a:prstGeom prst="rect">
            <a:avLst/>
          </a:prstGeom>
          <a:noFill/>
        </p:spPr>
        <p:txBody>
          <a:bodyPr wrap="square" anchor="t">
            <a:spAutoFit/>
          </a:bodyPr>
          <a:lstStyle/>
          <a:p>
            <a:pPr algn="l"/>
            <a:r>
              <a:rPr sz="1300" b="0" i="0">
                <a:solidFill>
                  <a:srgbClr val="48484A"/>
                </a:solidFill>
                <a:latin typeface="Segoe UI"/>
              </a:rPr>
              <a:t>En-route visit: Pinnawala Elephant Orphanage</a:t>
            </a:r>
          </a:p>
        </p:txBody>
      </p:sp>
      <p:sp>
        <p:nvSpPr>
          <p:cNvPr id="19" name="Oval 18"/>
          <p:cNvSpPr/>
          <p:nvPr/>
        </p:nvSpPr>
        <p:spPr>
          <a:xfrm>
            <a:off x="6583680" y="3648455"/>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75704" y="3575303"/>
            <a:ext cx="5047488" cy="292608"/>
          </a:xfrm>
          <a:prstGeom prst="rect">
            <a:avLst/>
          </a:prstGeom>
          <a:noFill/>
        </p:spPr>
        <p:txBody>
          <a:bodyPr wrap="square" anchor="t">
            <a:spAutoFit/>
          </a:bodyPr>
          <a:lstStyle/>
          <a:p>
            <a:pPr algn="l"/>
            <a:r>
              <a:rPr sz="1300" b="0" i="0">
                <a:solidFill>
                  <a:srgbClr val="48484A"/>
                </a:solidFill>
                <a:latin typeface="Segoe UI"/>
              </a:rPr>
              <a:t>Watch elephants bathing in the river</a:t>
            </a:r>
          </a:p>
        </p:txBody>
      </p:sp>
      <p:sp>
        <p:nvSpPr>
          <p:cNvPr id="21" name="Oval 20"/>
          <p:cNvSpPr/>
          <p:nvPr/>
        </p:nvSpPr>
        <p:spPr>
          <a:xfrm>
            <a:off x="6583680" y="4032504"/>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75704" y="3959352"/>
            <a:ext cx="5047488" cy="292608"/>
          </a:xfrm>
          <a:prstGeom prst="rect">
            <a:avLst/>
          </a:prstGeom>
          <a:noFill/>
        </p:spPr>
        <p:txBody>
          <a:bodyPr wrap="square" anchor="t">
            <a:spAutoFit/>
          </a:bodyPr>
          <a:lstStyle/>
          <a:p>
            <a:pPr algn="l"/>
            <a:r>
              <a:rPr sz="1300" b="0" i="0">
                <a:solidFill>
                  <a:srgbClr val="48484A"/>
                </a:solidFill>
                <a:latin typeface="Segoe UI"/>
              </a:rPr>
              <a:t>Arrive in Kandy and check-in to hotel</a:t>
            </a:r>
          </a:p>
        </p:txBody>
      </p:sp>
      <p:sp>
        <p:nvSpPr>
          <p:cNvPr id="23" name="Oval 22"/>
          <p:cNvSpPr/>
          <p:nvPr/>
        </p:nvSpPr>
        <p:spPr>
          <a:xfrm>
            <a:off x="6583680" y="441655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75704" y="4343400"/>
            <a:ext cx="5047488" cy="292608"/>
          </a:xfrm>
          <a:prstGeom prst="rect">
            <a:avLst/>
          </a:prstGeom>
          <a:noFill/>
        </p:spPr>
        <p:txBody>
          <a:bodyPr wrap="square" anchor="t">
            <a:spAutoFit/>
          </a:bodyPr>
          <a:lstStyle/>
          <a:p>
            <a:pPr algn="l"/>
            <a:r>
              <a:rPr sz="1300" b="0" i="0">
                <a:solidFill>
                  <a:srgbClr val="48484A"/>
                </a:solidFill>
                <a:latin typeface="Segoe UI"/>
              </a:rPr>
              <a:t>Evening visit to Temple of the Sacred Tooth Relic (UNESCO Site)</a:t>
            </a:r>
          </a:p>
        </p:txBody>
      </p:sp>
      <p:sp>
        <p:nvSpPr>
          <p:cNvPr id="25" name="Oval 24"/>
          <p:cNvSpPr/>
          <p:nvPr/>
        </p:nvSpPr>
        <p:spPr>
          <a:xfrm>
            <a:off x="6583680" y="480060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75704" y="4727448"/>
            <a:ext cx="5047488" cy="292608"/>
          </a:xfrm>
          <a:prstGeom prst="rect">
            <a:avLst/>
          </a:prstGeom>
          <a:noFill/>
        </p:spPr>
        <p:txBody>
          <a:bodyPr wrap="square" anchor="t">
            <a:spAutoFit/>
          </a:bodyPr>
          <a:lstStyle/>
          <a:p>
            <a:pPr algn="l"/>
            <a:r>
              <a:rPr sz="1300" b="0" i="0">
                <a:solidFill>
                  <a:srgbClr val="48484A"/>
                </a:solidFill>
                <a:latin typeface="Segoe UI"/>
              </a:rPr>
              <a:t>Attend traditional Kandyan dance performance</a:t>
            </a:r>
          </a:p>
        </p:txBody>
      </p:sp>
      <p:sp>
        <p:nvSpPr>
          <p:cNvPr id="27" name="Rectangle 26"/>
          <p:cNvSpPr/>
          <p:nvPr/>
        </p:nvSpPr>
        <p:spPr>
          <a:xfrm>
            <a:off x="6547104" y="5715000"/>
            <a:ext cx="5276088"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47104" y="5852160"/>
            <a:ext cx="5276088" cy="256032"/>
          </a:xfrm>
          <a:prstGeom prst="rect">
            <a:avLst/>
          </a:prstGeom>
          <a:noFill/>
        </p:spPr>
        <p:txBody>
          <a:bodyPr wrap="square" anchor="t">
            <a:spAutoFit/>
          </a:bodyPr>
          <a:lstStyle/>
          <a:p>
            <a:pPr algn="l"/>
            <a:r>
              <a:rPr sz="1000" b="0" i="0">
                <a:solidFill>
                  <a:srgbClr val="8E8E93"/>
                </a:solidFill>
                <a:latin typeface="Segoe UI"/>
              </a:rPr>
              <a:t>Travel: 3.5 hours   •   Distance: 115 km   •   Overnight: Kandy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9048" y="0"/>
            <a:ext cx="6089904" cy="6858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0" y="3200400"/>
            <a:ext cx="1463040" cy="274320"/>
          </a:xfrm>
          <a:prstGeom prst="rect">
            <a:avLst/>
          </a:prstGeom>
          <a:noFill/>
        </p:spPr>
        <p:txBody>
          <a:bodyPr wrap="square" anchor="t">
            <a:spAutoFit/>
          </a:bodyPr>
          <a:lstStyle/>
          <a:p>
            <a:pPr algn="ctr"/>
            <a:r>
              <a:rPr sz="1100" b="0" i="1">
                <a:solidFill>
                  <a:srgbClr val="8E8E93"/>
                </a:solidFill>
                <a:latin typeface="Segoe UI"/>
              </a:rPr>
              <a:t>— image —</a:t>
            </a:r>
          </a:p>
        </p:txBody>
      </p:sp>
      <p:sp>
        <p:nvSpPr>
          <p:cNvPr id="5" name="Rectangle 4"/>
          <p:cNvSpPr/>
          <p:nvPr/>
        </p:nvSpPr>
        <p:spPr>
          <a:xfrm>
            <a:off x="6080760" y="0"/>
            <a:ext cx="36576" cy="685800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36576"/>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640080"/>
            <a:ext cx="530352" cy="530352"/>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0080"/>
            <a:ext cx="530352" cy="530352"/>
          </a:xfrm>
          <a:prstGeom prst="rect">
            <a:avLst/>
          </a:prstGeom>
          <a:noFill/>
        </p:spPr>
        <p:txBody>
          <a:bodyPr wrap="square" anchor="ctr">
            <a:spAutoFit/>
          </a:bodyPr>
          <a:lstStyle/>
          <a:p>
            <a:pPr algn="ctr"/>
            <a:r>
              <a:rPr sz="2200" b="1" i="0">
                <a:solidFill>
                  <a:srgbClr val="FFFFFF"/>
                </a:solidFill>
                <a:latin typeface="Georgia"/>
              </a:rPr>
              <a:t>4</a:t>
            </a:r>
          </a:p>
        </p:txBody>
      </p:sp>
      <p:sp>
        <p:nvSpPr>
          <p:cNvPr id="9" name="TextBox 8"/>
          <p:cNvSpPr txBox="1"/>
          <p:nvPr/>
        </p:nvSpPr>
        <p:spPr>
          <a:xfrm>
            <a:off x="1298448" y="621792"/>
            <a:ext cx="457200" cy="201168"/>
          </a:xfrm>
          <a:prstGeom prst="rect">
            <a:avLst/>
          </a:prstGeom>
          <a:noFill/>
        </p:spPr>
        <p:txBody>
          <a:bodyPr wrap="square" anchor="t">
            <a:spAutoFit/>
          </a:bodyPr>
          <a:lstStyle/>
          <a:p>
            <a:pPr algn="l"/>
            <a:r>
              <a:rPr sz="900" b="1" i="0">
                <a:solidFill>
                  <a:srgbClr val="8E8E93"/>
                </a:solidFill>
                <a:latin typeface="Segoe UI"/>
              </a:rPr>
              <a:t>DAY</a:t>
            </a:r>
          </a:p>
        </p:txBody>
      </p:sp>
      <p:sp>
        <p:nvSpPr>
          <p:cNvPr id="10" name="TextBox 9"/>
          <p:cNvSpPr txBox="1"/>
          <p:nvPr/>
        </p:nvSpPr>
        <p:spPr>
          <a:xfrm>
            <a:off x="1298448" y="841248"/>
            <a:ext cx="4617720" cy="274320"/>
          </a:xfrm>
          <a:prstGeom prst="rect">
            <a:avLst/>
          </a:prstGeom>
          <a:noFill/>
        </p:spPr>
        <p:txBody>
          <a:bodyPr wrap="square" anchor="t">
            <a:spAutoFit/>
          </a:bodyPr>
          <a:lstStyle/>
          <a:p>
            <a:pPr algn="l"/>
            <a:r>
              <a:rPr sz="1300" b="1" i="0">
                <a:solidFill>
                  <a:srgbClr val="8C6D3C"/>
                </a:solidFill>
                <a:latin typeface="Segoe UI"/>
              </a:rPr>
              <a:t>KANDY</a:t>
            </a:r>
          </a:p>
        </p:txBody>
      </p:sp>
      <p:sp>
        <p:nvSpPr>
          <p:cNvPr id="11" name="TextBox 10"/>
          <p:cNvSpPr txBox="1"/>
          <p:nvPr/>
        </p:nvSpPr>
        <p:spPr>
          <a:xfrm>
            <a:off x="640080" y="1371600"/>
            <a:ext cx="5276088" cy="731520"/>
          </a:xfrm>
          <a:prstGeom prst="rect">
            <a:avLst/>
          </a:prstGeom>
          <a:noFill/>
        </p:spPr>
        <p:txBody>
          <a:bodyPr wrap="square" anchor="t">
            <a:spAutoFit/>
          </a:bodyPr>
          <a:lstStyle/>
          <a:p>
            <a:pPr algn="l"/>
            <a:r>
              <a:rPr sz="2600" b="1" i="0">
                <a:solidFill>
                  <a:srgbClr val="1C1C1E"/>
                </a:solidFill>
                <a:latin typeface="Georgia"/>
              </a:rPr>
              <a:t>Kandy &amp; Royal Botanical Gardens</a:t>
            </a:r>
          </a:p>
        </p:txBody>
      </p:sp>
      <p:sp>
        <p:nvSpPr>
          <p:cNvPr id="12" name="Rectangle 11"/>
          <p:cNvSpPr/>
          <p:nvPr/>
        </p:nvSpPr>
        <p:spPr>
          <a:xfrm>
            <a:off x="640080" y="2148840"/>
            <a:ext cx="18288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6655" y="249631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423160"/>
            <a:ext cx="5047488" cy="292608"/>
          </a:xfrm>
          <a:prstGeom prst="rect">
            <a:avLst/>
          </a:prstGeom>
          <a:noFill/>
        </p:spPr>
        <p:txBody>
          <a:bodyPr wrap="square" anchor="t">
            <a:spAutoFit/>
          </a:bodyPr>
          <a:lstStyle/>
          <a:p>
            <a:pPr algn="l"/>
            <a:r>
              <a:rPr sz="1300" b="0" i="0">
                <a:solidFill>
                  <a:srgbClr val="48484A"/>
                </a:solidFill>
                <a:latin typeface="Segoe UI"/>
              </a:rPr>
              <a:t>Breakfast at hotel</a:t>
            </a:r>
          </a:p>
        </p:txBody>
      </p:sp>
      <p:sp>
        <p:nvSpPr>
          <p:cNvPr id="15" name="Oval 14"/>
          <p:cNvSpPr/>
          <p:nvPr/>
        </p:nvSpPr>
        <p:spPr>
          <a:xfrm>
            <a:off x="676655" y="288036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807208"/>
            <a:ext cx="5047488" cy="292608"/>
          </a:xfrm>
          <a:prstGeom prst="rect">
            <a:avLst/>
          </a:prstGeom>
          <a:noFill/>
        </p:spPr>
        <p:txBody>
          <a:bodyPr wrap="square" anchor="t">
            <a:spAutoFit/>
          </a:bodyPr>
          <a:lstStyle/>
          <a:p>
            <a:pPr algn="l"/>
            <a:r>
              <a:rPr sz="1300" b="0" i="0">
                <a:solidFill>
                  <a:srgbClr val="48484A"/>
                </a:solidFill>
                <a:latin typeface="Segoe UI"/>
              </a:rPr>
              <a:t>Visit Royal Botanical Gardens at Peradeniya (147 acres)</a:t>
            </a:r>
          </a:p>
        </p:txBody>
      </p:sp>
      <p:sp>
        <p:nvSpPr>
          <p:cNvPr id="17" name="Oval 16"/>
          <p:cNvSpPr/>
          <p:nvPr/>
        </p:nvSpPr>
        <p:spPr>
          <a:xfrm>
            <a:off x="676655" y="3264408"/>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191256"/>
            <a:ext cx="5047488" cy="292608"/>
          </a:xfrm>
          <a:prstGeom prst="rect">
            <a:avLst/>
          </a:prstGeom>
          <a:noFill/>
        </p:spPr>
        <p:txBody>
          <a:bodyPr wrap="square" anchor="t">
            <a:spAutoFit/>
          </a:bodyPr>
          <a:lstStyle/>
          <a:p>
            <a:pPr algn="l"/>
            <a:r>
              <a:rPr sz="1300" b="0" i="0">
                <a:solidFill>
                  <a:srgbClr val="48484A"/>
                </a:solidFill>
                <a:latin typeface="Segoe UI"/>
              </a:rPr>
              <a:t>Walk among orchid collections and giant bamboo groves</a:t>
            </a:r>
          </a:p>
        </p:txBody>
      </p:sp>
      <p:sp>
        <p:nvSpPr>
          <p:cNvPr id="19" name="Oval 18"/>
          <p:cNvSpPr/>
          <p:nvPr/>
        </p:nvSpPr>
        <p:spPr>
          <a:xfrm>
            <a:off x="676655" y="3648455"/>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575303"/>
            <a:ext cx="5047488" cy="292608"/>
          </a:xfrm>
          <a:prstGeom prst="rect">
            <a:avLst/>
          </a:prstGeom>
          <a:noFill/>
        </p:spPr>
        <p:txBody>
          <a:bodyPr wrap="square" anchor="t">
            <a:spAutoFit/>
          </a:bodyPr>
          <a:lstStyle/>
          <a:p>
            <a:pPr algn="l"/>
            <a:r>
              <a:rPr sz="1300" b="0" i="0">
                <a:solidFill>
                  <a:srgbClr val="48484A"/>
                </a:solidFill>
                <a:latin typeface="Segoe UI"/>
              </a:rPr>
              <a:t>Lunch at garden restaurant</a:t>
            </a:r>
          </a:p>
        </p:txBody>
      </p:sp>
      <p:sp>
        <p:nvSpPr>
          <p:cNvPr id="21" name="Oval 20"/>
          <p:cNvSpPr/>
          <p:nvPr/>
        </p:nvSpPr>
        <p:spPr>
          <a:xfrm>
            <a:off x="676655" y="4032504"/>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959352"/>
            <a:ext cx="5047488" cy="292608"/>
          </a:xfrm>
          <a:prstGeom prst="rect">
            <a:avLst/>
          </a:prstGeom>
          <a:noFill/>
        </p:spPr>
        <p:txBody>
          <a:bodyPr wrap="square" anchor="t">
            <a:spAutoFit/>
          </a:bodyPr>
          <a:lstStyle/>
          <a:p>
            <a:pPr algn="l"/>
            <a:r>
              <a:rPr sz="1300" b="0" i="0">
                <a:solidFill>
                  <a:srgbClr val="48484A"/>
                </a:solidFill>
                <a:latin typeface="Segoe UI"/>
              </a:rPr>
              <a:t>Ceylon Tea Museum and working tea plantation visit</a:t>
            </a:r>
          </a:p>
        </p:txBody>
      </p:sp>
      <p:sp>
        <p:nvSpPr>
          <p:cNvPr id="23" name="Oval 22"/>
          <p:cNvSpPr/>
          <p:nvPr/>
        </p:nvSpPr>
        <p:spPr>
          <a:xfrm>
            <a:off x="676655" y="441655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343400"/>
            <a:ext cx="5047488" cy="292608"/>
          </a:xfrm>
          <a:prstGeom prst="rect">
            <a:avLst/>
          </a:prstGeom>
          <a:noFill/>
        </p:spPr>
        <p:txBody>
          <a:bodyPr wrap="square" anchor="t">
            <a:spAutoFit/>
          </a:bodyPr>
          <a:lstStyle/>
          <a:p>
            <a:pPr algn="l"/>
            <a:r>
              <a:rPr sz="1300" b="0" i="0">
                <a:solidFill>
                  <a:srgbClr val="48484A"/>
                </a:solidFill>
                <a:latin typeface="Segoe UI"/>
              </a:rPr>
              <a:t>Tea tasting experience with panoramic views</a:t>
            </a:r>
          </a:p>
        </p:txBody>
      </p:sp>
      <p:sp>
        <p:nvSpPr>
          <p:cNvPr id="25" name="Oval 24"/>
          <p:cNvSpPr/>
          <p:nvPr/>
        </p:nvSpPr>
        <p:spPr>
          <a:xfrm>
            <a:off x="676655" y="480060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727448"/>
            <a:ext cx="5047488" cy="292608"/>
          </a:xfrm>
          <a:prstGeom prst="rect">
            <a:avLst/>
          </a:prstGeom>
          <a:noFill/>
        </p:spPr>
        <p:txBody>
          <a:bodyPr wrap="square" anchor="t">
            <a:spAutoFit/>
          </a:bodyPr>
          <a:lstStyle/>
          <a:p>
            <a:pPr algn="l"/>
            <a:r>
              <a:rPr sz="1300" b="0" i="0">
                <a:solidFill>
                  <a:srgbClr val="48484A"/>
                </a:solidFill>
                <a:latin typeface="Segoe UI"/>
              </a:rPr>
              <a:t>Sunset walk around Kandy Lake</a:t>
            </a:r>
          </a:p>
        </p:txBody>
      </p:sp>
      <p:sp>
        <p:nvSpPr>
          <p:cNvPr id="27" name="Rectangle 26"/>
          <p:cNvSpPr/>
          <p:nvPr/>
        </p:nvSpPr>
        <p:spPr>
          <a:xfrm>
            <a:off x="640080" y="5715000"/>
            <a:ext cx="5276088"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852160"/>
            <a:ext cx="5276088" cy="256032"/>
          </a:xfrm>
          <a:prstGeom prst="rect">
            <a:avLst/>
          </a:prstGeom>
          <a:noFill/>
        </p:spPr>
        <p:txBody>
          <a:bodyPr wrap="square" anchor="t">
            <a:spAutoFit/>
          </a:bodyPr>
          <a:lstStyle/>
          <a:p>
            <a:pPr algn="l"/>
            <a:r>
              <a:rPr sz="1000" b="0" i="0">
                <a:solidFill>
                  <a:srgbClr val="8E8E93"/>
                </a:solidFill>
                <a:latin typeface="Segoe UI"/>
              </a:rPr>
              <a:t>Travel: 30 minutes   •   Distance: 15 km   •   Overnight: Kandy</a:t>
            </a:r>
          </a:p>
        </p:txBody>
      </p:sp>
      <p:sp>
        <p:nvSpPr>
          <p:cNvPr id="29" name="TextBox 28"/>
          <p:cNvSpPr txBox="1"/>
          <p:nvPr/>
        </p:nvSpPr>
        <p:spPr>
          <a:xfrm>
            <a:off x="640080" y="6172200"/>
            <a:ext cx="5276088" cy="256032"/>
          </a:xfrm>
          <a:prstGeom prst="rect">
            <a:avLst/>
          </a:prstGeom>
          <a:noFill/>
        </p:spPr>
        <p:txBody>
          <a:bodyPr wrap="square" anchor="t">
            <a:spAutoFit/>
          </a:bodyPr>
          <a:lstStyle/>
          <a:p>
            <a:pPr algn="l"/>
            <a:r>
              <a:rPr sz="1000" b="0" i="1">
                <a:solidFill>
                  <a:srgbClr val="8C6D3C"/>
                </a:solidFill>
                <a:latin typeface="Segoe UI"/>
              </a:rPr>
              <a:t>Optional: Evening spa treatment at hotel (additional cost)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89904" cy="6858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313432" y="3200400"/>
            <a:ext cx="1463040" cy="274320"/>
          </a:xfrm>
          <a:prstGeom prst="rect">
            <a:avLst/>
          </a:prstGeom>
          <a:noFill/>
        </p:spPr>
        <p:txBody>
          <a:bodyPr wrap="square" anchor="t">
            <a:spAutoFit/>
          </a:bodyPr>
          <a:lstStyle/>
          <a:p>
            <a:pPr algn="ctr"/>
            <a:r>
              <a:rPr sz="1100" b="0" i="1">
                <a:solidFill>
                  <a:srgbClr val="8E8E93"/>
                </a:solidFill>
                <a:latin typeface="Segoe UI"/>
              </a:rPr>
              <a:t>— image —</a:t>
            </a:r>
          </a:p>
        </p:txBody>
      </p:sp>
      <p:sp>
        <p:nvSpPr>
          <p:cNvPr id="5" name="Rectangle 4"/>
          <p:cNvSpPr/>
          <p:nvPr/>
        </p:nvSpPr>
        <p:spPr>
          <a:xfrm>
            <a:off x="6071616" y="0"/>
            <a:ext cx="36576" cy="685800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36576"/>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47104" y="640080"/>
            <a:ext cx="530352" cy="530352"/>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47104" y="640080"/>
            <a:ext cx="530352" cy="530352"/>
          </a:xfrm>
          <a:prstGeom prst="rect">
            <a:avLst/>
          </a:prstGeom>
          <a:noFill/>
        </p:spPr>
        <p:txBody>
          <a:bodyPr wrap="square" anchor="ctr">
            <a:spAutoFit/>
          </a:bodyPr>
          <a:lstStyle/>
          <a:p>
            <a:pPr algn="ctr"/>
            <a:r>
              <a:rPr sz="2200" b="1" i="0">
                <a:solidFill>
                  <a:srgbClr val="FFFFFF"/>
                </a:solidFill>
                <a:latin typeface="Georgia"/>
              </a:rPr>
              <a:t>5</a:t>
            </a:r>
          </a:p>
        </p:txBody>
      </p:sp>
      <p:sp>
        <p:nvSpPr>
          <p:cNvPr id="9" name="TextBox 8"/>
          <p:cNvSpPr txBox="1"/>
          <p:nvPr/>
        </p:nvSpPr>
        <p:spPr>
          <a:xfrm>
            <a:off x="7205472" y="621792"/>
            <a:ext cx="457200" cy="201168"/>
          </a:xfrm>
          <a:prstGeom prst="rect">
            <a:avLst/>
          </a:prstGeom>
          <a:noFill/>
        </p:spPr>
        <p:txBody>
          <a:bodyPr wrap="square" anchor="t">
            <a:spAutoFit/>
          </a:bodyPr>
          <a:lstStyle/>
          <a:p>
            <a:pPr algn="l"/>
            <a:r>
              <a:rPr sz="900" b="1" i="0">
                <a:solidFill>
                  <a:srgbClr val="8E8E93"/>
                </a:solidFill>
                <a:latin typeface="Segoe UI"/>
              </a:rPr>
              <a:t>DAY</a:t>
            </a:r>
          </a:p>
        </p:txBody>
      </p:sp>
      <p:sp>
        <p:nvSpPr>
          <p:cNvPr id="10" name="TextBox 9"/>
          <p:cNvSpPr txBox="1"/>
          <p:nvPr/>
        </p:nvSpPr>
        <p:spPr>
          <a:xfrm>
            <a:off x="7205472" y="841248"/>
            <a:ext cx="4617720" cy="274320"/>
          </a:xfrm>
          <a:prstGeom prst="rect">
            <a:avLst/>
          </a:prstGeom>
          <a:noFill/>
        </p:spPr>
        <p:txBody>
          <a:bodyPr wrap="square" anchor="t">
            <a:spAutoFit/>
          </a:bodyPr>
          <a:lstStyle/>
          <a:p>
            <a:pPr algn="l"/>
            <a:r>
              <a:rPr sz="1300" b="1" i="0">
                <a:solidFill>
                  <a:srgbClr val="8C6D3C"/>
                </a:solidFill>
                <a:latin typeface="Segoe UI"/>
              </a:rPr>
              <a:t>NUWARA ELIYA</a:t>
            </a:r>
          </a:p>
        </p:txBody>
      </p:sp>
      <p:sp>
        <p:nvSpPr>
          <p:cNvPr id="11" name="TextBox 10"/>
          <p:cNvSpPr txBox="1"/>
          <p:nvPr/>
        </p:nvSpPr>
        <p:spPr>
          <a:xfrm>
            <a:off x="6547104" y="1371600"/>
            <a:ext cx="5276088" cy="731520"/>
          </a:xfrm>
          <a:prstGeom prst="rect">
            <a:avLst/>
          </a:prstGeom>
          <a:noFill/>
        </p:spPr>
        <p:txBody>
          <a:bodyPr wrap="square" anchor="t">
            <a:spAutoFit/>
          </a:bodyPr>
          <a:lstStyle/>
          <a:p>
            <a:pPr algn="l"/>
            <a:r>
              <a:rPr sz="2600" b="1" i="0">
                <a:solidFill>
                  <a:srgbClr val="1C1C1E"/>
                </a:solidFill>
                <a:latin typeface="Georgia"/>
              </a:rPr>
              <a:t>Scenic Train to Hill Country</a:t>
            </a:r>
          </a:p>
        </p:txBody>
      </p:sp>
      <p:sp>
        <p:nvSpPr>
          <p:cNvPr id="12" name="Rectangle 11"/>
          <p:cNvSpPr/>
          <p:nvPr/>
        </p:nvSpPr>
        <p:spPr>
          <a:xfrm>
            <a:off x="6547104" y="2148840"/>
            <a:ext cx="18288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0" y="249631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75704" y="2423160"/>
            <a:ext cx="5047488" cy="292608"/>
          </a:xfrm>
          <a:prstGeom prst="rect">
            <a:avLst/>
          </a:prstGeom>
          <a:noFill/>
        </p:spPr>
        <p:txBody>
          <a:bodyPr wrap="square" anchor="t">
            <a:spAutoFit/>
          </a:bodyPr>
          <a:lstStyle/>
          <a:p>
            <a:pPr algn="l"/>
            <a:r>
              <a:rPr sz="1300" b="0" i="0">
                <a:solidFill>
                  <a:srgbClr val="48484A"/>
                </a:solidFill>
                <a:latin typeface="Segoe UI"/>
              </a:rPr>
              <a:t>Early breakfast and check-out</a:t>
            </a:r>
          </a:p>
        </p:txBody>
      </p:sp>
      <p:sp>
        <p:nvSpPr>
          <p:cNvPr id="15" name="Oval 14"/>
          <p:cNvSpPr/>
          <p:nvPr/>
        </p:nvSpPr>
        <p:spPr>
          <a:xfrm>
            <a:off x="6583680" y="288036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75704" y="2807208"/>
            <a:ext cx="5047488" cy="292608"/>
          </a:xfrm>
          <a:prstGeom prst="rect">
            <a:avLst/>
          </a:prstGeom>
          <a:noFill/>
        </p:spPr>
        <p:txBody>
          <a:bodyPr wrap="square" anchor="t">
            <a:spAutoFit/>
          </a:bodyPr>
          <a:lstStyle/>
          <a:p>
            <a:pPr algn="l"/>
            <a:r>
              <a:rPr sz="1300" b="0" i="0">
                <a:solidFill>
                  <a:srgbClr val="48484A"/>
                </a:solidFill>
                <a:latin typeface="Segoe UI"/>
              </a:rPr>
              <a:t>Board famous Kandy to Nuwara Eliya train</a:t>
            </a:r>
          </a:p>
        </p:txBody>
      </p:sp>
      <p:sp>
        <p:nvSpPr>
          <p:cNvPr id="17" name="Oval 16"/>
          <p:cNvSpPr/>
          <p:nvPr/>
        </p:nvSpPr>
        <p:spPr>
          <a:xfrm>
            <a:off x="6583680" y="3264408"/>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75704" y="3191256"/>
            <a:ext cx="5047488" cy="292608"/>
          </a:xfrm>
          <a:prstGeom prst="rect">
            <a:avLst/>
          </a:prstGeom>
          <a:noFill/>
        </p:spPr>
        <p:txBody>
          <a:bodyPr wrap="square" anchor="t">
            <a:spAutoFit/>
          </a:bodyPr>
          <a:lstStyle/>
          <a:p>
            <a:pPr algn="l"/>
            <a:r>
              <a:rPr sz="1300" b="0" i="0">
                <a:solidFill>
                  <a:srgbClr val="48484A"/>
                </a:solidFill>
                <a:latin typeface="Segoe UI"/>
              </a:rPr>
              <a:t>Journey through tea plantations and mountain scenery</a:t>
            </a:r>
          </a:p>
        </p:txBody>
      </p:sp>
      <p:sp>
        <p:nvSpPr>
          <p:cNvPr id="19" name="Oval 18"/>
          <p:cNvSpPr/>
          <p:nvPr/>
        </p:nvSpPr>
        <p:spPr>
          <a:xfrm>
            <a:off x="6583680" y="3648455"/>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75704" y="3575303"/>
            <a:ext cx="5047488" cy="292608"/>
          </a:xfrm>
          <a:prstGeom prst="rect">
            <a:avLst/>
          </a:prstGeom>
          <a:noFill/>
        </p:spPr>
        <p:txBody>
          <a:bodyPr wrap="square" anchor="t">
            <a:spAutoFit/>
          </a:bodyPr>
          <a:lstStyle/>
          <a:p>
            <a:pPr algn="l"/>
            <a:r>
              <a:rPr sz="1300" b="0" i="0">
                <a:solidFill>
                  <a:srgbClr val="48484A"/>
                </a:solidFill>
                <a:latin typeface="Segoe UI"/>
              </a:rPr>
              <a:t>One of the world's most scenic train rides</a:t>
            </a:r>
          </a:p>
        </p:txBody>
      </p:sp>
      <p:sp>
        <p:nvSpPr>
          <p:cNvPr id="21" name="Oval 20"/>
          <p:cNvSpPr/>
          <p:nvPr/>
        </p:nvSpPr>
        <p:spPr>
          <a:xfrm>
            <a:off x="6583680" y="4032504"/>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75704" y="3959352"/>
            <a:ext cx="5047488" cy="292608"/>
          </a:xfrm>
          <a:prstGeom prst="rect">
            <a:avLst/>
          </a:prstGeom>
          <a:noFill/>
        </p:spPr>
        <p:txBody>
          <a:bodyPr wrap="square" anchor="t">
            <a:spAutoFit/>
          </a:bodyPr>
          <a:lstStyle/>
          <a:p>
            <a:pPr algn="l"/>
            <a:r>
              <a:rPr sz="1300" b="0" i="0">
                <a:solidFill>
                  <a:srgbClr val="48484A"/>
                </a:solidFill>
                <a:latin typeface="Segoe UI"/>
              </a:rPr>
              <a:t>Arrive in Nuwara Eliya - 'Little England' of Sri Lanka</a:t>
            </a:r>
          </a:p>
        </p:txBody>
      </p:sp>
      <p:sp>
        <p:nvSpPr>
          <p:cNvPr id="23" name="Oval 22"/>
          <p:cNvSpPr/>
          <p:nvPr/>
        </p:nvSpPr>
        <p:spPr>
          <a:xfrm>
            <a:off x="6583680" y="441655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75704" y="4343400"/>
            <a:ext cx="5047488" cy="292608"/>
          </a:xfrm>
          <a:prstGeom prst="rect">
            <a:avLst/>
          </a:prstGeom>
          <a:noFill/>
        </p:spPr>
        <p:txBody>
          <a:bodyPr wrap="square" anchor="t">
            <a:spAutoFit/>
          </a:bodyPr>
          <a:lstStyle/>
          <a:p>
            <a:pPr algn="l"/>
            <a:r>
              <a:rPr sz="1300" b="0" i="0">
                <a:solidFill>
                  <a:srgbClr val="48484A"/>
                </a:solidFill>
                <a:latin typeface="Segoe UI"/>
              </a:rPr>
              <a:t>Check-in to colonial-era hotel</a:t>
            </a:r>
          </a:p>
        </p:txBody>
      </p:sp>
      <p:sp>
        <p:nvSpPr>
          <p:cNvPr id="25" name="Oval 24"/>
          <p:cNvSpPr/>
          <p:nvPr/>
        </p:nvSpPr>
        <p:spPr>
          <a:xfrm>
            <a:off x="6583680" y="480060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75704" y="4727448"/>
            <a:ext cx="5047488" cy="292608"/>
          </a:xfrm>
          <a:prstGeom prst="rect">
            <a:avLst/>
          </a:prstGeom>
          <a:noFill/>
        </p:spPr>
        <p:txBody>
          <a:bodyPr wrap="square" anchor="t">
            <a:spAutoFit/>
          </a:bodyPr>
          <a:lstStyle/>
          <a:p>
            <a:pPr algn="l"/>
            <a:r>
              <a:rPr sz="1300" b="0" i="0">
                <a:solidFill>
                  <a:srgbClr val="48484A"/>
                </a:solidFill>
                <a:latin typeface="Segoe UI"/>
              </a:rPr>
              <a:t>City tour: Gregory Lake &amp; Victoria Park</a:t>
            </a:r>
          </a:p>
        </p:txBody>
      </p:sp>
      <p:sp>
        <p:nvSpPr>
          <p:cNvPr id="27" name="Rectangle 26"/>
          <p:cNvSpPr/>
          <p:nvPr/>
        </p:nvSpPr>
        <p:spPr>
          <a:xfrm>
            <a:off x="6547104" y="5715000"/>
            <a:ext cx="5276088"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47104" y="5852160"/>
            <a:ext cx="5276088" cy="256032"/>
          </a:xfrm>
          <a:prstGeom prst="rect">
            <a:avLst/>
          </a:prstGeom>
          <a:noFill/>
        </p:spPr>
        <p:txBody>
          <a:bodyPr wrap="square" anchor="t">
            <a:spAutoFit/>
          </a:bodyPr>
          <a:lstStyle/>
          <a:p>
            <a:pPr algn="l"/>
            <a:r>
              <a:rPr sz="1000" b="0" i="0">
                <a:solidFill>
                  <a:srgbClr val="8E8E93"/>
                </a:solidFill>
                <a:latin typeface="Segoe UI"/>
              </a:rPr>
              <a:t>Travel: 4 hours   •   Distance: 80 km   •   Overnight: Nuwara Eliya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9048" y="0"/>
            <a:ext cx="6089904" cy="6858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0" y="3200400"/>
            <a:ext cx="1463040" cy="274320"/>
          </a:xfrm>
          <a:prstGeom prst="rect">
            <a:avLst/>
          </a:prstGeom>
          <a:noFill/>
        </p:spPr>
        <p:txBody>
          <a:bodyPr wrap="square" anchor="t">
            <a:spAutoFit/>
          </a:bodyPr>
          <a:lstStyle/>
          <a:p>
            <a:pPr algn="ctr"/>
            <a:r>
              <a:rPr sz="1100" b="0" i="1">
                <a:solidFill>
                  <a:srgbClr val="8E8E93"/>
                </a:solidFill>
                <a:latin typeface="Segoe UI"/>
              </a:rPr>
              <a:t>— image —</a:t>
            </a:r>
          </a:p>
        </p:txBody>
      </p:sp>
      <p:sp>
        <p:nvSpPr>
          <p:cNvPr id="5" name="Rectangle 4"/>
          <p:cNvSpPr/>
          <p:nvPr/>
        </p:nvSpPr>
        <p:spPr>
          <a:xfrm>
            <a:off x="6080760" y="0"/>
            <a:ext cx="36576" cy="685800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36576"/>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640080"/>
            <a:ext cx="530352" cy="530352"/>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0080"/>
            <a:ext cx="530352" cy="530352"/>
          </a:xfrm>
          <a:prstGeom prst="rect">
            <a:avLst/>
          </a:prstGeom>
          <a:noFill/>
        </p:spPr>
        <p:txBody>
          <a:bodyPr wrap="square" anchor="ctr">
            <a:spAutoFit/>
          </a:bodyPr>
          <a:lstStyle/>
          <a:p>
            <a:pPr algn="ctr"/>
            <a:r>
              <a:rPr sz="2200" b="1" i="0">
                <a:solidFill>
                  <a:srgbClr val="FFFFFF"/>
                </a:solidFill>
                <a:latin typeface="Georgia"/>
              </a:rPr>
              <a:t>6</a:t>
            </a:r>
          </a:p>
        </p:txBody>
      </p:sp>
      <p:sp>
        <p:nvSpPr>
          <p:cNvPr id="9" name="TextBox 8"/>
          <p:cNvSpPr txBox="1"/>
          <p:nvPr/>
        </p:nvSpPr>
        <p:spPr>
          <a:xfrm>
            <a:off x="1298448" y="621792"/>
            <a:ext cx="457200" cy="201168"/>
          </a:xfrm>
          <a:prstGeom prst="rect">
            <a:avLst/>
          </a:prstGeom>
          <a:noFill/>
        </p:spPr>
        <p:txBody>
          <a:bodyPr wrap="square" anchor="t">
            <a:spAutoFit/>
          </a:bodyPr>
          <a:lstStyle/>
          <a:p>
            <a:pPr algn="l"/>
            <a:r>
              <a:rPr sz="900" b="1" i="0">
                <a:solidFill>
                  <a:srgbClr val="8E8E93"/>
                </a:solidFill>
                <a:latin typeface="Segoe UI"/>
              </a:rPr>
              <a:t>DAY</a:t>
            </a:r>
          </a:p>
        </p:txBody>
      </p:sp>
      <p:sp>
        <p:nvSpPr>
          <p:cNvPr id="10" name="TextBox 9"/>
          <p:cNvSpPr txBox="1"/>
          <p:nvPr/>
        </p:nvSpPr>
        <p:spPr>
          <a:xfrm>
            <a:off x="1298448" y="841248"/>
            <a:ext cx="4617720" cy="274320"/>
          </a:xfrm>
          <a:prstGeom prst="rect">
            <a:avLst/>
          </a:prstGeom>
          <a:noFill/>
        </p:spPr>
        <p:txBody>
          <a:bodyPr wrap="square" anchor="t">
            <a:spAutoFit/>
          </a:bodyPr>
          <a:lstStyle/>
          <a:p>
            <a:pPr algn="l"/>
            <a:r>
              <a:rPr sz="1300" b="1" i="0">
                <a:solidFill>
                  <a:srgbClr val="8C6D3C"/>
                </a:solidFill>
                <a:latin typeface="Segoe UI"/>
              </a:rPr>
              <a:t>NUWARA ELIYA</a:t>
            </a:r>
          </a:p>
        </p:txBody>
      </p:sp>
      <p:sp>
        <p:nvSpPr>
          <p:cNvPr id="11" name="TextBox 10"/>
          <p:cNvSpPr txBox="1"/>
          <p:nvPr/>
        </p:nvSpPr>
        <p:spPr>
          <a:xfrm>
            <a:off x="640080" y="1371600"/>
            <a:ext cx="5276088" cy="731520"/>
          </a:xfrm>
          <a:prstGeom prst="rect">
            <a:avLst/>
          </a:prstGeom>
          <a:noFill/>
        </p:spPr>
        <p:txBody>
          <a:bodyPr wrap="square" anchor="t">
            <a:spAutoFit/>
          </a:bodyPr>
          <a:lstStyle/>
          <a:p>
            <a:pPr algn="l"/>
            <a:r>
              <a:rPr sz="2600" b="1" i="0">
                <a:solidFill>
                  <a:srgbClr val="1C1C1E"/>
                </a:solidFill>
                <a:latin typeface="Georgia"/>
              </a:rPr>
              <a:t>Horton Plains &amp; World's End</a:t>
            </a:r>
          </a:p>
        </p:txBody>
      </p:sp>
      <p:sp>
        <p:nvSpPr>
          <p:cNvPr id="12" name="Rectangle 11"/>
          <p:cNvSpPr/>
          <p:nvPr/>
        </p:nvSpPr>
        <p:spPr>
          <a:xfrm>
            <a:off x="640080" y="2148840"/>
            <a:ext cx="18288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6655" y="249631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423160"/>
            <a:ext cx="5047488" cy="292608"/>
          </a:xfrm>
          <a:prstGeom prst="rect">
            <a:avLst/>
          </a:prstGeom>
          <a:noFill/>
        </p:spPr>
        <p:txBody>
          <a:bodyPr wrap="square" anchor="t">
            <a:spAutoFit/>
          </a:bodyPr>
          <a:lstStyle/>
          <a:p>
            <a:pPr algn="l"/>
            <a:r>
              <a:rPr sz="1300" b="0" i="0">
                <a:solidFill>
                  <a:srgbClr val="48484A"/>
                </a:solidFill>
                <a:latin typeface="Segoe UI"/>
              </a:rPr>
              <a:t>Very early breakfast box (4:30 AM)</a:t>
            </a:r>
          </a:p>
        </p:txBody>
      </p:sp>
      <p:sp>
        <p:nvSpPr>
          <p:cNvPr id="15" name="Oval 14"/>
          <p:cNvSpPr/>
          <p:nvPr/>
        </p:nvSpPr>
        <p:spPr>
          <a:xfrm>
            <a:off x="676655" y="288036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807208"/>
            <a:ext cx="5047488" cy="292608"/>
          </a:xfrm>
          <a:prstGeom prst="rect">
            <a:avLst/>
          </a:prstGeom>
          <a:noFill/>
        </p:spPr>
        <p:txBody>
          <a:bodyPr wrap="square" anchor="t">
            <a:spAutoFit/>
          </a:bodyPr>
          <a:lstStyle/>
          <a:p>
            <a:pPr algn="l"/>
            <a:r>
              <a:rPr sz="1300" b="0" i="0">
                <a:solidFill>
                  <a:srgbClr val="48484A"/>
                </a:solidFill>
                <a:latin typeface="Segoe UI"/>
              </a:rPr>
              <a:t>Drive to Horton Plains National Park</a:t>
            </a:r>
          </a:p>
        </p:txBody>
      </p:sp>
      <p:sp>
        <p:nvSpPr>
          <p:cNvPr id="17" name="Oval 16"/>
          <p:cNvSpPr/>
          <p:nvPr/>
        </p:nvSpPr>
        <p:spPr>
          <a:xfrm>
            <a:off x="676655" y="3264408"/>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191256"/>
            <a:ext cx="5047488" cy="292608"/>
          </a:xfrm>
          <a:prstGeom prst="rect">
            <a:avLst/>
          </a:prstGeom>
          <a:noFill/>
        </p:spPr>
        <p:txBody>
          <a:bodyPr wrap="square" anchor="t">
            <a:spAutoFit/>
          </a:bodyPr>
          <a:lstStyle/>
          <a:p>
            <a:pPr algn="l"/>
            <a:r>
              <a:rPr sz="1300" b="0" i="0">
                <a:solidFill>
                  <a:srgbClr val="48484A"/>
                </a:solidFill>
                <a:latin typeface="Segoe UI"/>
              </a:rPr>
              <a:t>Trek to World's End viewpoint - breathtaking 4000ft drop</a:t>
            </a:r>
          </a:p>
        </p:txBody>
      </p:sp>
      <p:sp>
        <p:nvSpPr>
          <p:cNvPr id="19" name="Oval 18"/>
          <p:cNvSpPr/>
          <p:nvPr/>
        </p:nvSpPr>
        <p:spPr>
          <a:xfrm>
            <a:off x="676655" y="3648455"/>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575303"/>
            <a:ext cx="5047488" cy="292608"/>
          </a:xfrm>
          <a:prstGeom prst="rect">
            <a:avLst/>
          </a:prstGeom>
          <a:noFill/>
        </p:spPr>
        <p:txBody>
          <a:bodyPr wrap="square" anchor="t">
            <a:spAutoFit/>
          </a:bodyPr>
          <a:lstStyle/>
          <a:p>
            <a:pPr algn="l"/>
            <a:r>
              <a:rPr sz="1300" b="0" i="0">
                <a:solidFill>
                  <a:srgbClr val="48484A"/>
                </a:solidFill>
                <a:latin typeface="Segoe UI"/>
              </a:rPr>
              <a:t>Visit Baker's Falls waterfall</a:t>
            </a:r>
          </a:p>
        </p:txBody>
      </p:sp>
      <p:sp>
        <p:nvSpPr>
          <p:cNvPr id="21" name="Oval 20"/>
          <p:cNvSpPr/>
          <p:nvPr/>
        </p:nvSpPr>
        <p:spPr>
          <a:xfrm>
            <a:off x="676655" y="4032504"/>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959352"/>
            <a:ext cx="5047488" cy="292608"/>
          </a:xfrm>
          <a:prstGeom prst="rect">
            <a:avLst/>
          </a:prstGeom>
          <a:noFill/>
        </p:spPr>
        <p:txBody>
          <a:bodyPr wrap="square" anchor="t">
            <a:spAutoFit/>
          </a:bodyPr>
          <a:lstStyle/>
          <a:p>
            <a:pPr algn="l"/>
            <a:r>
              <a:rPr sz="1300" b="0" i="0">
                <a:solidFill>
                  <a:srgbClr val="48484A"/>
                </a:solidFill>
                <a:latin typeface="Segoe UI"/>
              </a:rPr>
              <a:t>Return to hotel for late brunch</a:t>
            </a:r>
          </a:p>
        </p:txBody>
      </p:sp>
      <p:sp>
        <p:nvSpPr>
          <p:cNvPr id="23" name="Oval 22"/>
          <p:cNvSpPr/>
          <p:nvPr/>
        </p:nvSpPr>
        <p:spPr>
          <a:xfrm>
            <a:off x="676655" y="441655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343400"/>
            <a:ext cx="5047488" cy="292608"/>
          </a:xfrm>
          <a:prstGeom prst="rect">
            <a:avLst/>
          </a:prstGeom>
          <a:noFill/>
        </p:spPr>
        <p:txBody>
          <a:bodyPr wrap="square" anchor="t">
            <a:spAutoFit/>
          </a:bodyPr>
          <a:lstStyle/>
          <a:p>
            <a:pPr algn="l"/>
            <a:r>
              <a:rPr sz="1300" b="0" i="0">
                <a:solidFill>
                  <a:srgbClr val="48484A"/>
                </a:solidFill>
                <a:latin typeface="Segoe UI"/>
              </a:rPr>
              <a:t>Visit working tea factory - learn Ceylon tea production</a:t>
            </a:r>
          </a:p>
        </p:txBody>
      </p:sp>
      <p:sp>
        <p:nvSpPr>
          <p:cNvPr id="25" name="Oval 24"/>
          <p:cNvSpPr/>
          <p:nvPr/>
        </p:nvSpPr>
        <p:spPr>
          <a:xfrm>
            <a:off x="676655" y="480060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727448"/>
            <a:ext cx="5047488" cy="292608"/>
          </a:xfrm>
          <a:prstGeom prst="rect">
            <a:avLst/>
          </a:prstGeom>
          <a:noFill/>
        </p:spPr>
        <p:txBody>
          <a:bodyPr wrap="square" anchor="t">
            <a:spAutoFit/>
          </a:bodyPr>
          <a:lstStyle/>
          <a:p>
            <a:pPr algn="l"/>
            <a:r>
              <a:rPr sz="1300" b="0" i="0">
                <a:solidFill>
                  <a:srgbClr val="48484A"/>
                </a:solidFill>
                <a:latin typeface="Segoe UI"/>
              </a:rPr>
              <a:t>High tea at Grand Hotel - colonial tradition</a:t>
            </a:r>
          </a:p>
        </p:txBody>
      </p:sp>
      <p:sp>
        <p:nvSpPr>
          <p:cNvPr id="27" name="Rectangle 26"/>
          <p:cNvSpPr/>
          <p:nvPr/>
        </p:nvSpPr>
        <p:spPr>
          <a:xfrm>
            <a:off x="640080" y="5715000"/>
            <a:ext cx="5276088"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852160"/>
            <a:ext cx="5276088" cy="256032"/>
          </a:xfrm>
          <a:prstGeom prst="rect">
            <a:avLst/>
          </a:prstGeom>
          <a:noFill/>
        </p:spPr>
        <p:txBody>
          <a:bodyPr wrap="square" anchor="t">
            <a:spAutoFit/>
          </a:bodyPr>
          <a:lstStyle/>
          <a:p>
            <a:pPr algn="l"/>
            <a:r>
              <a:rPr sz="1000" b="0" i="0">
                <a:solidFill>
                  <a:srgbClr val="8E8E93"/>
                </a:solidFill>
                <a:latin typeface="Segoe UI"/>
              </a:rPr>
              <a:t>Travel: 1.5 hours   •   Distance: 35 km   •   Overnight: Nuwara Eliya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89904" cy="6858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313432" y="3200400"/>
            <a:ext cx="1463040" cy="274320"/>
          </a:xfrm>
          <a:prstGeom prst="rect">
            <a:avLst/>
          </a:prstGeom>
          <a:noFill/>
        </p:spPr>
        <p:txBody>
          <a:bodyPr wrap="square" anchor="t">
            <a:spAutoFit/>
          </a:bodyPr>
          <a:lstStyle/>
          <a:p>
            <a:pPr algn="ctr"/>
            <a:r>
              <a:rPr sz="1100" b="0" i="1">
                <a:solidFill>
                  <a:srgbClr val="8E8E93"/>
                </a:solidFill>
                <a:latin typeface="Segoe UI"/>
              </a:rPr>
              <a:t>— image —</a:t>
            </a:r>
          </a:p>
        </p:txBody>
      </p:sp>
      <p:sp>
        <p:nvSpPr>
          <p:cNvPr id="5" name="Rectangle 4"/>
          <p:cNvSpPr/>
          <p:nvPr/>
        </p:nvSpPr>
        <p:spPr>
          <a:xfrm>
            <a:off x="6071616" y="0"/>
            <a:ext cx="36576" cy="685800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36576"/>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47104" y="640080"/>
            <a:ext cx="530352" cy="530352"/>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47104" y="640080"/>
            <a:ext cx="530352" cy="530352"/>
          </a:xfrm>
          <a:prstGeom prst="rect">
            <a:avLst/>
          </a:prstGeom>
          <a:noFill/>
        </p:spPr>
        <p:txBody>
          <a:bodyPr wrap="square" anchor="ctr">
            <a:spAutoFit/>
          </a:bodyPr>
          <a:lstStyle/>
          <a:p>
            <a:pPr algn="ctr"/>
            <a:r>
              <a:rPr sz="2200" b="1" i="0">
                <a:solidFill>
                  <a:srgbClr val="FFFFFF"/>
                </a:solidFill>
                <a:latin typeface="Georgia"/>
              </a:rPr>
              <a:t>7</a:t>
            </a:r>
          </a:p>
        </p:txBody>
      </p:sp>
      <p:sp>
        <p:nvSpPr>
          <p:cNvPr id="9" name="TextBox 8"/>
          <p:cNvSpPr txBox="1"/>
          <p:nvPr/>
        </p:nvSpPr>
        <p:spPr>
          <a:xfrm>
            <a:off x="7205472" y="621792"/>
            <a:ext cx="457200" cy="201168"/>
          </a:xfrm>
          <a:prstGeom prst="rect">
            <a:avLst/>
          </a:prstGeom>
          <a:noFill/>
        </p:spPr>
        <p:txBody>
          <a:bodyPr wrap="square" anchor="t">
            <a:spAutoFit/>
          </a:bodyPr>
          <a:lstStyle/>
          <a:p>
            <a:pPr algn="l"/>
            <a:r>
              <a:rPr sz="900" b="1" i="0">
                <a:solidFill>
                  <a:srgbClr val="8E8E93"/>
                </a:solidFill>
                <a:latin typeface="Segoe UI"/>
              </a:rPr>
              <a:t>DAY</a:t>
            </a:r>
          </a:p>
        </p:txBody>
      </p:sp>
      <p:sp>
        <p:nvSpPr>
          <p:cNvPr id="10" name="TextBox 9"/>
          <p:cNvSpPr txBox="1"/>
          <p:nvPr/>
        </p:nvSpPr>
        <p:spPr>
          <a:xfrm>
            <a:off x="7205472" y="841248"/>
            <a:ext cx="4617720" cy="274320"/>
          </a:xfrm>
          <a:prstGeom prst="rect">
            <a:avLst/>
          </a:prstGeom>
          <a:noFill/>
        </p:spPr>
        <p:txBody>
          <a:bodyPr wrap="square" anchor="t">
            <a:spAutoFit/>
          </a:bodyPr>
          <a:lstStyle/>
          <a:p>
            <a:pPr algn="l"/>
            <a:r>
              <a:rPr sz="1300" b="1" i="0">
                <a:solidFill>
                  <a:srgbClr val="8C6D3C"/>
                </a:solidFill>
                <a:latin typeface="Segoe UI"/>
              </a:rPr>
              <a:t>GALLE</a:t>
            </a:r>
          </a:p>
        </p:txBody>
      </p:sp>
      <p:sp>
        <p:nvSpPr>
          <p:cNvPr id="11" name="TextBox 10"/>
          <p:cNvSpPr txBox="1"/>
          <p:nvPr/>
        </p:nvSpPr>
        <p:spPr>
          <a:xfrm>
            <a:off x="6547104" y="1371600"/>
            <a:ext cx="5276088" cy="731520"/>
          </a:xfrm>
          <a:prstGeom prst="rect">
            <a:avLst/>
          </a:prstGeom>
          <a:noFill/>
        </p:spPr>
        <p:txBody>
          <a:bodyPr wrap="square" anchor="t">
            <a:spAutoFit/>
          </a:bodyPr>
          <a:lstStyle/>
          <a:p>
            <a:pPr algn="l"/>
            <a:r>
              <a:rPr sz="2600" b="1" i="0">
                <a:solidFill>
                  <a:srgbClr val="1C1C1E"/>
                </a:solidFill>
                <a:latin typeface="Georgia"/>
              </a:rPr>
              <a:t>Coastal Beauty of Galle</a:t>
            </a:r>
          </a:p>
        </p:txBody>
      </p:sp>
      <p:sp>
        <p:nvSpPr>
          <p:cNvPr id="12" name="Rectangle 11"/>
          <p:cNvSpPr/>
          <p:nvPr/>
        </p:nvSpPr>
        <p:spPr>
          <a:xfrm>
            <a:off x="6547104" y="2148840"/>
            <a:ext cx="18288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0" y="249631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75704" y="2423160"/>
            <a:ext cx="5047488" cy="292608"/>
          </a:xfrm>
          <a:prstGeom prst="rect">
            <a:avLst/>
          </a:prstGeom>
          <a:noFill/>
        </p:spPr>
        <p:txBody>
          <a:bodyPr wrap="square" anchor="t">
            <a:spAutoFit/>
          </a:bodyPr>
          <a:lstStyle/>
          <a:p>
            <a:pPr algn="l"/>
            <a:r>
              <a:rPr sz="1300" b="0" i="0">
                <a:solidFill>
                  <a:srgbClr val="48484A"/>
                </a:solidFill>
                <a:latin typeface="Segoe UI"/>
              </a:rPr>
              <a:t>Breakfast and check-out</a:t>
            </a:r>
          </a:p>
        </p:txBody>
      </p:sp>
      <p:sp>
        <p:nvSpPr>
          <p:cNvPr id="15" name="Oval 14"/>
          <p:cNvSpPr/>
          <p:nvPr/>
        </p:nvSpPr>
        <p:spPr>
          <a:xfrm>
            <a:off x="6583680" y="288036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75704" y="2807208"/>
            <a:ext cx="5047488" cy="292608"/>
          </a:xfrm>
          <a:prstGeom prst="rect">
            <a:avLst/>
          </a:prstGeom>
          <a:noFill/>
        </p:spPr>
        <p:txBody>
          <a:bodyPr wrap="square" anchor="t">
            <a:spAutoFit/>
          </a:bodyPr>
          <a:lstStyle/>
          <a:p>
            <a:pPr algn="l"/>
            <a:r>
              <a:rPr sz="1300" b="0" i="0">
                <a:solidFill>
                  <a:srgbClr val="48484A"/>
                </a:solidFill>
                <a:latin typeface="Segoe UI"/>
              </a:rPr>
              <a:t>Scenic drive to southern coast through hill country</a:t>
            </a:r>
          </a:p>
        </p:txBody>
      </p:sp>
      <p:sp>
        <p:nvSpPr>
          <p:cNvPr id="17" name="Oval 16"/>
          <p:cNvSpPr/>
          <p:nvPr/>
        </p:nvSpPr>
        <p:spPr>
          <a:xfrm>
            <a:off x="6583680" y="3264408"/>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75704" y="3191256"/>
            <a:ext cx="5047488" cy="292608"/>
          </a:xfrm>
          <a:prstGeom prst="rect">
            <a:avLst/>
          </a:prstGeom>
          <a:noFill/>
        </p:spPr>
        <p:txBody>
          <a:bodyPr wrap="square" anchor="t">
            <a:spAutoFit/>
          </a:bodyPr>
          <a:lstStyle/>
          <a:p>
            <a:pPr algn="l"/>
            <a:r>
              <a:rPr sz="1300" b="0" i="0">
                <a:solidFill>
                  <a:srgbClr val="48484A"/>
                </a:solidFill>
                <a:latin typeface="Segoe UI"/>
              </a:rPr>
              <a:t>Lunch at beachside restaurant</a:t>
            </a:r>
          </a:p>
        </p:txBody>
      </p:sp>
      <p:sp>
        <p:nvSpPr>
          <p:cNvPr id="19" name="Oval 18"/>
          <p:cNvSpPr/>
          <p:nvPr/>
        </p:nvSpPr>
        <p:spPr>
          <a:xfrm>
            <a:off x="6583680" y="3648455"/>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75704" y="3575303"/>
            <a:ext cx="5047488" cy="292608"/>
          </a:xfrm>
          <a:prstGeom prst="rect">
            <a:avLst/>
          </a:prstGeom>
          <a:noFill/>
        </p:spPr>
        <p:txBody>
          <a:bodyPr wrap="square" anchor="t">
            <a:spAutoFit/>
          </a:bodyPr>
          <a:lstStyle/>
          <a:p>
            <a:pPr algn="l"/>
            <a:r>
              <a:rPr sz="1300" b="0" i="0">
                <a:solidFill>
                  <a:srgbClr val="48484A"/>
                </a:solidFill>
                <a:latin typeface="Segoe UI"/>
              </a:rPr>
              <a:t>Explore UNESCO-listed Galle Fort</a:t>
            </a:r>
          </a:p>
        </p:txBody>
      </p:sp>
      <p:sp>
        <p:nvSpPr>
          <p:cNvPr id="21" name="Oval 20"/>
          <p:cNvSpPr/>
          <p:nvPr/>
        </p:nvSpPr>
        <p:spPr>
          <a:xfrm>
            <a:off x="6583680" y="4032504"/>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75704" y="3959352"/>
            <a:ext cx="5047488" cy="292608"/>
          </a:xfrm>
          <a:prstGeom prst="rect">
            <a:avLst/>
          </a:prstGeom>
          <a:noFill/>
        </p:spPr>
        <p:txBody>
          <a:bodyPr wrap="square" anchor="t">
            <a:spAutoFit/>
          </a:bodyPr>
          <a:lstStyle/>
          <a:p>
            <a:pPr algn="l"/>
            <a:r>
              <a:rPr sz="1300" b="0" i="0">
                <a:solidFill>
                  <a:srgbClr val="48484A"/>
                </a:solidFill>
                <a:latin typeface="Segoe UI"/>
              </a:rPr>
              <a:t>Walk through Dutch colonial architecture</a:t>
            </a:r>
          </a:p>
        </p:txBody>
      </p:sp>
      <p:sp>
        <p:nvSpPr>
          <p:cNvPr id="23" name="Oval 22"/>
          <p:cNvSpPr/>
          <p:nvPr/>
        </p:nvSpPr>
        <p:spPr>
          <a:xfrm>
            <a:off x="6583680" y="441655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75704" y="4343400"/>
            <a:ext cx="5047488" cy="292608"/>
          </a:xfrm>
          <a:prstGeom prst="rect">
            <a:avLst/>
          </a:prstGeom>
          <a:noFill/>
        </p:spPr>
        <p:txBody>
          <a:bodyPr wrap="square" anchor="t">
            <a:spAutoFit/>
          </a:bodyPr>
          <a:lstStyle/>
          <a:p>
            <a:pPr algn="l"/>
            <a:r>
              <a:rPr sz="1300" b="0" i="0">
                <a:solidFill>
                  <a:srgbClr val="48484A"/>
                </a:solidFill>
                <a:latin typeface="Segoe UI"/>
              </a:rPr>
              <a:t>Visit lighthouse and fort ramparts</a:t>
            </a:r>
          </a:p>
        </p:txBody>
      </p:sp>
      <p:sp>
        <p:nvSpPr>
          <p:cNvPr id="25" name="Oval 24"/>
          <p:cNvSpPr/>
          <p:nvPr/>
        </p:nvSpPr>
        <p:spPr>
          <a:xfrm>
            <a:off x="6583680" y="480060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75704" y="4727448"/>
            <a:ext cx="5047488" cy="292608"/>
          </a:xfrm>
          <a:prstGeom prst="rect">
            <a:avLst/>
          </a:prstGeom>
          <a:noFill/>
        </p:spPr>
        <p:txBody>
          <a:bodyPr wrap="square" anchor="t">
            <a:spAutoFit/>
          </a:bodyPr>
          <a:lstStyle/>
          <a:p>
            <a:pPr algn="l"/>
            <a:r>
              <a:rPr sz="1300" b="0" i="0">
                <a:solidFill>
                  <a:srgbClr val="48484A"/>
                </a:solidFill>
                <a:latin typeface="Segoe UI"/>
              </a:rPr>
              <a:t>Sunset photography along the fort walls</a:t>
            </a:r>
          </a:p>
        </p:txBody>
      </p:sp>
      <p:sp>
        <p:nvSpPr>
          <p:cNvPr id="27" name="Rectangle 26"/>
          <p:cNvSpPr/>
          <p:nvPr/>
        </p:nvSpPr>
        <p:spPr>
          <a:xfrm>
            <a:off x="6547104" y="5715000"/>
            <a:ext cx="5276088"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47104" y="5852160"/>
            <a:ext cx="5276088" cy="256032"/>
          </a:xfrm>
          <a:prstGeom prst="rect">
            <a:avLst/>
          </a:prstGeom>
          <a:noFill/>
        </p:spPr>
        <p:txBody>
          <a:bodyPr wrap="square" anchor="t">
            <a:spAutoFit/>
          </a:bodyPr>
          <a:lstStyle/>
          <a:p>
            <a:pPr algn="l"/>
            <a:r>
              <a:rPr sz="1000" b="0" i="0">
                <a:solidFill>
                  <a:srgbClr val="8E8E93"/>
                </a:solidFill>
                <a:latin typeface="Segoe UI"/>
              </a:rPr>
              <a:t>Travel: 5 hours   •   Distance: 175 km   •   Overnight: Galle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9048" y="0"/>
            <a:ext cx="6089904" cy="6858000"/>
          </a:xfrm>
          <a:prstGeom prst="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80" y="3200400"/>
            <a:ext cx="1463040" cy="274320"/>
          </a:xfrm>
          <a:prstGeom prst="rect">
            <a:avLst/>
          </a:prstGeom>
          <a:noFill/>
        </p:spPr>
        <p:txBody>
          <a:bodyPr wrap="square" anchor="t">
            <a:spAutoFit/>
          </a:bodyPr>
          <a:lstStyle/>
          <a:p>
            <a:pPr algn="ctr"/>
            <a:r>
              <a:rPr sz="1100" b="0" i="1">
                <a:solidFill>
                  <a:srgbClr val="8E8E93"/>
                </a:solidFill>
                <a:latin typeface="Segoe UI"/>
              </a:rPr>
              <a:t>— image —</a:t>
            </a:r>
          </a:p>
        </p:txBody>
      </p:sp>
      <p:sp>
        <p:nvSpPr>
          <p:cNvPr id="5" name="Rectangle 4"/>
          <p:cNvSpPr/>
          <p:nvPr/>
        </p:nvSpPr>
        <p:spPr>
          <a:xfrm>
            <a:off x="6080760" y="0"/>
            <a:ext cx="36576" cy="685800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36576"/>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640080"/>
            <a:ext cx="530352" cy="530352"/>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40080"/>
            <a:ext cx="530352" cy="530352"/>
          </a:xfrm>
          <a:prstGeom prst="rect">
            <a:avLst/>
          </a:prstGeom>
          <a:noFill/>
        </p:spPr>
        <p:txBody>
          <a:bodyPr wrap="square" anchor="ctr">
            <a:spAutoFit/>
          </a:bodyPr>
          <a:lstStyle/>
          <a:p>
            <a:pPr algn="ctr"/>
            <a:r>
              <a:rPr sz="2200" b="1" i="0">
                <a:solidFill>
                  <a:srgbClr val="FFFFFF"/>
                </a:solidFill>
                <a:latin typeface="Georgia"/>
              </a:rPr>
              <a:t>8</a:t>
            </a:r>
          </a:p>
        </p:txBody>
      </p:sp>
      <p:sp>
        <p:nvSpPr>
          <p:cNvPr id="9" name="TextBox 8"/>
          <p:cNvSpPr txBox="1"/>
          <p:nvPr/>
        </p:nvSpPr>
        <p:spPr>
          <a:xfrm>
            <a:off x="1298448" y="621792"/>
            <a:ext cx="457200" cy="201168"/>
          </a:xfrm>
          <a:prstGeom prst="rect">
            <a:avLst/>
          </a:prstGeom>
          <a:noFill/>
        </p:spPr>
        <p:txBody>
          <a:bodyPr wrap="square" anchor="t">
            <a:spAutoFit/>
          </a:bodyPr>
          <a:lstStyle/>
          <a:p>
            <a:pPr algn="l"/>
            <a:r>
              <a:rPr sz="900" b="1" i="0">
                <a:solidFill>
                  <a:srgbClr val="8E8E93"/>
                </a:solidFill>
                <a:latin typeface="Segoe UI"/>
              </a:rPr>
              <a:t>DAY</a:t>
            </a:r>
          </a:p>
        </p:txBody>
      </p:sp>
      <p:sp>
        <p:nvSpPr>
          <p:cNvPr id="10" name="TextBox 9"/>
          <p:cNvSpPr txBox="1"/>
          <p:nvPr/>
        </p:nvSpPr>
        <p:spPr>
          <a:xfrm>
            <a:off x="1298448" y="841248"/>
            <a:ext cx="4617720" cy="274320"/>
          </a:xfrm>
          <a:prstGeom prst="rect">
            <a:avLst/>
          </a:prstGeom>
          <a:noFill/>
        </p:spPr>
        <p:txBody>
          <a:bodyPr wrap="square" anchor="t">
            <a:spAutoFit/>
          </a:bodyPr>
          <a:lstStyle/>
          <a:p>
            <a:pPr algn="l"/>
            <a:r>
              <a:rPr sz="1300" b="1" i="0">
                <a:solidFill>
                  <a:srgbClr val="8C6D3C"/>
                </a:solidFill>
                <a:latin typeface="Segoe UI"/>
              </a:rPr>
              <a:t>COLOMBO</a:t>
            </a:r>
          </a:p>
        </p:txBody>
      </p:sp>
      <p:sp>
        <p:nvSpPr>
          <p:cNvPr id="11" name="TextBox 10"/>
          <p:cNvSpPr txBox="1"/>
          <p:nvPr/>
        </p:nvSpPr>
        <p:spPr>
          <a:xfrm>
            <a:off x="640080" y="1371600"/>
            <a:ext cx="5276088" cy="731520"/>
          </a:xfrm>
          <a:prstGeom prst="rect">
            <a:avLst/>
          </a:prstGeom>
          <a:noFill/>
        </p:spPr>
        <p:txBody>
          <a:bodyPr wrap="square" anchor="t">
            <a:spAutoFit/>
          </a:bodyPr>
          <a:lstStyle/>
          <a:p>
            <a:pPr algn="l"/>
            <a:r>
              <a:rPr sz="2600" b="1" i="0">
                <a:solidFill>
                  <a:srgbClr val="1C1C1E"/>
                </a:solidFill>
                <a:latin typeface="Georgia"/>
              </a:rPr>
              <a:t>Farewell Sri Lanka</a:t>
            </a:r>
          </a:p>
        </p:txBody>
      </p:sp>
      <p:sp>
        <p:nvSpPr>
          <p:cNvPr id="12" name="Rectangle 11"/>
          <p:cNvSpPr/>
          <p:nvPr/>
        </p:nvSpPr>
        <p:spPr>
          <a:xfrm>
            <a:off x="640080" y="2148840"/>
            <a:ext cx="18288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76655" y="249631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423160"/>
            <a:ext cx="5047488" cy="292608"/>
          </a:xfrm>
          <a:prstGeom prst="rect">
            <a:avLst/>
          </a:prstGeom>
          <a:noFill/>
        </p:spPr>
        <p:txBody>
          <a:bodyPr wrap="square" anchor="t">
            <a:spAutoFit/>
          </a:bodyPr>
          <a:lstStyle/>
          <a:p>
            <a:pPr algn="l"/>
            <a:r>
              <a:rPr sz="1300" b="0" i="0">
                <a:solidFill>
                  <a:srgbClr val="48484A"/>
                </a:solidFill>
                <a:latin typeface="Segoe UI"/>
              </a:rPr>
              <a:t>Breakfast at hotel</a:t>
            </a:r>
          </a:p>
        </p:txBody>
      </p:sp>
      <p:sp>
        <p:nvSpPr>
          <p:cNvPr id="15" name="Oval 14"/>
          <p:cNvSpPr/>
          <p:nvPr/>
        </p:nvSpPr>
        <p:spPr>
          <a:xfrm>
            <a:off x="676655" y="2880360"/>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807208"/>
            <a:ext cx="5047488" cy="292608"/>
          </a:xfrm>
          <a:prstGeom prst="rect">
            <a:avLst/>
          </a:prstGeom>
          <a:noFill/>
        </p:spPr>
        <p:txBody>
          <a:bodyPr wrap="square" anchor="t">
            <a:spAutoFit/>
          </a:bodyPr>
          <a:lstStyle/>
          <a:p>
            <a:pPr algn="l"/>
            <a:r>
              <a:rPr sz="1300" b="0" i="0">
                <a:solidFill>
                  <a:srgbClr val="48484A"/>
                </a:solidFill>
                <a:latin typeface="Segoe UI"/>
              </a:rPr>
              <a:t>Morning at leisure - optional beach time</a:t>
            </a:r>
          </a:p>
        </p:txBody>
      </p:sp>
      <p:sp>
        <p:nvSpPr>
          <p:cNvPr id="17" name="Oval 16"/>
          <p:cNvSpPr/>
          <p:nvPr/>
        </p:nvSpPr>
        <p:spPr>
          <a:xfrm>
            <a:off x="676655" y="3264408"/>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191256"/>
            <a:ext cx="5047488" cy="292608"/>
          </a:xfrm>
          <a:prstGeom prst="rect">
            <a:avLst/>
          </a:prstGeom>
          <a:noFill/>
        </p:spPr>
        <p:txBody>
          <a:bodyPr wrap="square" anchor="t">
            <a:spAutoFit/>
          </a:bodyPr>
          <a:lstStyle/>
          <a:p>
            <a:pPr algn="l"/>
            <a:r>
              <a:rPr sz="1300" b="0" i="0">
                <a:solidFill>
                  <a:srgbClr val="48484A"/>
                </a:solidFill>
                <a:latin typeface="Segoe UI"/>
              </a:rPr>
              <a:t>Check-out and drive to Colombo airport</a:t>
            </a:r>
          </a:p>
        </p:txBody>
      </p:sp>
      <p:sp>
        <p:nvSpPr>
          <p:cNvPr id="19" name="Oval 18"/>
          <p:cNvSpPr/>
          <p:nvPr/>
        </p:nvSpPr>
        <p:spPr>
          <a:xfrm>
            <a:off x="676655" y="3648455"/>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575303"/>
            <a:ext cx="5047488" cy="292608"/>
          </a:xfrm>
          <a:prstGeom prst="rect">
            <a:avLst/>
          </a:prstGeom>
          <a:noFill/>
        </p:spPr>
        <p:txBody>
          <a:bodyPr wrap="square" anchor="t">
            <a:spAutoFit/>
          </a:bodyPr>
          <a:lstStyle/>
          <a:p>
            <a:pPr algn="l"/>
            <a:r>
              <a:rPr sz="1300" b="0" i="0">
                <a:solidFill>
                  <a:srgbClr val="48484A"/>
                </a:solidFill>
                <a:latin typeface="Segoe UI"/>
              </a:rPr>
              <a:t>Last-minute shopping if time permits</a:t>
            </a:r>
          </a:p>
        </p:txBody>
      </p:sp>
      <p:sp>
        <p:nvSpPr>
          <p:cNvPr id="21" name="Oval 20"/>
          <p:cNvSpPr/>
          <p:nvPr/>
        </p:nvSpPr>
        <p:spPr>
          <a:xfrm>
            <a:off x="676655" y="4032504"/>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959352"/>
            <a:ext cx="5047488" cy="292608"/>
          </a:xfrm>
          <a:prstGeom prst="rect">
            <a:avLst/>
          </a:prstGeom>
          <a:noFill/>
        </p:spPr>
        <p:txBody>
          <a:bodyPr wrap="square" anchor="t">
            <a:spAutoFit/>
          </a:bodyPr>
          <a:lstStyle/>
          <a:p>
            <a:pPr algn="l"/>
            <a:r>
              <a:rPr sz="1300" b="0" i="0">
                <a:solidFill>
                  <a:srgbClr val="48484A"/>
                </a:solidFill>
                <a:latin typeface="Segoe UI"/>
              </a:rPr>
              <a:t>Departure from Bandaranaike International Airport</a:t>
            </a:r>
          </a:p>
        </p:txBody>
      </p:sp>
      <p:sp>
        <p:nvSpPr>
          <p:cNvPr id="23" name="Oval 22"/>
          <p:cNvSpPr/>
          <p:nvPr/>
        </p:nvSpPr>
        <p:spPr>
          <a:xfrm>
            <a:off x="676655" y="4416552"/>
            <a:ext cx="73152" cy="73152"/>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343400"/>
            <a:ext cx="5047488" cy="292608"/>
          </a:xfrm>
          <a:prstGeom prst="rect">
            <a:avLst/>
          </a:prstGeom>
          <a:noFill/>
        </p:spPr>
        <p:txBody>
          <a:bodyPr wrap="square" anchor="t">
            <a:spAutoFit/>
          </a:bodyPr>
          <a:lstStyle/>
          <a:p>
            <a:pPr algn="l"/>
            <a:r>
              <a:rPr sz="1300" b="0" i="0">
                <a:solidFill>
                  <a:srgbClr val="48484A"/>
                </a:solidFill>
                <a:latin typeface="Segoe UI"/>
              </a:rPr>
              <a:t>End of memorable Sri Lankan journey</a:t>
            </a:r>
          </a:p>
        </p:txBody>
      </p:sp>
      <p:sp>
        <p:nvSpPr>
          <p:cNvPr id="25" name="Rectangle 24"/>
          <p:cNvSpPr/>
          <p:nvPr/>
        </p:nvSpPr>
        <p:spPr>
          <a:xfrm>
            <a:off x="640080" y="5715000"/>
            <a:ext cx="5276088"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852160"/>
            <a:ext cx="5276088" cy="256032"/>
          </a:xfrm>
          <a:prstGeom prst="rect">
            <a:avLst/>
          </a:prstGeom>
          <a:noFill/>
        </p:spPr>
        <p:txBody>
          <a:bodyPr wrap="square" anchor="t">
            <a:spAutoFit/>
          </a:bodyPr>
          <a:lstStyle/>
          <a:p>
            <a:pPr algn="l"/>
            <a:r>
              <a:rPr sz="1000" b="0" i="0">
                <a:solidFill>
                  <a:srgbClr val="8E8E93"/>
                </a:solidFill>
                <a:latin typeface="Segoe UI"/>
              </a:rPr>
              <a:t>Travel: 3 hours   •   Distance: 145 km   •   Overnight: N/A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A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114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57200"/>
            <a:ext cx="3657600" cy="274320"/>
          </a:xfrm>
          <a:prstGeom prst="rect">
            <a:avLst/>
          </a:prstGeom>
          <a:noFill/>
        </p:spPr>
        <p:txBody>
          <a:bodyPr wrap="square" anchor="t">
            <a:spAutoFit/>
          </a:bodyPr>
          <a:lstStyle/>
          <a:p>
            <a:pPr algn="l"/>
            <a:r>
              <a:rPr sz="1000" b="1" i="0">
                <a:solidFill>
                  <a:srgbClr val="8E8E93"/>
                </a:solidFill>
                <a:latin typeface="Segoe UI"/>
              </a:rPr>
              <a:t>ACCOMMODATION</a:t>
            </a:r>
          </a:p>
        </p:txBody>
      </p:sp>
      <p:sp>
        <p:nvSpPr>
          <p:cNvPr id="6" name="Rectangle 5"/>
          <p:cNvSpPr/>
          <p:nvPr/>
        </p:nvSpPr>
        <p:spPr>
          <a:xfrm>
            <a:off x="822960" y="758952"/>
            <a:ext cx="13716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914400"/>
            <a:ext cx="6400800" cy="548640"/>
          </a:xfrm>
          <a:prstGeom prst="rect">
            <a:avLst/>
          </a:prstGeom>
          <a:noFill/>
        </p:spPr>
        <p:txBody>
          <a:bodyPr wrap="square" anchor="t">
            <a:spAutoFit/>
          </a:bodyPr>
          <a:lstStyle/>
          <a:p>
            <a:pPr algn="l"/>
            <a:r>
              <a:rPr sz="3600" b="1" i="0">
                <a:solidFill>
                  <a:srgbClr val="1C1C1E"/>
                </a:solidFill>
                <a:latin typeface="Georgia"/>
              </a:rPr>
              <a:t>Where You'll Stay</a:t>
            </a:r>
          </a:p>
        </p:txBody>
      </p:sp>
      <p:sp>
        <p:nvSpPr>
          <p:cNvPr id="8" name="TextBox 7"/>
          <p:cNvSpPr txBox="1"/>
          <p:nvPr/>
        </p:nvSpPr>
        <p:spPr>
          <a:xfrm>
            <a:off x="1097280" y="1783080"/>
            <a:ext cx="3657600" cy="274320"/>
          </a:xfrm>
          <a:prstGeom prst="rect">
            <a:avLst/>
          </a:prstGeom>
          <a:noFill/>
        </p:spPr>
        <p:txBody>
          <a:bodyPr wrap="square" anchor="t">
            <a:spAutoFit/>
          </a:bodyPr>
          <a:lstStyle/>
          <a:p>
            <a:pPr algn="l"/>
            <a:r>
              <a:rPr sz="1000" b="1" i="0">
                <a:solidFill>
                  <a:srgbClr val="8E8E93"/>
                </a:solidFill>
                <a:latin typeface="Segoe UI"/>
              </a:rPr>
              <a:t>Property</a:t>
            </a:r>
          </a:p>
        </p:txBody>
      </p:sp>
      <p:sp>
        <p:nvSpPr>
          <p:cNvPr id="9" name="TextBox 8"/>
          <p:cNvSpPr txBox="1"/>
          <p:nvPr/>
        </p:nvSpPr>
        <p:spPr>
          <a:xfrm>
            <a:off x="5029200" y="1783080"/>
            <a:ext cx="1828800" cy="274320"/>
          </a:xfrm>
          <a:prstGeom prst="rect">
            <a:avLst/>
          </a:prstGeom>
          <a:noFill/>
        </p:spPr>
        <p:txBody>
          <a:bodyPr wrap="square" anchor="t">
            <a:spAutoFit/>
          </a:bodyPr>
          <a:lstStyle/>
          <a:p>
            <a:pPr algn="l"/>
            <a:r>
              <a:rPr sz="1000" b="1" i="0">
                <a:solidFill>
                  <a:srgbClr val="8E8E93"/>
                </a:solidFill>
                <a:latin typeface="Segoe UI"/>
              </a:rPr>
              <a:t>Location</a:t>
            </a:r>
          </a:p>
        </p:txBody>
      </p:sp>
      <p:sp>
        <p:nvSpPr>
          <p:cNvPr id="10" name="TextBox 9"/>
          <p:cNvSpPr txBox="1"/>
          <p:nvPr/>
        </p:nvSpPr>
        <p:spPr>
          <a:xfrm>
            <a:off x="7132320" y="1783080"/>
            <a:ext cx="2286000" cy="274320"/>
          </a:xfrm>
          <a:prstGeom prst="rect">
            <a:avLst/>
          </a:prstGeom>
          <a:noFill/>
        </p:spPr>
        <p:txBody>
          <a:bodyPr wrap="square" anchor="t">
            <a:spAutoFit/>
          </a:bodyPr>
          <a:lstStyle/>
          <a:p>
            <a:pPr algn="l"/>
            <a:r>
              <a:rPr sz="1000" b="1" i="0">
                <a:solidFill>
                  <a:srgbClr val="8E8E93"/>
                </a:solidFill>
                <a:latin typeface="Segoe UI"/>
              </a:rPr>
              <a:t>Room Type</a:t>
            </a:r>
          </a:p>
        </p:txBody>
      </p:sp>
      <p:sp>
        <p:nvSpPr>
          <p:cNvPr id="11" name="TextBox 10"/>
          <p:cNvSpPr txBox="1"/>
          <p:nvPr/>
        </p:nvSpPr>
        <p:spPr>
          <a:xfrm>
            <a:off x="9601200" y="1783080"/>
            <a:ext cx="1645920" cy="274320"/>
          </a:xfrm>
          <a:prstGeom prst="rect">
            <a:avLst/>
          </a:prstGeom>
          <a:noFill/>
        </p:spPr>
        <p:txBody>
          <a:bodyPr wrap="square" anchor="t">
            <a:spAutoFit/>
          </a:bodyPr>
          <a:lstStyle/>
          <a:p>
            <a:pPr algn="r"/>
            <a:r>
              <a:rPr sz="1000" b="1" i="0">
                <a:solidFill>
                  <a:srgbClr val="8E8E93"/>
                </a:solidFill>
                <a:latin typeface="Segoe UI"/>
              </a:rPr>
              <a:t>Nights</a:t>
            </a:r>
          </a:p>
        </p:txBody>
      </p:sp>
      <p:sp>
        <p:nvSpPr>
          <p:cNvPr id="12" name="Rectangle 11"/>
          <p:cNvSpPr/>
          <p:nvPr/>
        </p:nvSpPr>
        <p:spPr>
          <a:xfrm>
            <a:off x="777240" y="2084831"/>
            <a:ext cx="1051560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240280"/>
            <a:ext cx="10561320" cy="68580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09828" y="2532888"/>
            <a:ext cx="100584" cy="100584"/>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2404872"/>
            <a:ext cx="3657600" cy="365760"/>
          </a:xfrm>
          <a:prstGeom prst="rect">
            <a:avLst/>
          </a:prstGeom>
          <a:noFill/>
        </p:spPr>
        <p:txBody>
          <a:bodyPr wrap="square" anchor="t">
            <a:spAutoFit/>
          </a:bodyPr>
          <a:lstStyle/>
          <a:p>
            <a:pPr algn="l"/>
            <a:r>
              <a:rPr sz="1400" b="1" i="0">
                <a:solidFill>
                  <a:srgbClr val="1C1C1E"/>
                </a:solidFill>
                <a:latin typeface="Segoe UI"/>
              </a:rPr>
              <a:t>The Kingsbury Hotel</a:t>
            </a:r>
          </a:p>
        </p:txBody>
      </p:sp>
      <p:sp>
        <p:nvSpPr>
          <p:cNvPr id="16" name="TextBox 15"/>
          <p:cNvSpPr txBox="1"/>
          <p:nvPr/>
        </p:nvSpPr>
        <p:spPr>
          <a:xfrm>
            <a:off x="5029200" y="2423160"/>
            <a:ext cx="1828800" cy="320040"/>
          </a:xfrm>
          <a:prstGeom prst="rect">
            <a:avLst/>
          </a:prstGeom>
          <a:noFill/>
        </p:spPr>
        <p:txBody>
          <a:bodyPr wrap="square" anchor="t">
            <a:spAutoFit/>
          </a:bodyPr>
          <a:lstStyle/>
          <a:p>
            <a:pPr algn="l"/>
            <a:r>
              <a:rPr sz="1300" b="0" i="0">
                <a:solidFill>
                  <a:srgbClr val="48484A"/>
                </a:solidFill>
                <a:latin typeface="Segoe UI"/>
              </a:rPr>
              <a:t>Colombo</a:t>
            </a:r>
          </a:p>
        </p:txBody>
      </p:sp>
      <p:sp>
        <p:nvSpPr>
          <p:cNvPr id="17" name="TextBox 16"/>
          <p:cNvSpPr txBox="1"/>
          <p:nvPr/>
        </p:nvSpPr>
        <p:spPr>
          <a:xfrm>
            <a:off x="7132320" y="2423160"/>
            <a:ext cx="2286000" cy="320040"/>
          </a:xfrm>
          <a:prstGeom prst="rect">
            <a:avLst/>
          </a:prstGeom>
          <a:noFill/>
        </p:spPr>
        <p:txBody>
          <a:bodyPr wrap="square" anchor="t">
            <a:spAutoFit/>
          </a:bodyPr>
          <a:lstStyle/>
          <a:p>
            <a:pPr algn="l"/>
            <a:r>
              <a:rPr sz="1200" b="0" i="0">
                <a:solidFill>
                  <a:srgbClr val="8E8E93"/>
                </a:solidFill>
                <a:latin typeface="Segoe UI"/>
              </a:rPr>
              <a:t>Deluxe Ocean View</a:t>
            </a:r>
          </a:p>
        </p:txBody>
      </p:sp>
      <p:sp>
        <p:nvSpPr>
          <p:cNvPr id="18" name="TextBox 17"/>
          <p:cNvSpPr txBox="1"/>
          <p:nvPr/>
        </p:nvSpPr>
        <p:spPr>
          <a:xfrm>
            <a:off x="9601200" y="2423160"/>
            <a:ext cx="1645920" cy="320040"/>
          </a:xfrm>
          <a:prstGeom prst="rect">
            <a:avLst/>
          </a:prstGeom>
          <a:noFill/>
        </p:spPr>
        <p:txBody>
          <a:bodyPr wrap="square" anchor="t">
            <a:spAutoFit/>
          </a:bodyPr>
          <a:lstStyle/>
          <a:p>
            <a:pPr algn="r"/>
            <a:r>
              <a:rPr sz="1300" b="1" i="0">
                <a:solidFill>
                  <a:srgbClr val="8C6D3C"/>
                </a:solidFill>
                <a:latin typeface="Segoe UI"/>
              </a:rPr>
              <a:t>Night 1-2</a:t>
            </a:r>
          </a:p>
        </p:txBody>
      </p:sp>
      <p:sp>
        <p:nvSpPr>
          <p:cNvPr id="19" name="Rounded Rectangle 18"/>
          <p:cNvSpPr/>
          <p:nvPr/>
        </p:nvSpPr>
        <p:spPr>
          <a:xfrm>
            <a:off x="731520" y="2999232"/>
            <a:ext cx="1056132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09828" y="3291840"/>
            <a:ext cx="100584" cy="100584"/>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43000" y="3163824"/>
            <a:ext cx="3657600" cy="365760"/>
          </a:xfrm>
          <a:prstGeom prst="rect">
            <a:avLst/>
          </a:prstGeom>
          <a:noFill/>
        </p:spPr>
        <p:txBody>
          <a:bodyPr wrap="square" anchor="t">
            <a:spAutoFit/>
          </a:bodyPr>
          <a:lstStyle/>
          <a:p>
            <a:pPr algn="l"/>
            <a:r>
              <a:rPr sz="1400" b="1" i="0">
                <a:solidFill>
                  <a:srgbClr val="1C1C1E"/>
                </a:solidFill>
                <a:latin typeface="Segoe UI"/>
              </a:rPr>
              <a:t>The Kandy House</a:t>
            </a:r>
          </a:p>
        </p:txBody>
      </p:sp>
      <p:sp>
        <p:nvSpPr>
          <p:cNvPr id="22" name="TextBox 21"/>
          <p:cNvSpPr txBox="1"/>
          <p:nvPr/>
        </p:nvSpPr>
        <p:spPr>
          <a:xfrm>
            <a:off x="5029200" y="3182112"/>
            <a:ext cx="1828800" cy="320040"/>
          </a:xfrm>
          <a:prstGeom prst="rect">
            <a:avLst/>
          </a:prstGeom>
          <a:noFill/>
        </p:spPr>
        <p:txBody>
          <a:bodyPr wrap="square" anchor="t">
            <a:spAutoFit/>
          </a:bodyPr>
          <a:lstStyle/>
          <a:p>
            <a:pPr algn="l"/>
            <a:r>
              <a:rPr sz="1300" b="0" i="0">
                <a:solidFill>
                  <a:srgbClr val="48484A"/>
                </a:solidFill>
                <a:latin typeface="Segoe UI"/>
              </a:rPr>
              <a:t>Kandy</a:t>
            </a:r>
          </a:p>
        </p:txBody>
      </p:sp>
      <p:sp>
        <p:nvSpPr>
          <p:cNvPr id="23" name="TextBox 22"/>
          <p:cNvSpPr txBox="1"/>
          <p:nvPr/>
        </p:nvSpPr>
        <p:spPr>
          <a:xfrm>
            <a:off x="7132320" y="3182112"/>
            <a:ext cx="2286000" cy="320040"/>
          </a:xfrm>
          <a:prstGeom prst="rect">
            <a:avLst/>
          </a:prstGeom>
          <a:noFill/>
        </p:spPr>
        <p:txBody>
          <a:bodyPr wrap="square" anchor="t">
            <a:spAutoFit/>
          </a:bodyPr>
          <a:lstStyle/>
          <a:p>
            <a:pPr algn="l"/>
            <a:r>
              <a:rPr sz="1200" b="0" i="0">
                <a:solidFill>
                  <a:srgbClr val="8E8E93"/>
                </a:solidFill>
                <a:latin typeface="Segoe UI"/>
              </a:rPr>
              <a:t>Luxury Suite</a:t>
            </a:r>
          </a:p>
        </p:txBody>
      </p:sp>
      <p:sp>
        <p:nvSpPr>
          <p:cNvPr id="24" name="TextBox 23"/>
          <p:cNvSpPr txBox="1"/>
          <p:nvPr/>
        </p:nvSpPr>
        <p:spPr>
          <a:xfrm>
            <a:off x="9601200" y="3182112"/>
            <a:ext cx="1645920" cy="320040"/>
          </a:xfrm>
          <a:prstGeom prst="rect">
            <a:avLst/>
          </a:prstGeom>
          <a:noFill/>
        </p:spPr>
        <p:txBody>
          <a:bodyPr wrap="square" anchor="t">
            <a:spAutoFit/>
          </a:bodyPr>
          <a:lstStyle/>
          <a:p>
            <a:pPr algn="r"/>
            <a:r>
              <a:rPr sz="1300" b="1" i="0">
                <a:solidFill>
                  <a:srgbClr val="8C6D3C"/>
                </a:solidFill>
                <a:latin typeface="Segoe UI"/>
              </a:rPr>
              <a:t>Night 3-4</a:t>
            </a:r>
          </a:p>
        </p:txBody>
      </p:sp>
      <p:sp>
        <p:nvSpPr>
          <p:cNvPr id="25" name="Rounded Rectangle 24"/>
          <p:cNvSpPr/>
          <p:nvPr/>
        </p:nvSpPr>
        <p:spPr>
          <a:xfrm>
            <a:off x="731520" y="3758184"/>
            <a:ext cx="10561320" cy="685800"/>
          </a:xfrm>
          <a:prstGeom prst="roundRect">
            <a:avLst/>
          </a:prstGeom>
          <a:solidFill>
            <a:srgbClr val="F5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09828" y="4050792"/>
            <a:ext cx="100584" cy="100584"/>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43000" y="3922776"/>
            <a:ext cx="3657600" cy="365760"/>
          </a:xfrm>
          <a:prstGeom prst="rect">
            <a:avLst/>
          </a:prstGeom>
          <a:noFill/>
        </p:spPr>
        <p:txBody>
          <a:bodyPr wrap="square" anchor="t">
            <a:spAutoFit/>
          </a:bodyPr>
          <a:lstStyle/>
          <a:p>
            <a:pPr algn="l"/>
            <a:r>
              <a:rPr sz="1400" b="1" i="0">
                <a:solidFill>
                  <a:srgbClr val="1C1C1E"/>
                </a:solidFill>
                <a:latin typeface="Segoe UI"/>
              </a:rPr>
              <a:t>Jetwing St. Andrew's</a:t>
            </a:r>
          </a:p>
        </p:txBody>
      </p:sp>
      <p:sp>
        <p:nvSpPr>
          <p:cNvPr id="28" name="TextBox 27"/>
          <p:cNvSpPr txBox="1"/>
          <p:nvPr/>
        </p:nvSpPr>
        <p:spPr>
          <a:xfrm>
            <a:off x="5029200" y="3941064"/>
            <a:ext cx="1828800" cy="320040"/>
          </a:xfrm>
          <a:prstGeom prst="rect">
            <a:avLst/>
          </a:prstGeom>
          <a:noFill/>
        </p:spPr>
        <p:txBody>
          <a:bodyPr wrap="square" anchor="t">
            <a:spAutoFit/>
          </a:bodyPr>
          <a:lstStyle/>
          <a:p>
            <a:pPr algn="l"/>
            <a:r>
              <a:rPr sz="1300" b="0" i="0">
                <a:solidFill>
                  <a:srgbClr val="48484A"/>
                </a:solidFill>
                <a:latin typeface="Segoe UI"/>
              </a:rPr>
              <a:t>Nuwara Eliya</a:t>
            </a:r>
          </a:p>
        </p:txBody>
      </p:sp>
      <p:sp>
        <p:nvSpPr>
          <p:cNvPr id="29" name="TextBox 28"/>
          <p:cNvSpPr txBox="1"/>
          <p:nvPr/>
        </p:nvSpPr>
        <p:spPr>
          <a:xfrm>
            <a:off x="7132320" y="3941064"/>
            <a:ext cx="2286000" cy="320040"/>
          </a:xfrm>
          <a:prstGeom prst="rect">
            <a:avLst/>
          </a:prstGeom>
          <a:noFill/>
        </p:spPr>
        <p:txBody>
          <a:bodyPr wrap="square" anchor="t">
            <a:spAutoFit/>
          </a:bodyPr>
          <a:lstStyle/>
          <a:p>
            <a:pPr algn="l"/>
            <a:r>
              <a:rPr sz="1200" b="0" i="0">
                <a:solidFill>
                  <a:srgbClr val="8E8E93"/>
                </a:solidFill>
                <a:latin typeface="Segoe UI"/>
              </a:rPr>
              <a:t>Colonial Room</a:t>
            </a:r>
          </a:p>
        </p:txBody>
      </p:sp>
      <p:sp>
        <p:nvSpPr>
          <p:cNvPr id="30" name="TextBox 29"/>
          <p:cNvSpPr txBox="1"/>
          <p:nvPr/>
        </p:nvSpPr>
        <p:spPr>
          <a:xfrm>
            <a:off x="9601200" y="3941064"/>
            <a:ext cx="1645920" cy="320040"/>
          </a:xfrm>
          <a:prstGeom prst="rect">
            <a:avLst/>
          </a:prstGeom>
          <a:noFill/>
        </p:spPr>
        <p:txBody>
          <a:bodyPr wrap="square" anchor="t">
            <a:spAutoFit/>
          </a:bodyPr>
          <a:lstStyle/>
          <a:p>
            <a:pPr algn="r"/>
            <a:r>
              <a:rPr sz="1300" b="1" i="0">
                <a:solidFill>
                  <a:srgbClr val="8C6D3C"/>
                </a:solidFill>
                <a:latin typeface="Segoe UI"/>
              </a:rPr>
              <a:t>Night 5-6</a:t>
            </a:r>
          </a:p>
        </p:txBody>
      </p:sp>
      <p:sp>
        <p:nvSpPr>
          <p:cNvPr id="31" name="Rounded Rectangle 30"/>
          <p:cNvSpPr/>
          <p:nvPr/>
        </p:nvSpPr>
        <p:spPr>
          <a:xfrm>
            <a:off x="731520" y="4517136"/>
            <a:ext cx="10561320" cy="685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09828" y="4809744"/>
            <a:ext cx="100584" cy="100584"/>
          </a:xfrm>
          <a:prstGeom prst="ellipse">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43000" y="4681728"/>
            <a:ext cx="3657600" cy="365760"/>
          </a:xfrm>
          <a:prstGeom prst="rect">
            <a:avLst/>
          </a:prstGeom>
          <a:noFill/>
        </p:spPr>
        <p:txBody>
          <a:bodyPr wrap="square" anchor="t">
            <a:spAutoFit/>
          </a:bodyPr>
          <a:lstStyle/>
          <a:p>
            <a:pPr algn="l"/>
            <a:r>
              <a:rPr sz="1400" b="1" i="0">
                <a:solidFill>
                  <a:srgbClr val="1C1C1E"/>
                </a:solidFill>
                <a:latin typeface="Segoe UI"/>
              </a:rPr>
              <a:t>Amangalla</a:t>
            </a:r>
          </a:p>
        </p:txBody>
      </p:sp>
      <p:sp>
        <p:nvSpPr>
          <p:cNvPr id="34" name="TextBox 33"/>
          <p:cNvSpPr txBox="1"/>
          <p:nvPr/>
        </p:nvSpPr>
        <p:spPr>
          <a:xfrm>
            <a:off x="5029200" y="4700016"/>
            <a:ext cx="1828800" cy="320040"/>
          </a:xfrm>
          <a:prstGeom prst="rect">
            <a:avLst/>
          </a:prstGeom>
          <a:noFill/>
        </p:spPr>
        <p:txBody>
          <a:bodyPr wrap="square" anchor="t">
            <a:spAutoFit/>
          </a:bodyPr>
          <a:lstStyle/>
          <a:p>
            <a:pPr algn="l"/>
            <a:r>
              <a:rPr sz="1300" b="0" i="0">
                <a:solidFill>
                  <a:srgbClr val="48484A"/>
                </a:solidFill>
                <a:latin typeface="Segoe UI"/>
              </a:rPr>
              <a:t>Galle Fort</a:t>
            </a:r>
          </a:p>
        </p:txBody>
      </p:sp>
      <p:sp>
        <p:nvSpPr>
          <p:cNvPr id="35" name="TextBox 34"/>
          <p:cNvSpPr txBox="1"/>
          <p:nvPr/>
        </p:nvSpPr>
        <p:spPr>
          <a:xfrm>
            <a:off x="7132320" y="4700016"/>
            <a:ext cx="2286000" cy="320040"/>
          </a:xfrm>
          <a:prstGeom prst="rect">
            <a:avLst/>
          </a:prstGeom>
          <a:noFill/>
        </p:spPr>
        <p:txBody>
          <a:bodyPr wrap="square" anchor="t">
            <a:spAutoFit/>
          </a:bodyPr>
          <a:lstStyle/>
          <a:p>
            <a:pPr algn="l"/>
            <a:r>
              <a:rPr sz="1200" b="0" i="0">
                <a:solidFill>
                  <a:srgbClr val="8E8E93"/>
                </a:solidFill>
                <a:latin typeface="Segoe UI"/>
              </a:rPr>
              <a:t>Heritage Suite</a:t>
            </a:r>
          </a:p>
        </p:txBody>
      </p:sp>
      <p:sp>
        <p:nvSpPr>
          <p:cNvPr id="36" name="TextBox 35"/>
          <p:cNvSpPr txBox="1"/>
          <p:nvPr/>
        </p:nvSpPr>
        <p:spPr>
          <a:xfrm>
            <a:off x="9601200" y="4700016"/>
            <a:ext cx="1645920" cy="320040"/>
          </a:xfrm>
          <a:prstGeom prst="rect">
            <a:avLst/>
          </a:prstGeom>
          <a:noFill/>
        </p:spPr>
        <p:txBody>
          <a:bodyPr wrap="square" anchor="t">
            <a:spAutoFit/>
          </a:bodyPr>
          <a:lstStyle/>
          <a:p>
            <a:pPr algn="r"/>
            <a:r>
              <a:rPr sz="1300" b="1" i="0">
                <a:solidFill>
                  <a:srgbClr val="8C6D3C"/>
                </a:solidFill>
                <a:latin typeface="Segoe UI"/>
              </a:rPr>
              <a:t>Night 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114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4864" cy="685800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57200"/>
            <a:ext cx="3657600" cy="274320"/>
          </a:xfrm>
          <a:prstGeom prst="rect">
            <a:avLst/>
          </a:prstGeom>
          <a:noFill/>
        </p:spPr>
        <p:txBody>
          <a:bodyPr wrap="square" anchor="t">
            <a:spAutoFit/>
          </a:bodyPr>
          <a:lstStyle/>
          <a:p>
            <a:pPr algn="l"/>
            <a:r>
              <a:rPr sz="1000" b="1" i="0">
                <a:solidFill>
                  <a:srgbClr val="8E8E93"/>
                </a:solidFill>
                <a:latin typeface="Segoe UI"/>
              </a:rPr>
              <a:t>PACKAGE DETAILS</a:t>
            </a:r>
          </a:p>
        </p:txBody>
      </p:sp>
      <p:sp>
        <p:nvSpPr>
          <p:cNvPr id="6" name="Rectangle 5"/>
          <p:cNvSpPr/>
          <p:nvPr/>
        </p:nvSpPr>
        <p:spPr>
          <a:xfrm>
            <a:off x="822960" y="758952"/>
            <a:ext cx="13716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914400"/>
            <a:ext cx="6400800" cy="548640"/>
          </a:xfrm>
          <a:prstGeom prst="rect">
            <a:avLst/>
          </a:prstGeom>
          <a:noFill/>
        </p:spPr>
        <p:txBody>
          <a:bodyPr wrap="square" anchor="t">
            <a:spAutoFit/>
          </a:bodyPr>
          <a:lstStyle/>
          <a:p>
            <a:pPr algn="l"/>
            <a:r>
              <a:rPr sz="3600" b="1" i="0">
                <a:solidFill>
                  <a:srgbClr val="1C1C1E"/>
                </a:solidFill>
                <a:latin typeface="Georgia"/>
              </a:rPr>
              <a:t>What's Included</a:t>
            </a:r>
          </a:p>
        </p:txBody>
      </p:sp>
      <p:sp>
        <p:nvSpPr>
          <p:cNvPr id="8" name="Rounded Rectangle 7"/>
          <p:cNvSpPr/>
          <p:nvPr/>
        </p:nvSpPr>
        <p:spPr>
          <a:xfrm>
            <a:off x="731520" y="1691640"/>
            <a:ext cx="5166360" cy="4526280"/>
          </a:xfrm>
          <a:prstGeom prst="roundRect">
            <a:avLst/>
          </a:prstGeom>
          <a:solidFill>
            <a:srgbClr val="F5F3F0"/>
          </a:solidFill>
          <a:ln w="9525">
            <a:solidFill>
              <a:srgbClr val="E1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696212"/>
            <a:ext cx="5166360" cy="32004"/>
          </a:xfrm>
          <a:prstGeom prst="rect">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920240"/>
            <a:ext cx="3657600" cy="274320"/>
          </a:xfrm>
          <a:prstGeom prst="rect">
            <a:avLst/>
          </a:prstGeom>
          <a:noFill/>
        </p:spPr>
        <p:txBody>
          <a:bodyPr wrap="square" anchor="t">
            <a:spAutoFit/>
          </a:bodyPr>
          <a:lstStyle/>
          <a:p>
            <a:pPr algn="l"/>
            <a:r>
              <a:rPr sz="1000" b="1" i="0">
                <a:solidFill>
                  <a:srgbClr val="348C62"/>
                </a:solidFill>
                <a:latin typeface="Segoe UI"/>
              </a:rPr>
              <a:t>INCLUDED</a:t>
            </a:r>
          </a:p>
        </p:txBody>
      </p:sp>
      <p:sp>
        <p:nvSpPr>
          <p:cNvPr id="11" name="Rectangle 10"/>
          <p:cNvSpPr/>
          <p:nvPr/>
        </p:nvSpPr>
        <p:spPr>
          <a:xfrm>
            <a:off x="1051560" y="2221992"/>
            <a:ext cx="137160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1852" y="2464308"/>
            <a:ext cx="82296" cy="82296"/>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2404872"/>
            <a:ext cx="4343400" cy="256032"/>
          </a:xfrm>
          <a:prstGeom prst="rect">
            <a:avLst/>
          </a:prstGeom>
          <a:noFill/>
        </p:spPr>
        <p:txBody>
          <a:bodyPr wrap="square" anchor="t">
            <a:spAutoFit/>
          </a:bodyPr>
          <a:lstStyle/>
          <a:p>
            <a:pPr algn="l"/>
            <a:r>
              <a:rPr sz="1200" b="0" i="0">
                <a:solidFill>
                  <a:srgbClr val="48484A"/>
                </a:solidFill>
                <a:latin typeface="Segoe UI"/>
              </a:rPr>
              <a:t>7 nights accommodation in 4 &amp; 5 star hotels</a:t>
            </a:r>
          </a:p>
        </p:txBody>
      </p:sp>
      <p:sp>
        <p:nvSpPr>
          <p:cNvPr id="14" name="Oval 13"/>
          <p:cNvSpPr/>
          <p:nvPr/>
        </p:nvSpPr>
        <p:spPr>
          <a:xfrm>
            <a:off x="1101852" y="2766060"/>
            <a:ext cx="82296" cy="82296"/>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2706624"/>
            <a:ext cx="4343400" cy="256032"/>
          </a:xfrm>
          <a:prstGeom prst="rect">
            <a:avLst/>
          </a:prstGeom>
          <a:noFill/>
        </p:spPr>
        <p:txBody>
          <a:bodyPr wrap="square" anchor="t">
            <a:spAutoFit/>
          </a:bodyPr>
          <a:lstStyle/>
          <a:p>
            <a:pPr algn="l"/>
            <a:r>
              <a:rPr sz="1200" b="0" i="0">
                <a:solidFill>
                  <a:srgbClr val="48484A"/>
                </a:solidFill>
                <a:latin typeface="Segoe UI"/>
              </a:rPr>
              <a:t>Daily breakfast at all hotels</a:t>
            </a:r>
          </a:p>
        </p:txBody>
      </p:sp>
      <p:sp>
        <p:nvSpPr>
          <p:cNvPr id="16" name="Oval 15"/>
          <p:cNvSpPr/>
          <p:nvPr/>
        </p:nvSpPr>
        <p:spPr>
          <a:xfrm>
            <a:off x="1101852" y="3067812"/>
            <a:ext cx="82296" cy="82296"/>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008376"/>
            <a:ext cx="4343400" cy="256032"/>
          </a:xfrm>
          <a:prstGeom prst="rect">
            <a:avLst/>
          </a:prstGeom>
          <a:noFill/>
        </p:spPr>
        <p:txBody>
          <a:bodyPr wrap="square" anchor="t">
            <a:spAutoFit/>
          </a:bodyPr>
          <a:lstStyle/>
          <a:p>
            <a:pPr algn="l"/>
            <a:r>
              <a:rPr sz="1200" b="0" i="0">
                <a:solidFill>
                  <a:srgbClr val="48484A"/>
                </a:solidFill>
                <a:latin typeface="Segoe UI"/>
              </a:rPr>
              <a:t>Welcome dinner on Day 1</a:t>
            </a:r>
          </a:p>
        </p:txBody>
      </p:sp>
      <p:sp>
        <p:nvSpPr>
          <p:cNvPr id="18" name="Oval 17"/>
          <p:cNvSpPr/>
          <p:nvPr/>
        </p:nvSpPr>
        <p:spPr>
          <a:xfrm>
            <a:off x="1101852" y="3369564"/>
            <a:ext cx="82296" cy="82296"/>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25880" y="3310128"/>
            <a:ext cx="4343400" cy="256032"/>
          </a:xfrm>
          <a:prstGeom prst="rect">
            <a:avLst/>
          </a:prstGeom>
          <a:noFill/>
        </p:spPr>
        <p:txBody>
          <a:bodyPr wrap="square" anchor="t">
            <a:spAutoFit/>
          </a:bodyPr>
          <a:lstStyle/>
          <a:p>
            <a:pPr algn="l"/>
            <a:r>
              <a:rPr sz="1200" b="0" i="0">
                <a:solidFill>
                  <a:srgbClr val="48484A"/>
                </a:solidFill>
                <a:latin typeface="Segoe UI"/>
              </a:rPr>
              <a:t>3 lunches at select restaurants</a:t>
            </a:r>
          </a:p>
        </p:txBody>
      </p:sp>
      <p:sp>
        <p:nvSpPr>
          <p:cNvPr id="20" name="Oval 19"/>
          <p:cNvSpPr/>
          <p:nvPr/>
        </p:nvSpPr>
        <p:spPr>
          <a:xfrm>
            <a:off x="1101852" y="3671316"/>
            <a:ext cx="82296" cy="82296"/>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3611880"/>
            <a:ext cx="4343400" cy="256032"/>
          </a:xfrm>
          <a:prstGeom prst="rect">
            <a:avLst/>
          </a:prstGeom>
          <a:noFill/>
        </p:spPr>
        <p:txBody>
          <a:bodyPr wrap="square" anchor="t">
            <a:spAutoFit/>
          </a:bodyPr>
          <a:lstStyle/>
          <a:p>
            <a:pPr algn="l"/>
            <a:r>
              <a:rPr sz="1200" b="0" i="0">
                <a:solidFill>
                  <a:srgbClr val="48484A"/>
                </a:solidFill>
                <a:latin typeface="Segoe UI"/>
              </a:rPr>
              <a:t>All entrance fees to monuments and sites</a:t>
            </a:r>
          </a:p>
        </p:txBody>
      </p:sp>
      <p:sp>
        <p:nvSpPr>
          <p:cNvPr id="22" name="Oval 21"/>
          <p:cNvSpPr/>
          <p:nvPr/>
        </p:nvSpPr>
        <p:spPr>
          <a:xfrm>
            <a:off x="1101852" y="3973068"/>
            <a:ext cx="82296" cy="82296"/>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3913632"/>
            <a:ext cx="4343400" cy="256032"/>
          </a:xfrm>
          <a:prstGeom prst="rect">
            <a:avLst/>
          </a:prstGeom>
          <a:noFill/>
        </p:spPr>
        <p:txBody>
          <a:bodyPr wrap="square" anchor="t">
            <a:spAutoFit/>
          </a:bodyPr>
          <a:lstStyle/>
          <a:p>
            <a:pPr algn="l"/>
            <a:r>
              <a:rPr sz="1200" b="0" i="0">
                <a:solidFill>
                  <a:srgbClr val="48484A"/>
                </a:solidFill>
                <a:latin typeface="Segoe UI"/>
              </a:rPr>
              <a:t>English-speaking professional guide throughout</a:t>
            </a:r>
          </a:p>
        </p:txBody>
      </p:sp>
      <p:sp>
        <p:nvSpPr>
          <p:cNvPr id="24" name="Oval 23"/>
          <p:cNvSpPr/>
          <p:nvPr/>
        </p:nvSpPr>
        <p:spPr>
          <a:xfrm>
            <a:off x="1101852" y="4274820"/>
            <a:ext cx="82296" cy="82296"/>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4215384"/>
            <a:ext cx="4343400" cy="256032"/>
          </a:xfrm>
          <a:prstGeom prst="rect">
            <a:avLst/>
          </a:prstGeom>
          <a:noFill/>
        </p:spPr>
        <p:txBody>
          <a:bodyPr wrap="square" anchor="t">
            <a:spAutoFit/>
          </a:bodyPr>
          <a:lstStyle/>
          <a:p>
            <a:pPr algn="l"/>
            <a:r>
              <a:rPr sz="1200" b="0" i="0">
                <a:solidFill>
                  <a:srgbClr val="48484A"/>
                </a:solidFill>
                <a:latin typeface="Segoe UI"/>
              </a:rPr>
              <a:t>Private air-conditioned vehicle for all transfers</a:t>
            </a:r>
          </a:p>
        </p:txBody>
      </p:sp>
      <p:sp>
        <p:nvSpPr>
          <p:cNvPr id="26" name="Oval 25"/>
          <p:cNvSpPr/>
          <p:nvPr/>
        </p:nvSpPr>
        <p:spPr>
          <a:xfrm>
            <a:off x="1101852" y="4576572"/>
            <a:ext cx="82296" cy="82296"/>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25880" y="4517136"/>
            <a:ext cx="4343400" cy="256032"/>
          </a:xfrm>
          <a:prstGeom prst="rect">
            <a:avLst/>
          </a:prstGeom>
          <a:noFill/>
        </p:spPr>
        <p:txBody>
          <a:bodyPr wrap="square" anchor="t">
            <a:spAutoFit/>
          </a:bodyPr>
          <a:lstStyle/>
          <a:p>
            <a:pPr algn="l"/>
            <a:r>
              <a:rPr sz="1200" b="0" i="0">
                <a:solidFill>
                  <a:srgbClr val="48484A"/>
                </a:solidFill>
                <a:latin typeface="Segoe UI"/>
              </a:rPr>
              <a:t>Airport meet and greet service</a:t>
            </a:r>
          </a:p>
        </p:txBody>
      </p:sp>
      <p:sp>
        <p:nvSpPr>
          <p:cNvPr id="28" name="Oval 27"/>
          <p:cNvSpPr/>
          <p:nvPr/>
        </p:nvSpPr>
        <p:spPr>
          <a:xfrm>
            <a:off x="1101852" y="4878324"/>
            <a:ext cx="82296" cy="82296"/>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4818888"/>
            <a:ext cx="4343400" cy="256032"/>
          </a:xfrm>
          <a:prstGeom prst="rect">
            <a:avLst/>
          </a:prstGeom>
          <a:noFill/>
        </p:spPr>
        <p:txBody>
          <a:bodyPr wrap="square" anchor="t">
            <a:spAutoFit/>
          </a:bodyPr>
          <a:lstStyle/>
          <a:p>
            <a:pPr algn="l"/>
            <a:r>
              <a:rPr sz="1200" b="0" i="0">
                <a:solidFill>
                  <a:srgbClr val="48484A"/>
                </a:solidFill>
                <a:latin typeface="Segoe UI"/>
              </a:rPr>
              <a:t>Train tickets for Kandy to Nuwara Eliya scenic route</a:t>
            </a:r>
          </a:p>
        </p:txBody>
      </p:sp>
      <p:sp>
        <p:nvSpPr>
          <p:cNvPr id="30" name="Oval 29"/>
          <p:cNvSpPr/>
          <p:nvPr/>
        </p:nvSpPr>
        <p:spPr>
          <a:xfrm>
            <a:off x="1101852" y="5180076"/>
            <a:ext cx="82296" cy="82296"/>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5120640"/>
            <a:ext cx="4343400" cy="256032"/>
          </a:xfrm>
          <a:prstGeom prst="rect">
            <a:avLst/>
          </a:prstGeom>
          <a:noFill/>
        </p:spPr>
        <p:txBody>
          <a:bodyPr wrap="square" anchor="t">
            <a:spAutoFit/>
          </a:bodyPr>
          <a:lstStyle/>
          <a:p>
            <a:pPr algn="l"/>
            <a:r>
              <a:rPr sz="1200" b="0" i="0">
                <a:solidFill>
                  <a:srgbClr val="48484A"/>
                </a:solidFill>
                <a:latin typeface="Segoe UI"/>
              </a:rPr>
              <a:t>All activities mentioned in itinerary</a:t>
            </a:r>
          </a:p>
        </p:txBody>
      </p:sp>
      <p:sp>
        <p:nvSpPr>
          <p:cNvPr id="32" name="Oval 31"/>
          <p:cNvSpPr/>
          <p:nvPr/>
        </p:nvSpPr>
        <p:spPr>
          <a:xfrm>
            <a:off x="1101852" y="5481828"/>
            <a:ext cx="82296" cy="82296"/>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25880" y="5422392"/>
            <a:ext cx="4343400" cy="256032"/>
          </a:xfrm>
          <a:prstGeom prst="rect">
            <a:avLst/>
          </a:prstGeom>
          <a:noFill/>
        </p:spPr>
        <p:txBody>
          <a:bodyPr wrap="square" anchor="t">
            <a:spAutoFit/>
          </a:bodyPr>
          <a:lstStyle/>
          <a:p>
            <a:pPr algn="l"/>
            <a:r>
              <a:rPr sz="1200" b="0" i="0">
                <a:solidFill>
                  <a:srgbClr val="48484A"/>
                </a:solidFill>
                <a:latin typeface="Segoe UI"/>
              </a:rPr>
              <a:t>High tea at Grand Hotel Nuwara Eliya</a:t>
            </a:r>
          </a:p>
        </p:txBody>
      </p:sp>
      <p:sp>
        <p:nvSpPr>
          <p:cNvPr id="34" name="Oval 33"/>
          <p:cNvSpPr/>
          <p:nvPr/>
        </p:nvSpPr>
        <p:spPr>
          <a:xfrm>
            <a:off x="1101852" y="5783580"/>
            <a:ext cx="82296" cy="82296"/>
          </a:xfrm>
          <a:prstGeom prst="ellipse">
            <a:avLst/>
          </a:prstGeom>
          <a:solidFill>
            <a:srgbClr val="348C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25880" y="5724144"/>
            <a:ext cx="4343400" cy="256032"/>
          </a:xfrm>
          <a:prstGeom prst="rect">
            <a:avLst/>
          </a:prstGeom>
          <a:noFill/>
        </p:spPr>
        <p:txBody>
          <a:bodyPr wrap="square" anchor="t">
            <a:spAutoFit/>
          </a:bodyPr>
          <a:lstStyle/>
          <a:p>
            <a:pPr algn="l"/>
            <a:r>
              <a:rPr sz="1200" b="0" i="0">
                <a:solidFill>
                  <a:srgbClr val="48484A"/>
                </a:solidFill>
                <a:latin typeface="Segoe UI"/>
              </a:rPr>
              <a:t>Bottled water during transfers</a:t>
            </a:r>
          </a:p>
        </p:txBody>
      </p:sp>
      <p:sp>
        <p:nvSpPr>
          <p:cNvPr id="36" name="Rounded Rectangle 35"/>
          <p:cNvSpPr/>
          <p:nvPr/>
        </p:nvSpPr>
        <p:spPr>
          <a:xfrm>
            <a:off x="6126480" y="1691640"/>
            <a:ext cx="5257800" cy="4526280"/>
          </a:xfrm>
          <a:prstGeom prst="roundRect">
            <a:avLst/>
          </a:prstGeom>
          <a:solidFill>
            <a:srgbClr val="F5F3F0"/>
          </a:solidFill>
          <a:ln w="9525">
            <a:solidFill>
              <a:srgbClr val="E1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0" y="1696212"/>
            <a:ext cx="5257800" cy="32004"/>
          </a:xfrm>
          <a:prstGeom prst="rect">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1920240"/>
            <a:ext cx="3657600" cy="274320"/>
          </a:xfrm>
          <a:prstGeom prst="rect">
            <a:avLst/>
          </a:prstGeom>
          <a:noFill/>
        </p:spPr>
        <p:txBody>
          <a:bodyPr wrap="square" anchor="t">
            <a:spAutoFit/>
          </a:bodyPr>
          <a:lstStyle/>
          <a:p>
            <a:pPr algn="l"/>
            <a:r>
              <a:rPr sz="1000" b="1" i="0">
                <a:solidFill>
                  <a:srgbClr val="C44545"/>
                </a:solidFill>
                <a:latin typeface="Segoe UI"/>
              </a:rPr>
              <a:t>NOT INCLUDED</a:t>
            </a:r>
          </a:p>
        </p:txBody>
      </p:sp>
      <p:sp>
        <p:nvSpPr>
          <p:cNvPr id="39" name="Rectangle 38"/>
          <p:cNvSpPr/>
          <p:nvPr/>
        </p:nvSpPr>
        <p:spPr>
          <a:xfrm>
            <a:off x="6446520" y="2221992"/>
            <a:ext cx="1371600" cy="18288"/>
          </a:xfrm>
          <a:prstGeom prst="rect">
            <a:avLst/>
          </a:prstGeom>
          <a:solidFill>
            <a:srgbClr val="E1DD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313932" y="2464308"/>
            <a:ext cx="82296" cy="82296"/>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37960" y="2404872"/>
            <a:ext cx="4617720" cy="256032"/>
          </a:xfrm>
          <a:prstGeom prst="rect">
            <a:avLst/>
          </a:prstGeom>
          <a:noFill/>
        </p:spPr>
        <p:txBody>
          <a:bodyPr wrap="square" anchor="t">
            <a:spAutoFit/>
          </a:bodyPr>
          <a:lstStyle/>
          <a:p>
            <a:pPr algn="l"/>
            <a:r>
              <a:rPr sz="1200" b="0" i="0">
                <a:solidFill>
                  <a:srgbClr val="48484A"/>
                </a:solidFill>
                <a:latin typeface="Segoe UI"/>
              </a:rPr>
              <a:t>International and domestic airfare</a:t>
            </a:r>
          </a:p>
        </p:txBody>
      </p:sp>
      <p:sp>
        <p:nvSpPr>
          <p:cNvPr id="42" name="Oval 41"/>
          <p:cNvSpPr/>
          <p:nvPr/>
        </p:nvSpPr>
        <p:spPr>
          <a:xfrm>
            <a:off x="6313932" y="2766060"/>
            <a:ext cx="82296" cy="82296"/>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37960" y="2706624"/>
            <a:ext cx="4617720" cy="256032"/>
          </a:xfrm>
          <a:prstGeom prst="rect">
            <a:avLst/>
          </a:prstGeom>
          <a:noFill/>
        </p:spPr>
        <p:txBody>
          <a:bodyPr wrap="square" anchor="t">
            <a:spAutoFit/>
          </a:bodyPr>
          <a:lstStyle/>
          <a:p>
            <a:pPr algn="l"/>
            <a:r>
              <a:rPr sz="1200" b="0" i="0">
                <a:solidFill>
                  <a:srgbClr val="48484A"/>
                </a:solidFill>
                <a:latin typeface="Segoe UI"/>
              </a:rPr>
              <a:t>Sri Lankan visa fees (ETA)</a:t>
            </a:r>
          </a:p>
        </p:txBody>
      </p:sp>
      <p:sp>
        <p:nvSpPr>
          <p:cNvPr id="44" name="Oval 43"/>
          <p:cNvSpPr/>
          <p:nvPr/>
        </p:nvSpPr>
        <p:spPr>
          <a:xfrm>
            <a:off x="6313932" y="3067812"/>
            <a:ext cx="82296" cy="82296"/>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37960" y="3008376"/>
            <a:ext cx="4617720" cy="256032"/>
          </a:xfrm>
          <a:prstGeom prst="rect">
            <a:avLst/>
          </a:prstGeom>
          <a:noFill/>
        </p:spPr>
        <p:txBody>
          <a:bodyPr wrap="square" anchor="t">
            <a:spAutoFit/>
          </a:bodyPr>
          <a:lstStyle/>
          <a:p>
            <a:pPr algn="l"/>
            <a:r>
              <a:rPr sz="1200" b="0" i="0">
                <a:solidFill>
                  <a:srgbClr val="48484A"/>
                </a:solidFill>
                <a:latin typeface="Segoe UI"/>
              </a:rPr>
              <a:t>Travel insurance</a:t>
            </a:r>
          </a:p>
        </p:txBody>
      </p:sp>
      <p:sp>
        <p:nvSpPr>
          <p:cNvPr id="46" name="Oval 45"/>
          <p:cNvSpPr/>
          <p:nvPr/>
        </p:nvSpPr>
        <p:spPr>
          <a:xfrm>
            <a:off x="6313932" y="3369564"/>
            <a:ext cx="82296" cy="82296"/>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37960" y="3310128"/>
            <a:ext cx="4617720" cy="256032"/>
          </a:xfrm>
          <a:prstGeom prst="rect">
            <a:avLst/>
          </a:prstGeom>
          <a:noFill/>
        </p:spPr>
        <p:txBody>
          <a:bodyPr wrap="square" anchor="t">
            <a:spAutoFit/>
          </a:bodyPr>
          <a:lstStyle/>
          <a:p>
            <a:pPr algn="l"/>
            <a:r>
              <a:rPr sz="1200" b="0" i="0">
                <a:solidFill>
                  <a:srgbClr val="48484A"/>
                </a:solidFill>
                <a:latin typeface="Segoe UI"/>
              </a:rPr>
              <a:t>Lunches and dinners not mentioned in itinerary</a:t>
            </a:r>
          </a:p>
        </p:txBody>
      </p:sp>
      <p:sp>
        <p:nvSpPr>
          <p:cNvPr id="48" name="Oval 47"/>
          <p:cNvSpPr/>
          <p:nvPr/>
        </p:nvSpPr>
        <p:spPr>
          <a:xfrm>
            <a:off x="6313932" y="3671316"/>
            <a:ext cx="82296" cy="82296"/>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37960" y="3611880"/>
            <a:ext cx="4617720" cy="256032"/>
          </a:xfrm>
          <a:prstGeom prst="rect">
            <a:avLst/>
          </a:prstGeom>
          <a:noFill/>
        </p:spPr>
        <p:txBody>
          <a:bodyPr wrap="square" anchor="t">
            <a:spAutoFit/>
          </a:bodyPr>
          <a:lstStyle/>
          <a:p>
            <a:pPr algn="l"/>
            <a:r>
              <a:rPr sz="1200" b="0" i="0">
                <a:solidFill>
                  <a:srgbClr val="48484A"/>
                </a:solidFill>
                <a:latin typeface="Segoe UI"/>
              </a:rPr>
              <a:t>Optional activities and spa treatments</a:t>
            </a:r>
          </a:p>
        </p:txBody>
      </p:sp>
      <p:sp>
        <p:nvSpPr>
          <p:cNvPr id="50" name="Oval 49"/>
          <p:cNvSpPr/>
          <p:nvPr/>
        </p:nvSpPr>
        <p:spPr>
          <a:xfrm>
            <a:off x="6313932" y="3973068"/>
            <a:ext cx="82296" cy="82296"/>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37960" y="3913632"/>
            <a:ext cx="4617720" cy="256032"/>
          </a:xfrm>
          <a:prstGeom prst="rect">
            <a:avLst/>
          </a:prstGeom>
          <a:noFill/>
        </p:spPr>
        <p:txBody>
          <a:bodyPr wrap="square" anchor="t">
            <a:spAutoFit/>
          </a:bodyPr>
          <a:lstStyle/>
          <a:p>
            <a:pPr algn="l"/>
            <a:r>
              <a:rPr sz="1200" b="0" i="0">
                <a:solidFill>
                  <a:srgbClr val="48484A"/>
                </a:solidFill>
                <a:latin typeface="Segoe UI"/>
              </a:rPr>
              <a:t>Personal expenses and shopping</a:t>
            </a:r>
          </a:p>
        </p:txBody>
      </p:sp>
      <p:sp>
        <p:nvSpPr>
          <p:cNvPr id="52" name="Oval 51"/>
          <p:cNvSpPr/>
          <p:nvPr/>
        </p:nvSpPr>
        <p:spPr>
          <a:xfrm>
            <a:off x="6313932" y="4274820"/>
            <a:ext cx="82296" cy="82296"/>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37960" y="4215384"/>
            <a:ext cx="4617720" cy="256032"/>
          </a:xfrm>
          <a:prstGeom prst="rect">
            <a:avLst/>
          </a:prstGeom>
          <a:noFill/>
        </p:spPr>
        <p:txBody>
          <a:bodyPr wrap="square" anchor="t">
            <a:spAutoFit/>
          </a:bodyPr>
          <a:lstStyle/>
          <a:p>
            <a:pPr algn="l"/>
            <a:r>
              <a:rPr sz="1200" b="0" i="0">
                <a:solidFill>
                  <a:srgbClr val="48484A"/>
                </a:solidFill>
                <a:latin typeface="Segoe UI"/>
              </a:rPr>
              <a:t>Tips for guides and drivers</a:t>
            </a:r>
          </a:p>
        </p:txBody>
      </p:sp>
      <p:sp>
        <p:nvSpPr>
          <p:cNvPr id="54" name="Oval 53"/>
          <p:cNvSpPr/>
          <p:nvPr/>
        </p:nvSpPr>
        <p:spPr>
          <a:xfrm>
            <a:off x="6313932" y="4576572"/>
            <a:ext cx="82296" cy="82296"/>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37960" y="4517136"/>
            <a:ext cx="4617720" cy="256032"/>
          </a:xfrm>
          <a:prstGeom prst="rect">
            <a:avLst/>
          </a:prstGeom>
          <a:noFill/>
        </p:spPr>
        <p:txBody>
          <a:bodyPr wrap="square" anchor="t">
            <a:spAutoFit/>
          </a:bodyPr>
          <a:lstStyle/>
          <a:p>
            <a:pPr algn="l"/>
            <a:r>
              <a:rPr sz="1200" b="0" i="0">
                <a:solidFill>
                  <a:srgbClr val="48484A"/>
                </a:solidFill>
                <a:latin typeface="Segoe UI"/>
              </a:rPr>
              <a:t>Camera fees at certain sites</a:t>
            </a:r>
          </a:p>
        </p:txBody>
      </p:sp>
      <p:sp>
        <p:nvSpPr>
          <p:cNvPr id="56" name="Oval 55"/>
          <p:cNvSpPr/>
          <p:nvPr/>
        </p:nvSpPr>
        <p:spPr>
          <a:xfrm>
            <a:off x="6313932" y="4878324"/>
            <a:ext cx="82296" cy="82296"/>
          </a:xfrm>
          <a:prstGeom prst="ellipse">
            <a:avLst/>
          </a:prstGeom>
          <a:solidFill>
            <a:srgbClr val="C4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37960" y="4818888"/>
            <a:ext cx="4617720" cy="256032"/>
          </a:xfrm>
          <a:prstGeom prst="rect">
            <a:avLst/>
          </a:prstGeom>
          <a:noFill/>
        </p:spPr>
        <p:txBody>
          <a:bodyPr wrap="square" anchor="t">
            <a:spAutoFit/>
          </a:bodyPr>
          <a:lstStyle/>
          <a:p>
            <a:pPr algn="l"/>
            <a:r>
              <a:rPr sz="1200" b="0" i="0">
                <a:solidFill>
                  <a:srgbClr val="48484A"/>
                </a:solidFill>
                <a:latin typeface="Segoe UI"/>
              </a:rPr>
              <a:t>Any services not mentioned in inclusions</a:t>
            </a:r>
          </a:p>
        </p:txBody>
      </p:sp>
      <p:sp>
        <p:nvSpPr>
          <p:cNvPr id="58" name="Rounded Rectangle 57"/>
          <p:cNvSpPr/>
          <p:nvPr/>
        </p:nvSpPr>
        <p:spPr>
          <a:xfrm>
            <a:off x="3808476" y="6400800"/>
            <a:ext cx="4572000" cy="384048"/>
          </a:xfrm>
          <a:prstGeom prst="round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808476" y="6419088"/>
            <a:ext cx="4572000" cy="347472"/>
          </a:xfrm>
          <a:prstGeom prst="rect">
            <a:avLst/>
          </a:prstGeom>
          <a:noFill/>
        </p:spPr>
        <p:txBody>
          <a:bodyPr wrap="square" anchor="t">
            <a:spAutoFit/>
          </a:bodyPr>
          <a:lstStyle/>
          <a:p>
            <a:pPr algn="ctr"/>
            <a:r>
              <a:rPr sz="1300" b="1" i="0">
                <a:solidFill>
                  <a:srgbClr val="FFFFFF"/>
                </a:solidFill>
                <a:latin typeface="Segoe UI"/>
              </a:rPr>
              <a:t>Investment Per Person:  ₹48,500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21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858000"/>
          </a:xfrm>
          <a:prstGeom prst="rect">
            <a:avLst/>
          </a:prstGeom>
          <a:solidFill>
            <a:srgbClr val="000000">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45720"/>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94560"/>
            <a:ext cx="22860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468880"/>
            <a:ext cx="12188952" cy="822960"/>
          </a:xfrm>
          <a:prstGeom prst="rect">
            <a:avLst/>
          </a:prstGeom>
          <a:noFill/>
        </p:spPr>
        <p:txBody>
          <a:bodyPr wrap="square" anchor="t">
            <a:spAutoFit/>
          </a:bodyPr>
          <a:lstStyle/>
          <a:p>
            <a:pPr algn="ctr"/>
            <a:r>
              <a:rPr sz="5200" b="1" i="0">
                <a:solidFill>
                  <a:srgbClr val="FFFFFF"/>
                </a:solidFill>
                <a:latin typeface="Georgia"/>
              </a:rPr>
              <a:t>Thank You</a:t>
            </a:r>
          </a:p>
        </p:txBody>
      </p:sp>
      <p:sp>
        <p:nvSpPr>
          <p:cNvPr id="7" name="TextBox 6"/>
          <p:cNvSpPr txBox="1"/>
          <p:nvPr/>
        </p:nvSpPr>
        <p:spPr>
          <a:xfrm>
            <a:off x="0" y="3429000"/>
            <a:ext cx="12188952" cy="457200"/>
          </a:xfrm>
          <a:prstGeom prst="rect">
            <a:avLst/>
          </a:prstGeom>
          <a:noFill/>
        </p:spPr>
        <p:txBody>
          <a:bodyPr wrap="square" anchor="t">
            <a:spAutoFit/>
          </a:bodyPr>
          <a:lstStyle/>
          <a:p>
            <a:pPr algn="ctr"/>
            <a:r>
              <a:rPr sz="2000" b="0" i="1">
                <a:solidFill>
                  <a:srgbClr val="E8DAC0"/>
                </a:solidFill>
                <a:latin typeface="Segoe UI"/>
              </a:rPr>
              <a:t>8 Days Tour in Sri Lanka</a:t>
            </a:r>
          </a:p>
        </p:txBody>
      </p:sp>
      <p:sp>
        <p:nvSpPr>
          <p:cNvPr id="8" name="Rectangle 7"/>
          <p:cNvSpPr/>
          <p:nvPr/>
        </p:nvSpPr>
        <p:spPr>
          <a:xfrm>
            <a:off x="4937760" y="4114800"/>
            <a:ext cx="2286000" cy="18288"/>
          </a:xfrm>
          <a:prstGeom prst="rect">
            <a:avLst/>
          </a:prstGeom>
          <a:solidFill>
            <a:srgbClr val="B7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0" y="4389120"/>
            <a:ext cx="12188952" cy="457200"/>
          </a:xfrm>
          <a:prstGeom prst="rect">
            <a:avLst/>
          </a:prstGeom>
          <a:noFill/>
        </p:spPr>
        <p:txBody>
          <a:bodyPr wrap="square" anchor="t">
            <a:spAutoFit/>
          </a:bodyPr>
          <a:lstStyle/>
          <a:p>
            <a:pPr algn="ctr"/>
            <a:r>
              <a:rPr sz="1600" b="0" i="0">
                <a:solidFill>
                  <a:srgbClr val="C8C8C8"/>
                </a:solidFill>
                <a:latin typeface="Segoe UI"/>
              </a:rPr>
              <a:t>Your journey begins here.</a:t>
            </a:r>
          </a:p>
        </p:txBody>
      </p:sp>
      <p:sp>
        <p:nvSpPr>
          <p:cNvPr id="10" name="TextBox 9"/>
          <p:cNvSpPr txBox="1"/>
          <p:nvPr/>
        </p:nvSpPr>
        <p:spPr>
          <a:xfrm>
            <a:off x="0" y="5943600"/>
            <a:ext cx="12188952" cy="365760"/>
          </a:xfrm>
          <a:prstGeom prst="rect">
            <a:avLst/>
          </a:prstGeom>
          <a:noFill/>
        </p:spPr>
        <p:txBody>
          <a:bodyPr wrap="square" anchor="t">
            <a:spAutoFit/>
          </a:bodyPr>
          <a:lstStyle/>
          <a:p>
            <a:pPr algn="ctr"/>
            <a:r>
              <a:rPr sz="1200" b="1" i="0">
                <a:solidFill>
                  <a:srgbClr val="B7955D"/>
                </a:solidFill>
                <a:latin typeface="Segoe UI"/>
              </a:rPr>
              <a:t>VSL 360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
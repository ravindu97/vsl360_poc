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Rectangle 1"/>
          <p:cNvSpPr/>
          <p:nvPr/>
        </p:nvSpPr>
        <p:spPr>
          <a:xfrm>
            <a:off x="0" y="0"/>
            <a:ext cx="12188952" cy="6858000"/>
          </a:xfrm>
          <a:prstGeom prst="rect">
            <a:avLst/>
          </a:prstGeom>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2743200" cy="457200"/>
          </a:xfrm>
          <a:prstGeom prst="rect">
            <a:avLst/>
          </a:prstGeom>
          <a:noFill/>
        </p:spPr>
        <p:txBody>
          <a:bodyPr wrap="none">
            <a:spAutoFit/>
          </a:bodyPr>
          <a:lstStyle/>
          <a:p>
            <a:r>
              <a:rPr sz="2200" b="1" i="1">
                <a:solidFill>
                  <a:srgbClr val="FFFFFF"/>
                </a:solidFill>
                <a:latin typeface="Segoe UI"/>
              </a:rPr>
              <a:t>VSL 360</a:t>
            </a:r>
          </a:p>
        </p:txBody>
      </p:sp>
      <p:sp>
        <p:nvSpPr>
          <p:cNvPr id="4" name="TextBox 3"/>
          <p:cNvSpPr txBox="1"/>
          <p:nvPr/>
        </p:nvSpPr>
        <p:spPr>
          <a:xfrm>
            <a:off x="731520" y="2286000"/>
            <a:ext cx="8686800" cy="1828800"/>
          </a:xfrm>
          <a:prstGeom prst="rect">
            <a:avLst/>
          </a:prstGeom>
          <a:noFill/>
        </p:spPr>
        <p:txBody>
          <a:bodyPr wrap="square">
            <a:spAutoFit/>
          </a:bodyPr>
          <a:lstStyle/>
          <a:p>
            <a:pPr algn="l"/>
            <a:r>
              <a:rPr sz="6200" b="1">
                <a:solidFill>
                  <a:srgbClr val="FFFFFF"/>
                </a:solidFill>
                <a:latin typeface="Segoe UI Light"/>
              </a:rPr>
              <a:t>8 Days Tour in Sri Lanka</a:t>
            </a:r>
          </a:p>
        </p:txBody>
      </p:sp>
      <p:sp>
        <p:nvSpPr>
          <p:cNvPr id="5" name="Rounded Rectangle 4"/>
          <p:cNvSpPr/>
          <p:nvPr/>
        </p:nvSpPr>
        <p:spPr>
          <a:xfrm>
            <a:off x="9418320" y="2560320"/>
            <a:ext cx="2103120" cy="1005840"/>
          </a:xfrm>
          <a:prstGeom prst="roundRect">
            <a:avLst/>
          </a:prstGeom>
          <a:solidFill>
            <a:srgbClr val="06B6D4"/>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tIns="91440"/>
          <a:lstStyle/>
          <a:p>
            <a:pPr algn="ctr">
              <a:spcBef>
                <a:spcPts val="400"/>
              </a:spcBef>
            </a:pPr>
            <a:r>
              <a:rPr sz="1700" b="1">
                <a:solidFill>
                  <a:srgbClr val="FFFFFF"/>
                </a:solidFill>
                <a:latin typeface="Segoe UI"/>
              </a:rPr>
              <a:t>7 NIGHTS</a:t>
            </a:r>
          </a:p>
          <a:p>
            <a:pPr algn="ctr">
              <a:spcBef>
                <a:spcPts val="400"/>
              </a:spcBef>
            </a:pPr>
            <a:r>
              <a:rPr sz="1700" b="1">
                <a:solidFill>
                  <a:srgbClr val="FFFFFF"/>
                </a:solidFill>
                <a:latin typeface="Segoe UI"/>
              </a:rPr>
              <a:t>8 DAYS</a:t>
            </a:r>
          </a:p>
        </p:txBody>
      </p:sp>
      <p:sp>
        <p:nvSpPr>
          <p:cNvPr id="6" name="TextBox 5"/>
          <p:cNvSpPr txBox="1"/>
          <p:nvPr/>
        </p:nvSpPr>
        <p:spPr>
          <a:xfrm>
            <a:off x="731520" y="4206240"/>
            <a:ext cx="5486400" cy="457200"/>
          </a:xfrm>
          <a:prstGeom prst="rect">
            <a:avLst/>
          </a:prstGeom>
          <a:noFill/>
        </p:spPr>
        <p:txBody>
          <a:bodyPr wrap="none">
            <a:spAutoFit/>
          </a:bodyPr>
          <a:lstStyle/>
          <a:p>
            <a:r>
              <a:rPr sz="2200" i="1">
                <a:solidFill>
                  <a:srgbClr val="FFFFFF"/>
                </a:solidFill>
                <a:latin typeface="Segoe UI"/>
              </a:rPr>
              <a:t>Sri Lanka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548640"/>
          </a:xfrm>
          <a:prstGeom prst="rect">
            <a:avLst/>
          </a:prstGeom>
          <a:noFill/>
        </p:spPr>
        <p:txBody>
          <a:bodyPr wrap="none">
            <a:spAutoFit/>
          </a:bodyPr>
          <a:lstStyle/>
          <a:p>
            <a:r>
              <a:rPr sz="3600" b="1">
                <a:solidFill>
                  <a:srgbClr val="FFFFFF"/>
                </a:solidFill>
                <a:latin typeface="Segoe UI Light"/>
              </a:rPr>
              <a:t>Trip Overview</a:t>
            </a:r>
          </a:p>
        </p:txBody>
      </p:sp>
      <p:sp>
        <p:nvSpPr>
          <p:cNvPr id="4" name="Rounded Rectangle 3"/>
          <p:cNvSpPr/>
          <p:nvPr/>
        </p:nvSpPr>
        <p:spPr>
          <a:xfrm>
            <a:off x="640080" y="1463040"/>
            <a:ext cx="7132320" cy="46634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6400800" cy="3931920"/>
          </a:xfrm>
          <a:prstGeom prst="rect">
            <a:avLst/>
          </a:prstGeom>
          <a:noFill/>
        </p:spPr>
        <p:txBody>
          <a:bodyPr wrap="square">
            <a:spAutoFit/>
          </a:bodyPr>
          <a:lstStyle/>
          <a:p>
            <a:pPr>
              <a:lnSpc>
                <a:spcPct val="140000"/>
              </a:lnSpc>
            </a:pPr>
            <a:r>
              <a:rPr sz="1600">
                <a:solidFill>
                  <a:srgbClr val="2D3748"/>
                </a:solidFill>
                <a:latin typeface="Segoe UI"/>
              </a:rPr>
              <a:t>Embark on an unforgettable journey through Sri Lanka, the Pearl of the Indian Ocean. This carefully curated 8-day adventure takes you from the bustling streets of Colombo to the ancient cultural wonders of Kandy, through the misty tea plantations of Nuwara Eliya, and down to the pristine southern coast. Experience the perfect blend of cultural heritage, natural beauty, and authentic Sri Lankan hospitality.</a:t>
            </a:r>
          </a:p>
        </p:txBody>
      </p:sp>
      <p:sp>
        <p:nvSpPr>
          <p:cNvPr id="6" name="Rounded Rectangle 5"/>
          <p:cNvSpPr/>
          <p:nvPr/>
        </p:nvSpPr>
        <p:spPr>
          <a:xfrm>
            <a:off x="8046720" y="1463040"/>
            <a:ext cx="3474720" cy="46634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0" y="1828800"/>
            <a:ext cx="2926080" cy="3931920"/>
          </a:xfrm>
          <a:prstGeom prst="rect">
            <a:avLst/>
          </a:prstGeom>
          <a:noFill/>
        </p:spPr>
        <p:txBody>
          <a:bodyPr wrap="square">
            <a:spAutoFit/>
          </a:bodyPr>
          <a:lstStyle/>
          <a:p>
            <a:r>
              <a:rPr sz="2200" b="1">
                <a:solidFill>
                  <a:srgbClr val="FFFFFF"/>
                </a:solidFill>
                <a:latin typeface="Segoe UI"/>
              </a:rPr>
              <a:t>Location Summary</a:t>
            </a:r>
          </a:p>
          <a:p>
            <a:pPr>
              <a:spcBef>
                <a:spcPts val="800"/>
              </a:spcBef>
            </a:pPr>
            <a:r>
              <a:rPr sz="1400">
                <a:solidFill>
                  <a:srgbClr val="FFFFFF"/>
                </a:solidFill>
                <a:latin typeface="Segoe UI"/>
              </a:rPr>
              <a:t>• Colombo - 2 nights</a:t>
            </a:r>
          </a:p>
          <a:p>
            <a:pPr>
              <a:spcBef>
                <a:spcPts val="800"/>
              </a:spcBef>
            </a:pPr>
            <a:r>
              <a:rPr sz="1400">
                <a:solidFill>
                  <a:srgbClr val="FFFFFF"/>
                </a:solidFill>
                <a:latin typeface="Segoe UI"/>
              </a:rPr>
              <a:t>• Kandy - 2 nights</a:t>
            </a:r>
          </a:p>
          <a:p>
            <a:pPr>
              <a:spcBef>
                <a:spcPts val="800"/>
              </a:spcBef>
            </a:pPr>
            <a:r>
              <a:rPr sz="1400">
                <a:solidFill>
                  <a:srgbClr val="FFFFFF"/>
                </a:solidFill>
                <a:latin typeface="Segoe UI"/>
              </a:rPr>
              <a:t>• Nuwara Eliya - 2 nights</a:t>
            </a:r>
          </a:p>
          <a:p>
            <a:pPr>
              <a:spcBef>
                <a:spcPts val="800"/>
              </a:spcBef>
            </a:pPr>
            <a:r>
              <a:rPr sz="1400">
                <a:solidFill>
                  <a:srgbClr val="FFFFFF"/>
                </a:solidFill>
                <a:latin typeface="Segoe UI"/>
              </a:rPr>
              <a:t>• Galle - 1 night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40080" y="548640"/>
            <a:ext cx="1188720" cy="7315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r>
              <a:rPr b="1" sz="1600">
                <a:solidFill>
                  <a:srgbClr val="FFFFFF"/>
                </a:solidFill>
                <a:latin typeface="Segoe UI"/>
              </a:rPr>
              <a:t>DAY 1</a:t>
            </a:r>
          </a:p>
        </p:txBody>
      </p:sp>
      <p:sp>
        <p:nvSpPr>
          <p:cNvPr id="3" name="TextBox 2"/>
          <p:cNvSpPr txBox="1"/>
          <p:nvPr/>
        </p:nvSpPr>
        <p:spPr>
          <a:xfrm>
            <a:off x="2011680" y="502920"/>
            <a:ext cx="7315200" cy="548640"/>
          </a:xfrm>
          <a:prstGeom prst="rect">
            <a:avLst/>
          </a:prstGeom>
          <a:noFill/>
        </p:spPr>
        <p:txBody>
          <a:bodyPr wrap="none">
            <a:spAutoFit/>
          </a:bodyPr>
          <a:lstStyle/>
          <a:p>
            <a:r>
              <a:rPr sz="3200" b="1">
                <a:solidFill>
                  <a:srgbClr val="1A365D"/>
                </a:solidFill>
                <a:latin typeface="Segoe UI Light"/>
              </a:rPr>
              <a:t>Welcome to Sri Lanka</a:t>
            </a:r>
          </a:p>
        </p:txBody>
      </p:sp>
      <p:sp>
        <p:nvSpPr>
          <p:cNvPr id="4" name="TextBox 3"/>
          <p:cNvSpPr txBox="1"/>
          <p:nvPr/>
        </p:nvSpPr>
        <p:spPr>
          <a:xfrm>
            <a:off x="2011680" y="1051560"/>
            <a:ext cx="2743200" cy="365760"/>
          </a:xfrm>
          <a:prstGeom prst="rect">
            <a:avLst/>
          </a:prstGeom>
          <a:noFill/>
        </p:spPr>
        <p:txBody>
          <a:bodyPr wrap="none">
            <a:spAutoFit/>
          </a:bodyPr>
          <a:lstStyle/>
          <a:p>
            <a:r>
              <a:rPr sz="1500">
                <a:solidFill>
                  <a:srgbClr val="718096"/>
                </a:solidFill>
                <a:latin typeface="Segoe UI"/>
              </a:rPr>
              <a:t>Colombo</a:t>
            </a:r>
          </a:p>
        </p:txBody>
      </p:sp>
      <p:sp>
        <p:nvSpPr>
          <p:cNvPr id="5" name="Rounded Rectangle 4"/>
          <p:cNvSpPr/>
          <p:nvPr/>
        </p:nvSpPr>
        <p:spPr>
          <a:xfrm>
            <a:off x="640080" y="1645920"/>
            <a:ext cx="6675120" cy="39319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5943600" cy="3383280"/>
          </a:xfrm>
          <a:prstGeom prst="rect">
            <a:avLst/>
          </a:prstGeom>
          <a:noFill/>
        </p:spPr>
        <p:txBody>
          <a:bodyPr wrap="square">
            <a:spAutoFit/>
          </a:bodyPr>
          <a:lstStyle/>
          <a:p>
            <a:pPr>
              <a:lnSpc>
                <a:spcPct val="130000"/>
              </a:lnSpc>
            </a:pPr>
            <a:r>
              <a:rPr sz="1400">
                <a:solidFill>
                  <a:srgbClr val="2D3748"/>
                </a:solidFill>
                <a:latin typeface="Segoe UI"/>
              </a:rPr>
              <a:t>• Arrive at Bandaranaike International Airport</a:t>
            </a:r>
          </a:p>
          <a:p>
            <a:pPr>
              <a:lnSpc>
                <a:spcPct val="130000"/>
              </a:lnSpc>
              <a:spcBef>
                <a:spcPts val="1000"/>
              </a:spcBef>
            </a:pPr>
            <a:r>
              <a:rPr sz="1400">
                <a:solidFill>
                  <a:srgbClr val="2D3748"/>
                </a:solidFill>
                <a:latin typeface="Segoe UI"/>
              </a:rPr>
              <a:t>• Meet and greet by VSL 360 representative</a:t>
            </a:r>
          </a:p>
          <a:p>
            <a:pPr>
              <a:lnSpc>
                <a:spcPct val="130000"/>
              </a:lnSpc>
              <a:spcBef>
                <a:spcPts val="1000"/>
              </a:spcBef>
            </a:pPr>
            <a:r>
              <a:rPr sz="1400">
                <a:solidFill>
                  <a:srgbClr val="2D3748"/>
                </a:solidFill>
                <a:latin typeface="Segoe UI"/>
              </a:rPr>
              <a:t>• Transfer to hotel in Colombo (30 mins)</a:t>
            </a:r>
          </a:p>
          <a:p>
            <a:pPr>
              <a:lnSpc>
                <a:spcPct val="130000"/>
              </a:lnSpc>
              <a:spcBef>
                <a:spcPts val="1000"/>
              </a:spcBef>
            </a:pPr>
            <a:r>
              <a:rPr sz="1400">
                <a:solidFill>
                  <a:srgbClr val="2D3748"/>
                </a:solidFill>
                <a:latin typeface="Segoe UI"/>
              </a:rPr>
              <a:t>• Check-in and freshen up</a:t>
            </a:r>
          </a:p>
          <a:p>
            <a:pPr>
              <a:lnSpc>
                <a:spcPct val="130000"/>
              </a:lnSpc>
              <a:spcBef>
                <a:spcPts val="1000"/>
              </a:spcBef>
            </a:pPr>
            <a:r>
              <a:rPr sz="1400">
                <a:solidFill>
                  <a:srgbClr val="2D3748"/>
                </a:solidFill>
                <a:latin typeface="Segoe UI"/>
              </a:rPr>
              <a:t>• Welcome dinner featuring traditional Sri Lankan cuisine</a:t>
            </a:r>
          </a:p>
        </p:txBody>
      </p:sp>
      <p:sp>
        <p:nvSpPr>
          <p:cNvPr id="7" name="Rounded Rectangle 6"/>
          <p:cNvSpPr/>
          <p:nvPr/>
        </p:nvSpPr>
        <p:spPr>
          <a:xfrm>
            <a:off x="7589520" y="1645920"/>
            <a:ext cx="3931920" cy="3200400"/>
          </a:xfrm>
          <a:prstGeom prst="roundRect">
            <a:avLst/>
          </a:prstGeom>
          <a:solidFill>
            <a:srgbClr val="E2E8F0"/>
          </a:solid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5943600"/>
            <a:ext cx="10881360" cy="548640"/>
          </a:xfrm>
          <a:prstGeom prst="roundRect">
            <a:avLst/>
          </a:prstGeom>
          <a:solidFill>
            <a:srgbClr val="ED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6035040"/>
            <a:ext cx="10149840" cy="365760"/>
          </a:xfrm>
          <a:prstGeom prst="rect">
            <a:avLst/>
          </a:prstGeom>
          <a:noFill/>
        </p:spPr>
        <p:txBody>
          <a:bodyPr wrap="none">
            <a:spAutoFit/>
          </a:bodyPr>
          <a:lstStyle/>
          <a:p>
            <a:r>
              <a:rPr sz="1200">
                <a:solidFill>
                  <a:srgbClr val="4A5568"/>
                </a:solidFill>
                <a:latin typeface="Segoe UI"/>
              </a:rPr>
              <a:t>🚗 30 minutes  •  📍 35 km  •  🏨 Colombo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40080" y="548640"/>
            <a:ext cx="1188720" cy="7315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r>
              <a:rPr b="1" sz="1600">
                <a:solidFill>
                  <a:srgbClr val="FFFFFF"/>
                </a:solidFill>
                <a:latin typeface="Segoe UI"/>
              </a:rPr>
              <a:t>DAY 2</a:t>
            </a:r>
          </a:p>
        </p:txBody>
      </p:sp>
      <p:sp>
        <p:nvSpPr>
          <p:cNvPr id="3" name="TextBox 2"/>
          <p:cNvSpPr txBox="1"/>
          <p:nvPr/>
        </p:nvSpPr>
        <p:spPr>
          <a:xfrm>
            <a:off x="2011680" y="502920"/>
            <a:ext cx="7315200" cy="548640"/>
          </a:xfrm>
          <a:prstGeom prst="rect">
            <a:avLst/>
          </a:prstGeom>
          <a:noFill/>
        </p:spPr>
        <p:txBody>
          <a:bodyPr wrap="none">
            <a:spAutoFit/>
          </a:bodyPr>
          <a:lstStyle/>
          <a:p>
            <a:r>
              <a:rPr sz="3200" b="1">
                <a:solidFill>
                  <a:srgbClr val="1A365D"/>
                </a:solidFill>
                <a:latin typeface="Segoe UI Light"/>
              </a:rPr>
              <a:t>Discovering Colombo</a:t>
            </a:r>
          </a:p>
        </p:txBody>
      </p:sp>
      <p:sp>
        <p:nvSpPr>
          <p:cNvPr id="4" name="TextBox 3"/>
          <p:cNvSpPr txBox="1"/>
          <p:nvPr/>
        </p:nvSpPr>
        <p:spPr>
          <a:xfrm>
            <a:off x="2011680" y="1051560"/>
            <a:ext cx="2743200" cy="365760"/>
          </a:xfrm>
          <a:prstGeom prst="rect">
            <a:avLst/>
          </a:prstGeom>
          <a:noFill/>
        </p:spPr>
        <p:txBody>
          <a:bodyPr wrap="none">
            <a:spAutoFit/>
          </a:bodyPr>
          <a:lstStyle/>
          <a:p>
            <a:r>
              <a:rPr sz="1500">
                <a:solidFill>
                  <a:srgbClr val="718096"/>
                </a:solidFill>
                <a:latin typeface="Segoe UI"/>
              </a:rPr>
              <a:t>Colombo</a:t>
            </a:r>
          </a:p>
        </p:txBody>
      </p:sp>
      <p:sp>
        <p:nvSpPr>
          <p:cNvPr id="5" name="Rounded Rectangle 4"/>
          <p:cNvSpPr/>
          <p:nvPr/>
        </p:nvSpPr>
        <p:spPr>
          <a:xfrm>
            <a:off x="640080" y="1645920"/>
            <a:ext cx="6675120" cy="39319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5943600" cy="3383280"/>
          </a:xfrm>
          <a:prstGeom prst="rect">
            <a:avLst/>
          </a:prstGeom>
          <a:noFill/>
        </p:spPr>
        <p:txBody>
          <a:bodyPr wrap="square">
            <a:spAutoFit/>
          </a:bodyPr>
          <a:lstStyle/>
          <a:p>
            <a:pPr>
              <a:lnSpc>
                <a:spcPct val="130000"/>
              </a:lnSpc>
            </a:pPr>
            <a:r>
              <a:rPr sz="1400">
                <a:solidFill>
                  <a:srgbClr val="2D3748"/>
                </a:solidFill>
                <a:latin typeface="Segoe UI"/>
              </a:rPr>
              <a:t>• Breakfast at hotel</a:t>
            </a:r>
          </a:p>
          <a:p>
            <a:pPr>
              <a:lnSpc>
                <a:spcPct val="130000"/>
              </a:lnSpc>
              <a:spcBef>
                <a:spcPts val="1000"/>
              </a:spcBef>
            </a:pPr>
            <a:r>
              <a:rPr sz="1400">
                <a:solidFill>
                  <a:srgbClr val="2D3748"/>
                </a:solidFill>
                <a:latin typeface="Segoe UI"/>
              </a:rPr>
              <a:t>• Guided city tour: Galle Face Green, Independence Square &amp; colonial buildings</a:t>
            </a:r>
          </a:p>
          <a:p>
            <a:pPr>
              <a:lnSpc>
                <a:spcPct val="130000"/>
              </a:lnSpc>
              <a:spcBef>
                <a:spcPts val="1000"/>
              </a:spcBef>
            </a:pPr>
            <a:r>
              <a:rPr sz="1400">
                <a:solidFill>
                  <a:srgbClr val="2D3748"/>
                </a:solidFill>
                <a:latin typeface="Segoe UI"/>
              </a:rPr>
              <a:t>• Visit Gangaramaya Temple - Buddhist temple complex</a:t>
            </a:r>
          </a:p>
          <a:p>
            <a:pPr>
              <a:lnSpc>
                <a:spcPct val="130000"/>
              </a:lnSpc>
              <a:spcBef>
                <a:spcPts val="1000"/>
              </a:spcBef>
            </a:pPr>
            <a:r>
              <a:rPr sz="1400">
                <a:solidFill>
                  <a:srgbClr val="2D3748"/>
                </a:solidFill>
                <a:latin typeface="Segoe UI"/>
              </a:rPr>
              <a:t>• Lunch at Ministry of Crab (famous seafood restaurant)</a:t>
            </a:r>
          </a:p>
          <a:p>
            <a:pPr>
              <a:lnSpc>
                <a:spcPct val="130000"/>
              </a:lnSpc>
              <a:spcBef>
                <a:spcPts val="1000"/>
              </a:spcBef>
            </a:pPr>
            <a:r>
              <a:rPr sz="1400">
                <a:solidFill>
                  <a:srgbClr val="2D3748"/>
                </a:solidFill>
                <a:latin typeface="Segoe UI"/>
              </a:rPr>
              <a:t>• Colombo National Museum - explore Sri Lankan history</a:t>
            </a:r>
          </a:p>
          <a:p>
            <a:pPr>
              <a:lnSpc>
                <a:spcPct val="130000"/>
              </a:lnSpc>
              <a:spcBef>
                <a:spcPts val="1000"/>
              </a:spcBef>
            </a:pPr>
            <a:r>
              <a:rPr sz="1400">
                <a:solidFill>
                  <a:srgbClr val="2D3748"/>
                </a:solidFill>
                <a:latin typeface="Segoe UI"/>
              </a:rPr>
              <a:t>• Shopping at Barefoot Gallery and Odel</a:t>
            </a:r>
          </a:p>
          <a:p>
            <a:pPr>
              <a:lnSpc>
                <a:spcPct val="130000"/>
              </a:lnSpc>
              <a:spcBef>
                <a:spcPts val="1000"/>
              </a:spcBef>
            </a:pPr>
            <a:r>
              <a:rPr sz="1400">
                <a:solidFill>
                  <a:srgbClr val="2D3748"/>
                </a:solidFill>
                <a:latin typeface="Segoe UI"/>
              </a:rPr>
              <a:t>• Evening at leisure</a:t>
            </a:r>
          </a:p>
        </p:txBody>
      </p:sp>
      <p:sp>
        <p:nvSpPr>
          <p:cNvPr id="7" name="Rounded Rectangle 6"/>
          <p:cNvSpPr/>
          <p:nvPr/>
        </p:nvSpPr>
        <p:spPr>
          <a:xfrm>
            <a:off x="7589520" y="1645920"/>
            <a:ext cx="3931920" cy="3200400"/>
          </a:xfrm>
          <a:prstGeom prst="roundRect">
            <a:avLst/>
          </a:prstGeom>
          <a:solidFill>
            <a:srgbClr val="E2E8F0"/>
          </a:solid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5943600"/>
            <a:ext cx="10881360" cy="548640"/>
          </a:xfrm>
          <a:prstGeom prst="roundRect">
            <a:avLst/>
          </a:prstGeom>
          <a:solidFill>
            <a:srgbClr val="ED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6035040"/>
            <a:ext cx="10149840" cy="365760"/>
          </a:xfrm>
          <a:prstGeom prst="rect">
            <a:avLst/>
          </a:prstGeom>
          <a:noFill/>
        </p:spPr>
        <p:txBody>
          <a:bodyPr wrap="none">
            <a:spAutoFit/>
          </a:bodyPr>
          <a:lstStyle/>
          <a:p>
            <a:r>
              <a:rPr sz="1200">
                <a:solidFill>
                  <a:srgbClr val="4A5568"/>
                </a:solidFill>
                <a:latin typeface="Segoe UI"/>
              </a:rPr>
              <a:t>🚗 N/A  •  📍 City tour  •  🏨 Colombo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40080" y="548640"/>
            <a:ext cx="1188720" cy="7315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r>
              <a:rPr b="1" sz="1600">
                <a:solidFill>
                  <a:srgbClr val="FFFFFF"/>
                </a:solidFill>
                <a:latin typeface="Segoe UI"/>
              </a:rPr>
              <a:t>DAY 3</a:t>
            </a:r>
          </a:p>
        </p:txBody>
      </p:sp>
      <p:sp>
        <p:nvSpPr>
          <p:cNvPr id="3" name="TextBox 2"/>
          <p:cNvSpPr txBox="1"/>
          <p:nvPr/>
        </p:nvSpPr>
        <p:spPr>
          <a:xfrm>
            <a:off x="2011680" y="502920"/>
            <a:ext cx="7315200" cy="548640"/>
          </a:xfrm>
          <a:prstGeom prst="rect">
            <a:avLst/>
          </a:prstGeom>
          <a:noFill/>
        </p:spPr>
        <p:txBody>
          <a:bodyPr wrap="none">
            <a:spAutoFit/>
          </a:bodyPr>
          <a:lstStyle/>
          <a:p>
            <a:r>
              <a:rPr sz="3200" b="1">
                <a:solidFill>
                  <a:srgbClr val="1A365D"/>
                </a:solidFill>
                <a:latin typeface="Segoe UI Light"/>
              </a:rPr>
              <a:t>Journey to the Cultural Capital</a:t>
            </a:r>
          </a:p>
        </p:txBody>
      </p:sp>
      <p:sp>
        <p:nvSpPr>
          <p:cNvPr id="4" name="TextBox 3"/>
          <p:cNvSpPr txBox="1"/>
          <p:nvPr/>
        </p:nvSpPr>
        <p:spPr>
          <a:xfrm>
            <a:off x="2011680" y="1051560"/>
            <a:ext cx="2743200" cy="365760"/>
          </a:xfrm>
          <a:prstGeom prst="rect">
            <a:avLst/>
          </a:prstGeom>
          <a:noFill/>
        </p:spPr>
        <p:txBody>
          <a:bodyPr wrap="none">
            <a:spAutoFit/>
          </a:bodyPr>
          <a:lstStyle/>
          <a:p>
            <a:r>
              <a:rPr sz="1500">
                <a:solidFill>
                  <a:srgbClr val="718096"/>
                </a:solidFill>
                <a:latin typeface="Segoe UI"/>
              </a:rPr>
              <a:t>Kandy</a:t>
            </a:r>
          </a:p>
        </p:txBody>
      </p:sp>
      <p:sp>
        <p:nvSpPr>
          <p:cNvPr id="5" name="Rounded Rectangle 4"/>
          <p:cNvSpPr/>
          <p:nvPr/>
        </p:nvSpPr>
        <p:spPr>
          <a:xfrm>
            <a:off x="640080" y="1645920"/>
            <a:ext cx="6675120" cy="39319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5943600" cy="3383280"/>
          </a:xfrm>
          <a:prstGeom prst="rect">
            <a:avLst/>
          </a:prstGeom>
          <a:noFill/>
        </p:spPr>
        <p:txBody>
          <a:bodyPr wrap="square">
            <a:spAutoFit/>
          </a:bodyPr>
          <a:lstStyle/>
          <a:p>
            <a:pPr>
              <a:lnSpc>
                <a:spcPct val="130000"/>
              </a:lnSpc>
            </a:pPr>
            <a:r>
              <a:rPr sz="1400">
                <a:solidFill>
                  <a:srgbClr val="2D3748"/>
                </a:solidFill>
                <a:latin typeface="Segoe UI"/>
              </a:rPr>
              <a:t>• Breakfast and check-out</a:t>
            </a:r>
          </a:p>
          <a:p>
            <a:pPr>
              <a:lnSpc>
                <a:spcPct val="130000"/>
              </a:lnSpc>
              <a:spcBef>
                <a:spcPts val="1000"/>
              </a:spcBef>
            </a:pPr>
            <a:r>
              <a:rPr sz="1400">
                <a:solidFill>
                  <a:srgbClr val="2D3748"/>
                </a:solidFill>
                <a:latin typeface="Segoe UI"/>
              </a:rPr>
              <a:t>• Scenic drive to Kandy through lush landscapes</a:t>
            </a:r>
          </a:p>
          <a:p>
            <a:pPr>
              <a:lnSpc>
                <a:spcPct val="130000"/>
              </a:lnSpc>
              <a:spcBef>
                <a:spcPts val="1000"/>
              </a:spcBef>
            </a:pPr>
            <a:r>
              <a:rPr sz="1400">
                <a:solidFill>
                  <a:srgbClr val="2D3748"/>
                </a:solidFill>
                <a:latin typeface="Segoe UI"/>
              </a:rPr>
              <a:t>• En-route visit: Pinnawala Elephant Orphanage</a:t>
            </a:r>
          </a:p>
          <a:p>
            <a:pPr>
              <a:lnSpc>
                <a:spcPct val="130000"/>
              </a:lnSpc>
              <a:spcBef>
                <a:spcPts val="1000"/>
              </a:spcBef>
            </a:pPr>
            <a:r>
              <a:rPr sz="1400">
                <a:solidFill>
                  <a:srgbClr val="2D3748"/>
                </a:solidFill>
                <a:latin typeface="Segoe UI"/>
              </a:rPr>
              <a:t>• Watch elephants bathing in the river</a:t>
            </a:r>
          </a:p>
          <a:p>
            <a:pPr>
              <a:lnSpc>
                <a:spcPct val="130000"/>
              </a:lnSpc>
              <a:spcBef>
                <a:spcPts val="1000"/>
              </a:spcBef>
            </a:pPr>
            <a:r>
              <a:rPr sz="1400">
                <a:solidFill>
                  <a:srgbClr val="2D3748"/>
                </a:solidFill>
                <a:latin typeface="Segoe UI"/>
              </a:rPr>
              <a:t>• Arrive in Kandy and check-in to hotel</a:t>
            </a:r>
          </a:p>
          <a:p>
            <a:pPr>
              <a:lnSpc>
                <a:spcPct val="130000"/>
              </a:lnSpc>
              <a:spcBef>
                <a:spcPts val="1000"/>
              </a:spcBef>
            </a:pPr>
            <a:r>
              <a:rPr sz="1400">
                <a:solidFill>
                  <a:srgbClr val="2D3748"/>
                </a:solidFill>
                <a:latin typeface="Segoe UI"/>
              </a:rPr>
              <a:t>• Evening visit to Temple of the Sacred Tooth Relic (UNESCO Site)</a:t>
            </a:r>
          </a:p>
          <a:p>
            <a:pPr>
              <a:lnSpc>
                <a:spcPct val="130000"/>
              </a:lnSpc>
              <a:spcBef>
                <a:spcPts val="1000"/>
              </a:spcBef>
            </a:pPr>
            <a:r>
              <a:rPr sz="1400">
                <a:solidFill>
                  <a:srgbClr val="2D3748"/>
                </a:solidFill>
                <a:latin typeface="Segoe UI"/>
              </a:rPr>
              <a:t>• Attend traditional Kandyan dance performance</a:t>
            </a:r>
          </a:p>
        </p:txBody>
      </p:sp>
      <p:sp>
        <p:nvSpPr>
          <p:cNvPr id="7" name="Rounded Rectangle 6"/>
          <p:cNvSpPr/>
          <p:nvPr/>
        </p:nvSpPr>
        <p:spPr>
          <a:xfrm>
            <a:off x="7589520" y="1645920"/>
            <a:ext cx="3931920" cy="3200400"/>
          </a:xfrm>
          <a:prstGeom prst="roundRect">
            <a:avLst/>
          </a:prstGeom>
          <a:solidFill>
            <a:srgbClr val="E2E8F0"/>
          </a:solid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5943600"/>
            <a:ext cx="10881360" cy="548640"/>
          </a:xfrm>
          <a:prstGeom prst="roundRect">
            <a:avLst/>
          </a:prstGeom>
          <a:solidFill>
            <a:srgbClr val="ED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6035040"/>
            <a:ext cx="10149840" cy="365760"/>
          </a:xfrm>
          <a:prstGeom prst="rect">
            <a:avLst/>
          </a:prstGeom>
          <a:noFill/>
        </p:spPr>
        <p:txBody>
          <a:bodyPr wrap="none">
            <a:spAutoFit/>
          </a:bodyPr>
          <a:lstStyle/>
          <a:p>
            <a:r>
              <a:rPr sz="1200">
                <a:solidFill>
                  <a:srgbClr val="4A5568"/>
                </a:solidFill>
                <a:latin typeface="Segoe UI"/>
              </a:rPr>
              <a:t>🚗 3.5 hours  •  📍 115 km  •  🏨 Kandy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40080" y="548640"/>
            <a:ext cx="1188720" cy="7315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r>
              <a:rPr b="1" sz="1600">
                <a:solidFill>
                  <a:srgbClr val="FFFFFF"/>
                </a:solidFill>
                <a:latin typeface="Segoe UI"/>
              </a:rPr>
              <a:t>DAY 4</a:t>
            </a:r>
          </a:p>
        </p:txBody>
      </p:sp>
      <p:sp>
        <p:nvSpPr>
          <p:cNvPr id="3" name="TextBox 2"/>
          <p:cNvSpPr txBox="1"/>
          <p:nvPr/>
        </p:nvSpPr>
        <p:spPr>
          <a:xfrm>
            <a:off x="2011680" y="502920"/>
            <a:ext cx="7315200" cy="548640"/>
          </a:xfrm>
          <a:prstGeom prst="rect">
            <a:avLst/>
          </a:prstGeom>
          <a:noFill/>
        </p:spPr>
        <p:txBody>
          <a:bodyPr wrap="none">
            <a:spAutoFit/>
          </a:bodyPr>
          <a:lstStyle/>
          <a:p>
            <a:r>
              <a:rPr sz="3200" b="1">
                <a:solidFill>
                  <a:srgbClr val="1A365D"/>
                </a:solidFill>
                <a:latin typeface="Segoe UI Light"/>
              </a:rPr>
              <a:t>Kandy &amp; Royal Botanical Gardens</a:t>
            </a:r>
          </a:p>
        </p:txBody>
      </p:sp>
      <p:sp>
        <p:nvSpPr>
          <p:cNvPr id="4" name="TextBox 3"/>
          <p:cNvSpPr txBox="1"/>
          <p:nvPr/>
        </p:nvSpPr>
        <p:spPr>
          <a:xfrm>
            <a:off x="2011680" y="1051560"/>
            <a:ext cx="2743200" cy="365760"/>
          </a:xfrm>
          <a:prstGeom prst="rect">
            <a:avLst/>
          </a:prstGeom>
          <a:noFill/>
        </p:spPr>
        <p:txBody>
          <a:bodyPr wrap="none">
            <a:spAutoFit/>
          </a:bodyPr>
          <a:lstStyle/>
          <a:p>
            <a:r>
              <a:rPr sz="1500">
                <a:solidFill>
                  <a:srgbClr val="718096"/>
                </a:solidFill>
                <a:latin typeface="Segoe UI"/>
              </a:rPr>
              <a:t>Kandy</a:t>
            </a:r>
          </a:p>
        </p:txBody>
      </p:sp>
      <p:sp>
        <p:nvSpPr>
          <p:cNvPr id="5" name="Rounded Rectangle 4"/>
          <p:cNvSpPr/>
          <p:nvPr/>
        </p:nvSpPr>
        <p:spPr>
          <a:xfrm>
            <a:off x="640080" y="1645920"/>
            <a:ext cx="6675120" cy="39319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5943600" cy="3383280"/>
          </a:xfrm>
          <a:prstGeom prst="rect">
            <a:avLst/>
          </a:prstGeom>
          <a:noFill/>
        </p:spPr>
        <p:txBody>
          <a:bodyPr wrap="square">
            <a:spAutoFit/>
          </a:bodyPr>
          <a:lstStyle/>
          <a:p>
            <a:pPr>
              <a:lnSpc>
                <a:spcPct val="130000"/>
              </a:lnSpc>
            </a:pPr>
            <a:r>
              <a:rPr sz="1400">
                <a:solidFill>
                  <a:srgbClr val="2D3748"/>
                </a:solidFill>
                <a:latin typeface="Segoe UI"/>
              </a:rPr>
              <a:t>• Breakfast at hotel</a:t>
            </a:r>
          </a:p>
          <a:p>
            <a:pPr>
              <a:lnSpc>
                <a:spcPct val="130000"/>
              </a:lnSpc>
              <a:spcBef>
                <a:spcPts val="1000"/>
              </a:spcBef>
            </a:pPr>
            <a:r>
              <a:rPr sz="1400">
                <a:solidFill>
                  <a:srgbClr val="2D3748"/>
                </a:solidFill>
                <a:latin typeface="Segoe UI"/>
              </a:rPr>
              <a:t>• Visit Royal Botanical Gardens at Peradeniya (147 acres)</a:t>
            </a:r>
          </a:p>
          <a:p>
            <a:pPr>
              <a:lnSpc>
                <a:spcPct val="130000"/>
              </a:lnSpc>
              <a:spcBef>
                <a:spcPts val="1000"/>
              </a:spcBef>
            </a:pPr>
            <a:r>
              <a:rPr sz="1400">
                <a:solidFill>
                  <a:srgbClr val="2D3748"/>
                </a:solidFill>
                <a:latin typeface="Segoe UI"/>
              </a:rPr>
              <a:t>• Walk among orchid collections and giant bamboo groves</a:t>
            </a:r>
          </a:p>
          <a:p>
            <a:pPr>
              <a:lnSpc>
                <a:spcPct val="130000"/>
              </a:lnSpc>
              <a:spcBef>
                <a:spcPts val="1000"/>
              </a:spcBef>
            </a:pPr>
            <a:r>
              <a:rPr sz="1400">
                <a:solidFill>
                  <a:srgbClr val="2D3748"/>
                </a:solidFill>
                <a:latin typeface="Segoe UI"/>
              </a:rPr>
              <a:t>• Lunch at garden restaurant</a:t>
            </a:r>
          </a:p>
          <a:p>
            <a:pPr>
              <a:lnSpc>
                <a:spcPct val="130000"/>
              </a:lnSpc>
              <a:spcBef>
                <a:spcPts val="1000"/>
              </a:spcBef>
            </a:pPr>
            <a:r>
              <a:rPr sz="1400">
                <a:solidFill>
                  <a:srgbClr val="2D3748"/>
                </a:solidFill>
                <a:latin typeface="Segoe UI"/>
              </a:rPr>
              <a:t>• Ceylon Tea Museum and working tea plantation visit</a:t>
            </a:r>
          </a:p>
          <a:p>
            <a:pPr>
              <a:lnSpc>
                <a:spcPct val="130000"/>
              </a:lnSpc>
              <a:spcBef>
                <a:spcPts val="1000"/>
              </a:spcBef>
            </a:pPr>
            <a:r>
              <a:rPr sz="1400">
                <a:solidFill>
                  <a:srgbClr val="2D3748"/>
                </a:solidFill>
                <a:latin typeface="Segoe UI"/>
              </a:rPr>
              <a:t>• Tea tasting experience with panoramic views</a:t>
            </a:r>
          </a:p>
          <a:p>
            <a:pPr>
              <a:lnSpc>
                <a:spcPct val="130000"/>
              </a:lnSpc>
              <a:spcBef>
                <a:spcPts val="1000"/>
              </a:spcBef>
            </a:pPr>
            <a:r>
              <a:rPr sz="1400">
                <a:solidFill>
                  <a:srgbClr val="2D3748"/>
                </a:solidFill>
                <a:latin typeface="Segoe UI"/>
              </a:rPr>
              <a:t>• Sunset walk around Kandy Lake</a:t>
            </a:r>
          </a:p>
        </p:txBody>
      </p:sp>
      <p:sp>
        <p:nvSpPr>
          <p:cNvPr id="7" name="Rounded Rectangle 6"/>
          <p:cNvSpPr/>
          <p:nvPr/>
        </p:nvSpPr>
        <p:spPr>
          <a:xfrm>
            <a:off x="7589520" y="1645920"/>
            <a:ext cx="3931920" cy="3200400"/>
          </a:xfrm>
          <a:prstGeom prst="roundRect">
            <a:avLst/>
          </a:prstGeom>
          <a:solidFill>
            <a:srgbClr val="E2E8F0"/>
          </a:solid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5943600"/>
            <a:ext cx="10881360" cy="548640"/>
          </a:xfrm>
          <a:prstGeom prst="roundRect">
            <a:avLst/>
          </a:prstGeom>
          <a:solidFill>
            <a:srgbClr val="ED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6035040"/>
            <a:ext cx="10149840" cy="365760"/>
          </a:xfrm>
          <a:prstGeom prst="rect">
            <a:avLst/>
          </a:prstGeom>
          <a:noFill/>
        </p:spPr>
        <p:txBody>
          <a:bodyPr wrap="none">
            <a:spAutoFit/>
          </a:bodyPr>
          <a:lstStyle/>
          <a:p>
            <a:r>
              <a:rPr sz="1200">
                <a:solidFill>
                  <a:srgbClr val="4A5568"/>
                </a:solidFill>
                <a:latin typeface="Segoe UI"/>
              </a:rPr>
              <a:t>🚗 30 minutes  •  📍 15 km  •  🏨 Kandy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40080" y="548640"/>
            <a:ext cx="1188720" cy="7315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r>
              <a:rPr b="1" sz="1600">
                <a:solidFill>
                  <a:srgbClr val="FFFFFF"/>
                </a:solidFill>
                <a:latin typeface="Segoe UI"/>
              </a:rPr>
              <a:t>DAY 5</a:t>
            </a:r>
          </a:p>
        </p:txBody>
      </p:sp>
      <p:sp>
        <p:nvSpPr>
          <p:cNvPr id="3" name="TextBox 2"/>
          <p:cNvSpPr txBox="1"/>
          <p:nvPr/>
        </p:nvSpPr>
        <p:spPr>
          <a:xfrm>
            <a:off x="2011680" y="502920"/>
            <a:ext cx="7315200" cy="548640"/>
          </a:xfrm>
          <a:prstGeom prst="rect">
            <a:avLst/>
          </a:prstGeom>
          <a:noFill/>
        </p:spPr>
        <p:txBody>
          <a:bodyPr wrap="none">
            <a:spAutoFit/>
          </a:bodyPr>
          <a:lstStyle/>
          <a:p>
            <a:r>
              <a:rPr sz="3200" b="1">
                <a:solidFill>
                  <a:srgbClr val="1A365D"/>
                </a:solidFill>
                <a:latin typeface="Segoe UI Light"/>
              </a:rPr>
              <a:t>Scenic Train to Hill Country</a:t>
            </a:r>
          </a:p>
        </p:txBody>
      </p:sp>
      <p:sp>
        <p:nvSpPr>
          <p:cNvPr id="4" name="TextBox 3"/>
          <p:cNvSpPr txBox="1"/>
          <p:nvPr/>
        </p:nvSpPr>
        <p:spPr>
          <a:xfrm>
            <a:off x="2011680" y="1051560"/>
            <a:ext cx="2743200" cy="365760"/>
          </a:xfrm>
          <a:prstGeom prst="rect">
            <a:avLst/>
          </a:prstGeom>
          <a:noFill/>
        </p:spPr>
        <p:txBody>
          <a:bodyPr wrap="none">
            <a:spAutoFit/>
          </a:bodyPr>
          <a:lstStyle/>
          <a:p>
            <a:r>
              <a:rPr sz="1500">
                <a:solidFill>
                  <a:srgbClr val="718096"/>
                </a:solidFill>
                <a:latin typeface="Segoe UI"/>
              </a:rPr>
              <a:t>Nuwara Eliya</a:t>
            </a:r>
          </a:p>
        </p:txBody>
      </p:sp>
      <p:sp>
        <p:nvSpPr>
          <p:cNvPr id="5" name="Rounded Rectangle 4"/>
          <p:cNvSpPr/>
          <p:nvPr/>
        </p:nvSpPr>
        <p:spPr>
          <a:xfrm>
            <a:off x="640080" y="1645920"/>
            <a:ext cx="6675120" cy="39319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5943600" cy="3383280"/>
          </a:xfrm>
          <a:prstGeom prst="rect">
            <a:avLst/>
          </a:prstGeom>
          <a:noFill/>
        </p:spPr>
        <p:txBody>
          <a:bodyPr wrap="square">
            <a:spAutoFit/>
          </a:bodyPr>
          <a:lstStyle/>
          <a:p>
            <a:pPr>
              <a:lnSpc>
                <a:spcPct val="130000"/>
              </a:lnSpc>
            </a:pPr>
            <a:r>
              <a:rPr sz="1400">
                <a:solidFill>
                  <a:srgbClr val="2D3748"/>
                </a:solidFill>
                <a:latin typeface="Segoe UI"/>
              </a:rPr>
              <a:t>• Early breakfast and check-out</a:t>
            </a:r>
          </a:p>
          <a:p>
            <a:pPr>
              <a:lnSpc>
                <a:spcPct val="130000"/>
              </a:lnSpc>
              <a:spcBef>
                <a:spcPts val="1000"/>
              </a:spcBef>
            </a:pPr>
            <a:r>
              <a:rPr sz="1400">
                <a:solidFill>
                  <a:srgbClr val="2D3748"/>
                </a:solidFill>
                <a:latin typeface="Segoe UI"/>
              </a:rPr>
              <a:t>• Board famous Kandy to Nuwara Eliya train</a:t>
            </a:r>
          </a:p>
          <a:p>
            <a:pPr>
              <a:lnSpc>
                <a:spcPct val="130000"/>
              </a:lnSpc>
              <a:spcBef>
                <a:spcPts val="1000"/>
              </a:spcBef>
            </a:pPr>
            <a:r>
              <a:rPr sz="1400">
                <a:solidFill>
                  <a:srgbClr val="2D3748"/>
                </a:solidFill>
                <a:latin typeface="Segoe UI"/>
              </a:rPr>
              <a:t>• Journey through tea plantations and mountain scenery</a:t>
            </a:r>
          </a:p>
          <a:p>
            <a:pPr>
              <a:lnSpc>
                <a:spcPct val="130000"/>
              </a:lnSpc>
              <a:spcBef>
                <a:spcPts val="1000"/>
              </a:spcBef>
            </a:pPr>
            <a:r>
              <a:rPr sz="1400">
                <a:solidFill>
                  <a:srgbClr val="2D3748"/>
                </a:solidFill>
                <a:latin typeface="Segoe UI"/>
              </a:rPr>
              <a:t>• One of the world's most scenic train rides</a:t>
            </a:r>
          </a:p>
          <a:p>
            <a:pPr>
              <a:lnSpc>
                <a:spcPct val="130000"/>
              </a:lnSpc>
              <a:spcBef>
                <a:spcPts val="1000"/>
              </a:spcBef>
            </a:pPr>
            <a:r>
              <a:rPr sz="1400">
                <a:solidFill>
                  <a:srgbClr val="2D3748"/>
                </a:solidFill>
                <a:latin typeface="Segoe UI"/>
              </a:rPr>
              <a:t>• Arrive in Nuwara Eliya - 'Little England' of Sri Lanka</a:t>
            </a:r>
          </a:p>
          <a:p>
            <a:pPr>
              <a:lnSpc>
                <a:spcPct val="130000"/>
              </a:lnSpc>
              <a:spcBef>
                <a:spcPts val="1000"/>
              </a:spcBef>
            </a:pPr>
            <a:r>
              <a:rPr sz="1400">
                <a:solidFill>
                  <a:srgbClr val="2D3748"/>
                </a:solidFill>
                <a:latin typeface="Segoe UI"/>
              </a:rPr>
              <a:t>• Check-in to colonial-era hotel</a:t>
            </a:r>
          </a:p>
          <a:p>
            <a:pPr>
              <a:lnSpc>
                <a:spcPct val="130000"/>
              </a:lnSpc>
              <a:spcBef>
                <a:spcPts val="1000"/>
              </a:spcBef>
            </a:pPr>
            <a:r>
              <a:rPr sz="1400">
                <a:solidFill>
                  <a:srgbClr val="2D3748"/>
                </a:solidFill>
                <a:latin typeface="Segoe UI"/>
              </a:rPr>
              <a:t>• City tour: Gregory Lake &amp; Victoria Park</a:t>
            </a:r>
          </a:p>
        </p:txBody>
      </p:sp>
      <p:sp>
        <p:nvSpPr>
          <p:cNvPr id="7" name="Rounded Rectangle 6"/>
          <p:cNvSpPr/>
          <p:nvPr/>
        </p:nvSpPr>
        <p:spPr>
          <a:xfrm>
            <a:off x="7589520" y="1645920"/>
            <a:ext cx="3931920" cy="3200400"/>
          </a:xfrm>
          <a:prstGeom prst="roundRect">
            <a:avLst/>
          </a:prstGeom>
          <a:solidFill>
            <a:srgbClr val="E2E8F0"/>
          </a:solid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5943600"/>
            <a:ext cx="10881360" cy="548640"/>
          </a:xfrm>
          <a:prstGeom prst="roundRect">
            <a:avLst/>
          </a:prstGeom>
          <a:solidFill>
            <a:srgbClr val="ED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6035040"/>
            <a:ext cx="10149840" cy="365760"/>
          </a:xfrm>
          <a:prstGeom prst="rect">
            <a:avLst/>
          </a:prstGeom>
          <a:noFill/>
        </p:spPr>
        <p:txBody>
          <a:bodyPr wrap="none">
            <a:spAutoFit/>
          </a:bodyPr>
          <a:lstStyle/>
          <a:p>
            <a:r>
              <a:rPr sz="1200">
                <a:solidFill>
                  <a:srgbClr val="4A5568"/>
                </a:solidFill>
                <a:latin typeface="Segoe UI"/>
              </a:rPr>
              <a:t>🚗 4 hours  •  📍 80 km  •  🏨 Nuwara Eliya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40080" y="548640"/>
            <a:ext cx="1188720" cy="7315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r>
              <a:rPr b="1" sz="1600">
                <a:solidFill>
                  <a:srgbClr val="FFFFFF"/>
                </a:solidFill>
                <a:latin typeface="Segoe UI"/>
              </a:rPr>
              <a:t>DAY 6</a:t>
            </a:r>
          </a:p>
        </p:txBody>
      </p:sp>
      <p:sp>
        <p:nvSpPr>
          <p:cNvPr id="3" name="TextBox 2"/>
          <p:cNvSpPr txBox="1"/>
          <p:nvPr/>
        </p:nvSpPr>
        <p:spPr>
          <a:xfrm>
            <a:off x="2011680" y="502920"/>
            <a:ext cx="7315200" cy="548640"/>
          </a:xfrm>
          <a:prstGeom prst="rect">
            <a:avLst/>
          </a:prstGeom>
          <a:noFill/>
        </p:spPr>
        <p:txBody>
          <a:bodyPr wrap="none">
            <a:spAutoFit/>
          </a:bodyPr>
          <a:lstStyle/>
          <a:p>
            <a:r>
              <a:rPr sz="3200" b="1">
                <a:solidFill>
                  <a:srgbClr val="1A365D"/>
                </a:solidFill>
                <a:latin typeface="Segoe UI Light"/>
              </a:rPr>
              <a:t>Horton Plains &amp; World's End</a:t>
            </a:r>
          </a:p>
        </p:txBody>
      </p:sp>
      <p:sp>
        <p:nvSpPr>
          <p:cNvPr id="4" name="TextBox 3"/>
          <p:cNvSpPr txBox="1"/>
          <p:nvPr/>
        </p:nvSpPr>
        <p:spPr>
          <a:xfrm>
            <a:off x="2011680" y="1051560"/>
            <a:ext cx="2743200" cy="365760"/>
          </a:xfrm>
          <a:prstGeom prst="rect">
            <a:avLst/>
          </a:prstGeom>
          <a:noFill/>
        </p:spPr>
        <p:txBody>
          <a:bodyPr wrap="none">
            <a:spAutoFit/>
          </a:bodyPr>
          <a:lstStyle/>
          <a:p>
            <a:r>
              <a:rPr sz="1500">
                <a:solidFill>
                  <a:srgbClr val="718096"/>
                </a:solidFill>
                <a:latin typeface="Segoe UI"/>
              </a:rPr>
              <a:t>Nuwara Eliya</a:t>
            </a:r>
          </a:p>
        </p:txBody>
      </p:sp>
      <p:sp>
        <p:nvSpPr>
          <p:cNvPr id="5" name="Rounded Rectangle 4"/>
          <p:cNvSpPr/>
          <p:nvPr/>
        </p:nvSpPr>
        <p:spPr>
          <a:xfrm>
            <a:off x="640080" y="1645920"/>
            <a:ext cx="6675120" cy="39319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5943600" cy="3383280"/>
          </a:xfrm>
          <a:prstGeom prst="rect">
            <a:avLst/>
          </a:prstGeom>
          <a:noFill/>
        </p:spPr>
        <p:txBody>
          <a:bodyPr wrap="square">
            <a:spAutoFit/>
          </a:bodyPr>
          <a:lstStyle/>
          <a:p>
            <a:pPr>
              <a:lnSpc>
                <a:spcPct val="130000"/>
              </a:lnSpc>
            </a:pPr>
            <a:r>
              <a:rPr sz="1400">
                <a:solidFill>
                  <a:srgbClr val="2D3748"/>
                </a:solidFill>
                <a:latin typeface="Segoe UI"/>
              </a:rPr>
              <a:t>• Very early breakfast box (4:30 AM)</a:t>
            </a:r>
          </a:p>
          <a:p>
            <a:pPr>
              <a:lnSpc>
                <a:spcPct val="130000"/>
              </a:lnSpc>
              <a:spcBef>
                <a:spcPts val="1000"/>
              </a:spcBef>
            </a:pPr>
            <a:r>
              <a:rPr sz="1400">
                <a:solidFill>
                  <a:srgbClr val="2D3748"/>
                </a:solidFill>
                <a:latin typeface="Segoe UI"/>
              </a:rPr>
              <a:t>• Drive to Horton Plains National Park</a:t>
            </a:r>
          </a:p>
          <a:p>
            <a:pPr>
              <a:lnSpc>
                <a:spcPct val="130000"/>
              </a:lnSpc>
              <a:spcBef>
                <a:spcPts val="1000"/>
              </a:spcBef>
            </a:pPr>
            <a:r>
              <a:rPr sz="1400">
                <a:solidFill>
                  <a:srgbClr val="2D3748"/>
                </a:solidFill>
                <a:latin typeface="Segoe UI"/>
              </a:rPr>
              <a:t>• Trek to World's End viewpoint - breathtaking 4000ft drop</a:t>
            </a:r>
          </a:p>
          <a:p>
            <a:pPr>
              <a:lnSpc>
                <a:spcPct val="130000"/>
              </a:lnSpc>
              <a:spcBef>
                <a:spcPts val="1000"/>
              </a:spcBef>
            </a:pPr>
            <a:r>
              <a:rPr sz="1400">
                <a:solidFill>
                  <a:srgbClr val="2D3748"/>
                </a:solidFill>
                <a:latin typeface="Segoe UI"/>
              </a:rPr>
              <a:t>• Visit Baker's Falls waterfall</a:t>
            </a:r>
          </a:p>
          <a:p>
            <a:pPr>
              <a:lnSpc>
                <a:spcPct val="130000"/>
              </a:lnSpc>
              <a:spcBef>
                <a:spcPts val="1000"/>
              </a:spcBef>
            </a:pPr>
            <a:r>
              <a:rPr sz="1400">
                <a:solidFill>
                  <a:srgbClr val="2D3748"/>
                </a:solidFill>
                <a:latin typeface="Segoe UI"/>
              </a:rPr>
              <a:t>• Return to hotel for late brunch</a:t>
            </a:r>
          </a:p>
          <a:p>
            <a:pPr>
              <a:lnSpc>
                <a:spcPct val="130000"/>
              </a:lnSpc>
              <a:spcBef>
                <a:spcPts val="1000"/>
              </a:spcBef>
            </a:pPr>
            <a:r>
              <a:rPr sz="1400">
                <a:solidFill>
                  <a:srgbClr val="2D3748"/>
                </a:solidFill>
                <a:latin typeface="Segoe UI"/>
              </a:rPr>
              <a:t>• Visit working tea factory - learn Ceylon tea production</a:t>
            </a:r>
          </a:p>
          <a:p>
            <a:pPr>
              <a:lnSpc>
                <a:spcPct val="130000"/>
              </a:lnSpc>
              <a:spcBef>
                <a:spcPts val="1000"/>
              </a:spcBef>
            </a:pPr>
            <a:r>
              <a:rPr sz="1400">
                <a:solidFill>
                  <a:srgbClr val="2D3748"/>
                </a:solidFill>
                <a:latin typeface="Segoe UI"/>
              </a:rPr>
              <a:t>• High tea at Grand Hotel - colonial tradition</a:t>
            </a:r>
          </a:p>
        </p:txBody>
      </p:sp>
      <p:sp>
        <p:nvSpPr>
          <p:cNvPr id="7" name="Rounded Rectangle 6"/>
          <p:cNvSpPr/>
          <p:nvPr/>
        </p:nvSpPr>
        <p:spPr>
          <a:xfrm>
            <a:off x="7589520" y="1645920"/>
            <a:ext cx="3931920" cy="3200400"/>
          </a:xfrm>
          <a:prstGeom prst="roundRect">
            <a:avLst/>
          </a:prstGeom>
          <a:solidFill>
            <a:srgbClr val="E2E8F0"/>
          </a:solid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5943600"/>
            <a:ext cx="10881360" cy="548640"/>
          </a:xfrm>
          <a:prstGeom prst="roundRect">
            <a:avLst/>
          </a:prstGeom>
          <a:solidFill>
            <a:srgbClr val="ED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6035040"/>
            <a:ext cx="10149840" cy="365760"/>
          </a:xfrm>
          <a:prstGeom prst="rect">
            <a:avLst/>
          </a:prstGeom>
          <a:noFill/>
        </p:spPr>
        <p:txBody>
          <a:bodyPr wrap="none">
            <a:spAutoFit/>
          </a:bodyPr>
          <a:lstStyle/>
          <a:p>
            <a:r>
              <a:rPr sz="1200">
                <a:solidFill>
                  <a:srgbClr val="4A5568"/>
                </a:solidFill>
                <a:latin typeface="Segoe UI"/>
              </a:rPr>
              <a:t>🚗 1.5 hours  •  📍 35 km  •  🏨 Nuwara Eliya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40080" y="548640"/>
            <a:ext cx="1188720" cy="7315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r>
              <a:rPr b="1" sz="1600">
                <a:solidFill>
                  <a:srgbClr val="FFFFFF"/>
                </a:solidFill>
                <a:latin typeface="Segoe UI"/>
              </a:rPr>
              <a:t>DAY 7</a:t>
            </a:r>
          </a:p>
        </p:txBody>
      </p:sp>
      <p:sp>
        <p:nvSpPr>
          <p:cNvPr id="3" name="TextBox 2"/>
          <p:cNvSpPr txBox="1"/>
          <p:nvPr/>
        </p:nvSpPr>
        <p:spPr>
          <a:xfrm>
            <a:off x="2011680" y="502920"/>
            <a:ext cx="7315200" cy="548640"/>
          </a:xfrm>
          <a:prstGeom prst="rect">
            <a:avLst/>
          </a:prstGeom>
          <a:noFill/>
        </p:spPr>
        <p:txBody>
          <a:bodyPr wrap="none">
            <a:spAutoFit/>
          </a:bodyPr>
          <a:lstStyle/>
          <a:p>
            <a:r>
              <a:rPr sz="3200" b="1">
                <a:solidFill>
                  <a:srgbClr val="1A365D"/>
                </a:solidFill>
                <a:latin typeface="Segoe UI Light"/>
              </a:rPr>
              <a:t>Coastal Beauty of Galle</a:t>
            </a:r>
          </a:p>
        </p:txBody>
      </p:sp>
      <p:sp>
        <p:nvSpPr>
          <p:cNvPr id="4" name="TextBox 3"/>
          <p:cNvSpPr txBox="1"/>
          <p:nvPr/>
        </p:nvSpPr>
        <p:spPr>
          <a:xfrm>
            <a:off x="2011680" y="1051560"/>
            <a:ext cx="2743200" cy="365760"/>
          </a:xfrm>
          <a:prstGeom prst="rect">
            <a:avLst/>
          </a:prstGeom>
          <a:noFill/>
        </p:spPr>
        <p:txBody>
          <a:bodyPr wrap="none">
            <a:spAutoFit/>
          </a:bodyPr>
          <a:lstStyle/>
          <a:p>
            <a:r>
              <a:rPr sz="1500">
                <a:solidFill>
                  <a:srgbClr val="718096"/>
                </a:solidFill>
                <a:latin typeface="Segoe UI"/>
              </a:rPr>
              <a:t>Galle</a:t>
            </a:r>
          </a:p>
        </p:txBody>
      </p:sp>
      <p:sp>
        <p:nvSpPr>
          <p:cNvPr id="5" name="Rounded Rectangle 4"/>
          <p:cNvSpPr/>
          <p:nvPr/>
        </p:nvSpPr>
        <p:spPr>
          <a:xfrm>
            <a:off x="640080" y="1645920"/>
            <a:ext cx="6675120" cy="39319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5943600" cy="3383280"/>
          </a:xfrm>
          <a:prstGeom prst="rect">
            <a:avLst/>
          </a:prstGeom>
          <a:noFill/>
        </p:spPr>
        <p:txBody>
          <a:bodyPr wrap="square">
            <a:spAutoFit/>
          </a:bodyPr>
          <a:lstStyle/>
          <a:p>
            <a:pPr>
              <a:lnSpc>
                <a:spcPct val="130000"/>
              </a:lnSpc>
            </a:pPr>
            <a:r>
              <a:rPr sz="1400">
                <a:solidFill>
                  <a:srgbClr val="2D3748"/>
                </a:solidFill>
                <a:latin typeface="Segoe UI"/>
              </a:rPr>
              <a:t>• Breakfast and check-out</a:t>
            </a:r>
          </a:p>
          <a:p>
            <a:pPr>
              <a:lnSpc>
                <a:spcPct val="130000"/>
              </a:lnSpc>
              <a:spcBef>
                <a:spcPts val="1000"/>
              </a:spcBef>
            </a:pPr>
            <a:r>
              <a:rPr sz="1400">
                <a:solidFill>
                  <a:srgbClr val="2D3748"/>
                </a:solidFill>
                <a:latin typeface="Segoe UI"/>
              </a:rPr>
              <a:t>• Scenic drive to southern coast through hill country</a:t>
            </a:r>
          </a:p>
          <a:p>
            <a:pPr>
              <a:lnSpc>
                <a:spcPct val="130000"/>
              </a:lnSpc>
              <a:spcBef>
                <a:spcPts val="1000"/>
              </a:spcBef>
            </a:pPr>
            <a:r>
              <a:rPr sz="1400">
                <a:solidFill>
                  <a:srgbClr val="2D3748"/>
                </a:solidFill>
                <a:latin typeface="Segoe UI"/>
              </a:rPr>
              <a:t>• Lunch at beachside restaurant</a:t>
            </a:r>
          </a:p>
          <a:p>
            <a:pPr>
              <a:lnSpc>
                <a:spcPct val="130000"/>
              </a:lnSpc>
              <a:spcBef>
                <a:spcPts val="1000"/>
              </a:spcBef>
            </a:pPr>
            <a:r>
              <a:rPr sz="1400">
                <a:solidFill>
                  <a:srgbClr val="2D3748"/>
                </a:solidFill>
                <a:latin typeface="Segoe UI"/>
              </a:rPr>
              <a:t>• Explore UNESCO-listed Galle Fort</a:t>
            </a:r>
          </a:p>
          <a:p>
            <a:pPr>
              <a:lnSpc>
                <a:spcPct val="130000"/>
              </a:lnSpc>
              <a:spcBef>
                <a:spcPts val="1000"/>
              </a:spcBef>
            </a:pPr>
            <a:r>
              <a:rPr sz="1400">
                <a:solidFill>
                  <a:srgbClr val="2D3748"/>
                </a:solidFill>
                <a:latin typeface="Segoe UI"/>
              </a:rPr>
              <a:t>• Walk through Dutch colonial architecture</a:t>
            </a:r>
          </a:p>
          <a:p>
            <a:pPr>
              <a:lnSpc>
                <a:spcPct val="130000"/>
              </a:lnSpc>
              <a:spcBef>
                <a:spcPts val="1000"/>
              </a:spcBef>
            </a:pPr>
            <a:r>
              <a:rPr sz="1400">
                <a:solidFill>
                  <a:srgbClr val="2D3748"/>
                </a:solidFill>
                <a:latin typeface="Segoe UI"/>
              </a:rPr>
              <a:t>• Visit lighthouse and fort ramparts</a:t>
            </a:r>
          </a:p>
          <a:p>
            <a:pPr>
              <a:lnSpc>
                <a:spcPct val="130000"/>
              </a:lnSpc>
              <a:spcBef>
                <a:spcPts val="1000"/>
              </a:spcBef>
            </a:pPr>
            <a:r>
              <a:rPr sz="1400">
                <a:solidFill>
                  <a:srgbClr val="2D3748"/>
                </a:solidFill>
                <a:latin typeface="Segoe UI"/>
              </a:rPr>
              <a:t>• Sunset photography along the fort walls</a:t>
            </a:r>
          </a:p>
          <a:p>
            <a:pPr>
              <a:lnSpc>
                <a:spcPct val="130000"/>
              </a:lnSpc>
              <a:spcBef>
                <a:spcPts val="1000"/>
              </a:spcBef>
            </a:pPr>
            <a:r>
              <a:rPr sz="1400">
                <a:solidFill>
                  <a:srgbClr val="2D3748"/>
                </a:solidFill>
                <a:latin typeface="Segoe UI"/>
              </a:rPr>
              <a:t>• Dinner at boutique restaurant in the fort</a:t>
            </a:r>
          </a:p>
        </p:txBody>
      </p:sp>
      <p:sp>
        <p:nvSpPr>
          <p:cNvPr id="7" name="Rounded Rectangle 6"/>
          <p:cNvSpPr/>
          <p:nvPr/>
        </p:nvSpPr>
        <p:spPr>
          <a:xfrm>
            <a:off x="7589520" y="1645920"/>
            <a:ext cx="3931920" cy="3200400"/>
          </a:xfrm>
          <a:prstGeom prst="roundRect">
            <a:avLst/>
          </a:prstGeom>
          <a:solidFill>
            <a:srgbClr val="E2E8F0"/>
          </a:solid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5943600"/>
            <a:ext cx="10881360" cy="548640"/>
          </a:xfrm>
          <a:prstGeom prst="roundRect">
            <a:avLst/>
          </a:prstGeom>
          <a:solidFill>
            <a:srgbClr val="ED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6035040"/>
            <a:ext cx="10149840" cy="365760"/>
          </a:xfrm>
          <a:prstGeom prst="rect">
            <a:avLst/>
          </a:prstGeom>
          <a:noFill/>
        </p:spPr>
        <p:txBody>
          <a:bodyPr wrap="none">
            <a:spAutoFit/>
          </a:bodyPr>
          <a:lstStyle/>
          <a:p>
            <a:r>
              <a:rPr sz="1200">
                <a:solidFill>
                  <a:srgbClr val="4A5568"/>
                </a:solidFill>
                <a:latin typeface="Segoe UI"/>
              </a:rPr>
              <a:t>🚗 5 hours  •  📍 175 km  •  🏨 Galle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40080" y="548640"/>
            <a:ext cx="1188720" cy="7315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r>
              <a:rPr b="1" sz="1600">
                <a:solidFill>
                  <a:srgbClr val="FFFFFF"/>
                </a:solidFill>
                <a:latin typeface="Segoe UI"/>
              </a:rPr>
              <a:t>DAY 8</a:t>
            </a:r>
          </a:p>
        </p:txBody>
      </p:sp>
      <p:sp>
        <p:nvSpPr>
          <p:cNvPr id="3" name="TextBox 2"/>
          <p:cNvSpPr txBox="1"/>
          <p:nvPr/>
        </p:nvSpPr>
        <p:spPr>
          <a:xfrm>
            <a:off x="2011680" y="502920"/>
            <a:ext cx="7315200" cy="548640"/>
          </a:xfrm>
          <a:prstGeom prst="rect">
            <a:avLst/>
          </a:prstGeom>
          <a:noFill/>
        </p:spPr>
        <p:txBody>
          <a:bodyPr wrap="none">
            <a:spAutoFit/>
          </a:bodyPr>
          <a:lstStyle/>
          <a:p>
            <a:r>
              <a:rPr sz="3200" b="1">
                <a:solidFill>
                  <a:srgbClr val="1A365D"/>
                </a:solidFill>
                <a:latin typeface="Segoe UI Light"/>
              </a:rPr>
              <a:t>Farewell Sri Lanka</a:t>
            </a:r>
          </a:p>
        </p:txBody>
      </p:sp>
      <p:sp>
        <p:nvSpPr>
          <p:cNvPr id="4" name="TextBox 3"/>
          <p:cNvSpPr txBox="1"/>
          <p:nvPr/>
        </p:nvSpPr>
        <p:spPr>
          <a:xfrm>
            <a:off x="2011680" y="1051560"/>
            <a:ext cx="2743200" cy="365760"/>
          </a:xfrm>
          <a:prstGeom prst="rect">
            <a:avLst/>
          </a:prstGeom>
          <a:noFill/>
        </p:spPr>
        <p:txBody>
          <a:bodyPr wrap="none">
            <a:spAutoFit/>
          </a:bodyPr>
          <a:lstStyle/>
          <a:p>
            <a:r>
              <a:rPr sz="1500">
                <a:solidFill>
                  <a:srgbClr val="718096"/>
                </a:solidFill>
                <a:latin typeface="Segoe UI"/>
              </a:rPr>
              <a:t>Colombo</a:t>
            </a:r>
          </a:p>
        </p:txBody>
      </p:sp>
      <p:sp>
        <p:nvSpPr>
          <p:cNvPr id="5" name="Rounded Rectangle 4"/>
          <p:cNvSpPr/>
          <p:nvPr/>
        </p:nvSpPr>
        <p:spPr>
          <a:xfrm>
            <a:off x="640080" y="1645920"/>
            <a:ext cx="6675120" cy="393192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5943600" cy="3383280"/>
          </a:xfrm>
          <a:prstGeom prst="rect">
            <a:avLst/>
          </a:prstGeom>
          <a:noFill/>
        </p:spPr>
        <p:txBody>
          <a:bodyPr wrap="square">
            <a:spAutoFit/>
          </a:bodyPr>
          <a:lstStyle/>
          <a:p>
            <a:pPr>
              <a:lnSpc>
                <a:spcPct val="130000"/>
              </a:lnSpc>
            </a:pPr>
            <a:r>
              <a:rPr sz="1400">
                <a:solidFill>
                  <a:srgbClr val="2D3748"/>
                </a:solidFill>
                <a:latin typeface="Segoe UI"/>
              </a:rPr>
              <a:t>• Breakfast at hotel</a:t>
            </a:r>
          </a:p>
          <a:p>
            <a:pPr>
              <a:lnSpc>
                <a:spcPct val="130000"/>
              </a:lnSpc>
              <a:spcBef>
                <a:spcPts val="1000"/>
              </a:spcBef>
            </a:pPr>
            <a:r>
              <a:rPr sz="1400">
                <a:solidFill>
                  <a:srgbClr val="2D3748"/>
                </a:solidFill>
                <a:latin typeface="Segoe UI"/>
              </a:rPr>
              <a:t>• Morning at leisure - optional beach time</a:t>
            </a:r>
          </a:p>
          <a:p>
            <a:pPr>
              <a:lnSpc>
                <a:spcPct val="130000"/>
              </a:lnSpc>
              <a:spcBef>
                <a:spcPts val="1000"/>
              </a:spcBef>
            </a:pPr>
            <a:r>
              <a:rPr sz="1400">
                <a:solidFill>
                  <a:srgbClr val="2D3748"/>
                </a:solidFill>
                <a:latin typeface="Segoe UI"/>
              </a:rPr>
              <a:t>• Check-out and drive to Colombo airport</a:t>
            </a:r>
          </a:p>
          <a:p>
            <a:pPr>
              <a:lnSpc>
                <a:spcPct val="130000"/>
              </a:lnSpc>
              <a:spcBef>
                <a:spcPts val="1000"/>
              </a:spcBef>
            </a:pPr>
            <a:r>
              <a:rPr sz="1400">
                <a:solidFill>
                  <a:srgbClr val="2D3748"/>
                </a:solidFill>
                <a:latin typeface="Segoe UI"/>
              </a:rPr>
              <a:t>• Last-minute shopping if time permits</a:t>
            </a:r>
          </a:p>
          <a:p>
            <a:pPr>
              <a:lnSpc>
                <a:spcPct val="130000"/>
              </a:lnSpc>
              <a:spcBef>
                <a:spcPts val="1000"/>
              </a:spcBef>
            </a:pPr>
            <a:r>
              <a:rPr sz="1400">
                <a:solidFill>
                  <a:srgbClr val="2D3748"/>
                </a:solidFill>
                <a:latin typeface="Segoe UI"/>
              </a:rPr>
              <a:t>• Departure from Bandaranaike International Airport</a:t>
            </a:r>
          </a:p>
          <a:p>
            <a:pPr>
              <a:lnSpc>
                <a:spcPct val="130000"/>
              </a:lnSpc>
              <a:spcBef>
                <a:spcPts val="1000"/>
              </a:spcBef>
            </a:pPr>
            <a:r>
              <a:rPr sz="1400">
                <a:solidFill>
                  <a:srgbClr val="2D3748"/>
                </a:solidFill>
                <a:latin typeface="Segoe UI"/>
              </a:rPr>
              <a:t>• End of memorable Sri Lankan journey</a:t>
            </a:r>
          </a:p>
        </p:txBody>
      </p:sp>
      <p:sp>
        <p:nvSpPr>
          <p:cNvPr id="7" name="Rounded Rectangle 6"/>
          <p:cNvSpPr/>
          <p:nvPr/>
        </p:nvSpPr>
        <p:spPr>
          <a:xfrm>
            <a:off x="7589520" y="1645920"/>
            <a:ext cx="3931920" cy="3200400"/>
          </a:xfrm>
          <a:prstGeom prst="roundRect">
            <a:avLst/>
          </a:prstGeom>
          <a:solidFill>
            <a:srgbClr val="E2E8F0"/>
          </a:solid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5943600"/>
            <a:ext cx="10881360" cy="548640"/>
          </a:xfrm>
          <a:prstGeom prst="roundRect">
            <a:avLst/>
          </a:prstGeom>
          <a:solidFill>
            <a:srgbClr val="ED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6035040"/>
            <a:ext cx="10149840" cy="365760"/>
          </a:xfrm>
          <a:prstGeom prst="rect">
            <a:avLst/>
          </a:prstGeom>
          <a:noFill/>
        </p:spPr>
        <p:txBody>
          <a:bodyPr wrap="none">
            <a:spAutoFit/>
          </a:bodyPr>
          <a:lstStyle/>
          <a:p>
            <a:r>
              <a:rPr sz="1200">
                <a:solidFill>
                  <a:srgbClr val="4A5568"/>
                </a:solidFill>
                <a:latin typeface="Segoe UI"/>
              </a:rPr>
              <a:t>🚗 3 hours  •  📍 145 km  •  🏨 N/A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548640"/>
          </a:xfrm>
          <a:prstGeom prst="rect">
            <a:avLst/>
          </a:prstGeom>
          <a:noFill/>
        </p:spPr>
        <p:txBody>
          <a:bodyPr wrap="none">
            <a:spAutoFit/>
          </a:bodyPr>
          <a:lstStyle/>
          <a:p>
            <a:r>
              <a:rPr sz="3600" b="1">
                <a:solidFill>
                  <a:srgbClr val="FFFFFF"/>
                </a:solidFill>
                <a:latin typeface="Segoe UI Light"/>
              </a:rPr>
              <a:t>What's Included</a:t>
            </a:r>
          </a:p>
        </p:txBody>
      </p:sp>
      <p:sp>
        <p:nvSpPr>
          <p:cNvPr id="4" name="Rounded Rectangle 3"/>
          <p:cNvSpPr/>
          <p:nvPr/>
        </p:nvSpPr>
        <p:spPr>
          <a:xfrm>
            <a:off x="640080" y="1463040"/>
            <a:ext cx="5486400" cy="4663440"/>
          </a:xfrm>
          <a:prstGeom prst="roundRect">
            <a:avLst/>
          </a:prstGeom>
          <a:solidFill>
            <a:srgbClr val="ECFDF5"/>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754880" cy="3931920"/>
          </a:xfrm>
          <a:prstGeom prst="rect">
            <a:avLst/>
          </a:prstGeom>
          <a:noFill/>
        </p:spPr>
        <p:txBody>
          <a:bodyPr wrap="square">
            <a:spAutoFit/>
          </a:bodyPr>
          <a:lstStyle/>
          <a:p>
            <a:r>
              <a:rPr sz="2400" b="1">
                <a:solidFill>
                  <a:srgbClr val="059669"/>
                </a:solidFill>
                <a:latin typeface="Segoe UI"/>
              </a:rPr>
              <a:t>✓ Inclusions</a:t>
            </a:r>
          </a:p>
          <a:p>
            <a:pPr>
              <a:spcBef>
                <a:spcPts val="800"/>
              </a:spcBef>
            </a:pPr>
            <a:r>
              <a:rPr sz="1400">
                <a:solidFill>
                  <a:srgbClr val="1F2937"/>
                </a:solidFill>
                <a:latin typeface="Segoe UI"/>
              </a:rPr>
              <a:t>✓ 7 nights accommodation in 4 &amp; 5 star hotels</a:t>
            </a:r>
          </a:p>
          <a:p>
            <a:pPr>
              <a:spcBef>
                <a:spcPts val="800"/>
              </a:spcBef>
            </a:pPr>
            <a:r>
              <a:rPr sz="1400">
                <a:solidFill>
                  <a:srgbClr val="1F2937"/>
                </a:solidFill>
                <a:latin typeface="Segoe UI"/>
              </a:rPr>
              <a:t>✓ Daily breakfast at all hotels</a:t>
            </a:r>
          </a:p>
          <a:p>
            <a:pPr>
              <a:spcBef>
                <a:spcPts val="800"/>
              </a:spcBef>
            </a:pPr>
            <a:r>
              <a:rPr sz="1400">
                <a:solidFill>
                  <a:srgbClr val="1F2937"/>
                </a:solidFill>
                <a:latin typeface="Segoe UI"/>
              </a:rPr>
              <a:t>✓ Welcome dinner on Day 1</a:t>
            </a:r>
          </a:p>
          <a:p>
            <a:pPr>
              <a:spcBef>
                <a:spcPts val="800"/>
              </a:spcBef>
            </a:pPr>
            <a:r>
              <a:rPr sz="1400">
                <a:solidFill>
                  <a:srgbClr val="1F2937"/>
                </a:solidFill>
                <a:latin typeface="Segoe UI"/>
              </a:rPr>
              <a:t>✓ 3 lunches at select restaurants</a:t>
            </a:r>
          </a:p>
          <a:p>
            <a:pPr>
              <a:spcBef>
                <a:spcPts val="800"/>
              </a:spcBef>
            </a:pPr>
            <a:r>
              <a:rPr sz="1400">
                <a:solidFill>
                  <a:srgbClr val="1F2937"/>
                </a:solidFill>
                <a:latin typeface="Segoe UI"/>
              </a:rPr>
              <a:t>✓ All entrance fees to monuments and sites</a:t>
            </a:r>
          </a:p>
          <a:p>
            <a:pPr>
              <a:spcBef>
                <a:spcPts val="800"/>
              </a:spcBef>
            </a:pPr>
            <a:r>
              <a:rPr sz="1400">
                <a:solidFill>
                  <a:srgbClr val="1F2937"/>
                </a:solidFill>
                <a:latin typeface="Segoe UI"/>
              </a:rPr>
              <a:t>✓ English-speaking professional guide throughout</a:t>
            </a:r>
          </a:p>
          <a:p>
            <a:pPr>
              <a:spcBef>
                <a:spcPts val="800"/>
              </a:spcBef>
            </a:pPr>
            <a:r>
              <a:rPr sz="1400">
                <a:solidFill>
                  <a:srgbClr val="1F2937"/>
                </a:solidFill>
                <a:latin typeface="Segoe UI"/>
              </a:rPr>
              <a:t>✓ Private air-conditioned vehicle for all transfers</a:t>
            </a:r>
          </a:p>
          <a:p>
            <a:pPr>
              <a:spcBef>
                <a:spcPts val="800"/>
              </a:spcBef>
            </a:pPr>
            <a:r>
              <a:rPr sz="1400">
                <a:solidFill>
                  <a:srgbClr val="1F2937"/>
                </a:solidFill>
                <a:latin typeface="Segoe UI"/>
              </a:rPr>
              <a:t>✓ Airport meet and greet service</a:t>
            </a:r>
          </a:p>
          <a:p>
            <a:pPr>
              <a:spcBef>
                <a:spcPts val="800"/>
              </a:spcBef>
            </a:pPr>
            <a:r>
              <a:rPr sz="1400">
                <a:solidFill>
                  <a:srgbClr val="1F2937"/>
                </a:solidFill>
                <a:latin typeface="Segoe UI"/>
              </a:rPr>
              <a:t>✓ Train tickets for Kandy to Nuwara Eliya scenic route</a:t>
            </a:r>
          </a:p>
          <a:p>
            <a:pPr>
              <a:spcBef>
                <a:spcPts val="800"/>
              </a:spcBef>
            </a:pPr>
            <a:r>
              <a:rPr sz="1400">
                <a:solidFill>
                  <a:srgbClr val="1F2937"/>
                </a:solidFill>
                <a:latin typeface="Segoe UI"/>
              </a:rPr>
              <a:t>✓ All activities mentioned in itinerary</a:t>
            </a:r>
          </a:p>
          <a:p>
            <a:pPr>
              <a:spcBef>
                <a:spcPts val="800"/>
              </a:spcBef>
            </a:pPr>
            <a:r>
              <a:rPr sz="1400">
                <a:solidFill>
                  <a:srgbClr val="1F2937"/>
                </a:solidFill>
                <a:latin typeface="Segoe UI"/>
              </a:rPr>
              <a:t>✓ High tea at Grand Hotel Nuwara Eliya</a:t>
            </a:r>
          </a:p>
          <a:p>
            <a:pPr>
              <a:spcBef>
                <a:spcPts val="800"/>
              </a:spcBef>
            </a:pPr>
            <a:r>
              <a:rPr sz="1400">
                <a:solidFill>
                  <a:srgbClr val="1F2937"/>
                </a:solidFill>
                <a:latin typeface="Segoe UI"/>
              </a:rPr>
              <a:t>✓ Bottled water during transfers</a:t>
            </a:r>
          </a:p>
          <a:p>
            <a:pPr>
              <a:spcBef>
                <a:spcPts val="800"/>
              </a:spcBef>
            </a:pPr>
            <a:r>
              <a:rPr sz="1400">
                <a:solidFill>
                  <a:srgbClr val="1F2937"/>
                </a:solidFill>
                <a:latin typeface="Segoe UI"/>
              </a:rPr>
              <a:t>✓ Hotel taxes and service charges</a:t>
            </a:r>
          </a:p>
        </p:txBody>
      </p:sp>
      <p:sp>
        <p:nvSpPr>
          <p:cNvPr id="6" name="Rounded Rectangle 5"/>
          <p:cNvSpPr/>
          <p:nvPr/>
        </p:nvSpPr>
        <p:spPr>
          <a:xfrm>
            <a:off x="6400800" y="1463040"/>
            <a:ext cx="5212080" cy="4663440"/>
          </a:xfrm>
          <a:prstGeom prst="roundRect">
            <a:avLst/>
          </a:prstGeom>
          <a:solidFill>
            <a:srgbClr val="FEF2F2"/>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1828800"/>
            <a:ext cx="4480560" cy="3931920"/>
          </a:xfrm>
          <a:prstGeom prst="rect">
            <a:avLst/>
          </a:prstGeom>
          <a:noFill/>
        </p:spPr>
        <p:txBody>
          <a:bodyPr wrap="square">
            <a:spAutoFit/>
          </a:bodyPr>
          <a:lstStyle/>
          <a:p>
            <a:r>
              <a:rPr sz="2400" b="1">
                <a:solidFill>
                  <a:srgbClr val="DC2626"/>
                </a:solidFill>
                <a:latin typeface="Segoe UI"/>
              </a:rPr>
              <a:t>✗ Exclusions</a:t>
            </a:r>
          </a:p>
          <a:p>
            <a:pPr>
              <a:spcBef>
                <a:spcPts val="800"/>
              </a:spcBef>
            </a:pPr>
            <a:r>
              <a:rPr sz="1400">
                <a:solidFill>
                  <a:srgbClr val="1F2937"/>
                </a:solidFill>
                <a:latin typeface="Segoe UI"/>
              </a:rPr>
              <a:t>✗ International and domestic airfare</a:t>
            </a:r>
          </a:p>
          <a:p>
            <a:pPr>
              <a:spcBef>
                <a:spcPts val="800"/>
              </a:spcBef>
            </a:pPr>
            <a:r>
              <a:rPr sz="1400">
                <a:solidFill>
                  <a:srgbClr val="1F2937"/>
                </a:solidFill>
                <a:latin typeface="Segoe UI"/>
              </a:rPr>
              <a:t>✗ Sri Lankan visa fees (ETA)</a:t>
            </a:r>
          </a:p>
          <a:p>
            <a:pPr>
              <a:spcBef>
                <a:spcPts val="800"/>
              </a:spcBef>
            </a:pPr>
            <a:r>
              <a:rPr sz="1400">
                <a:solidFill>
                  <a:srgbClr val="1F2937"/>
                </a:solidFill>
                <a:latin typeface="Segoe UI"/>
              </a:rPr>
              <a:t>✗ Travel insurance</a:t>
            </a:r>
          </a:p>
          <a:p>
            <a:pPr>
              <a:spcBef>
                <a:spcPts val="800"/>
              </a:spcBef>
            </a:pPr>
            <a:r>
              <a:rPr sz="1400">
                <a:solidFill>
                  <a:srgbClr val="1F2937"/>
                </a:solidFill>
                <a:latin typeface="Segoe UI"/>
              </a:rPr>
              <a:t>✗ Lunches and dinners not mentioned in itinerary</a:t>
            </a:r>
          </a:p>
          <a:p>
            <a:pPr>
              <a:spcBef>
                <a:spcPts val="800"/>
              </a:spcBef>
            </a:pPr>
            <a:r>
              <a:rPr sz="1400">
                <a:solidFill>
                  <a:srgbClr val="1F2937"/>
                </a:solidFill>
                <a:latin typeface="Segoe UI"/>
              </a:rPr>
              <a:t>✗ Optional activities and spa treatments</a:t>
            </a:r>
          </a:p>
          <a:p>
            <a:pPr>
              <a:spcBef>
                <a:spcPts val="800"/>
              </a:spcBef>
            </a:pPr>
            <a:r>
              <a:rPr sz="1400">
                <a:solidFill>
                  <a:srgbClr val="1F2937"/>
                </a:solidFill>
                <a:latin typeface="Segoe UI"/>
              </a:rPr>
              <a:t>✗ Personal expenses and shopping</a:t>
            </a:r>
          </a:p>
          <a:p>
            <a:pPr>
              <a:spcBef>
                <a:spcPts val="800"/>
              </a:spcBef>
            </a:pPr>
            <a:r>
              <a:rPr sz="1400">
                <a:solidFill>
                  <a:srgbClr val="1F2937"/>
                </a:solidFill>
                <a:latin typeface="Segoe UI"/>
              </a:rPr>
              <a:t>✗ Tips for guides and drivers</a:t>
            </a:r>
          </a:p>
          <a:p>
            <a:pPr>
              <a:spcBef>
                <a:spcPts val="800"/>
              </a:spcBef>
            </a:pPr>
            <a:r>
              <a:rPr sz="1400">
                <a:solidFill>
                  <a:srgbClr val="1F2937"/>
                </a:solidFill>
                <a:latin typeface="Segoe UI"/>
              </a:rPr>
              <a:t>✗ Camera fees at certain sites</a:t>
            </a:r>
          </a:p>
          <a:p>
            <a:pPr>
              <a:spcBef>
                <a:spcPts val="800"/>
              </a:spcBef>
            </a:pPr>
            <a:r>
              <a:rPr sz="1400">
                <a:solidFill>
                  <a:srgbClr val="1F2937"/>
                </a:solidFill>
                <a:latin typeface="Segoe UI"/>
              </a:rPr>
              <a:t>✗ Any services not mentioned in inclusions</a:t>
            </a:r>
          </a:p>
        </p:txBody>
      </p:sp>
      <p:sp>
        <p:nvSpPr>
          <p:cNvPr id="8" name="Rounded Rectangle 7"/>
          <p:cNvSpPr/>
          <p:nvPr/>
        </p:nvSpPr>
        <p:spPr>
          <a:xfrm>
            <a:off x="3840480" y="6263640"/>
            <a:ext cx="4572000" cy="457200"/>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b="1" sz="1800">
                <a:solidFill>
                  <a:srgbClr val="FFFFFF"/>
                </a:solidFill>
                <a:latin typeface="Segoe UI"/>
              </a:rPr>
              <a:t>Cost Per Person: ₹48,500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
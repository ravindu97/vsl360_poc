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7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2377440" cy="365760"/>
          </a:xfrm>
          <a:prstGeom prst="rect">
            <a:avLst/>
          </a:prstGeom>
          <a:noFill/>
        </p:spPr>
        <p:txBody>
          <a:bodyPr wrap="square" anchor="t">
            <a:spAutoFit/>
          </a:bodyPr>
          <a:lstStyle/>
          <a:p>
            <a:pPr algn="l"/>
            <a:r>
              <a:rPr sz="2000" b="1" i="0">
                <a:solidFill>
                  <a:srgbClr val="FFFFFF"/>
                </a:solidFill>
                <a:latin typeface="Segoe UI Semibold"/>
              </a:rPr>
              <a:t>VSL 360</a:t>
            </a:r>
          </a:p>
        </p:txBody>
      </p:sp>
      <p:sp>
        <p:nvSpPr>
          <p:cNvPr id="5" name="TextBox 4"/>
          <p:cNvSpPr txBox="1"/>
          <p:nvPr/>
        </p:nvSpPr>
        <p:spPr>
          <a:xfrm>
            <a:off x="658368" y="786384"/>
            <a:ext cx="2926080" cy="274320"/>
          </a:xfrm>
          <a:prstGeom prst="rect">
            <a:avLst/>
          </a:prstGeom>
          <a:noFill/>
        </p:spPr>
        <p:txBody>
          <a:bodyPr wrap="square" anchor="t">
            <a:spAutoFit/>
          </a:bodyPr>
          <a:lstStyle/>
          <a:p>
            <a:pPr algn="l"/>
            <a:r>
              <a:rPr sz="1100" b="0" i="0">
                <a:solidFill>
                  <a:srgbClr val="DDE6F1"/>
                </a:solidFill>
                <a:latin typeface="Segoe UI"/>
              </a:rPr>
              <a:t>TRAVEL ITINERARY</a:t>
            </a:r>
          </a:p>
        </p:txBody>
      </p:sp>
      <p:sp>
        <p:nvSpPr>
          <p:cNvPr id="6" name="TextBox 5"/>
          <p:cNvSpPr txBox="1"/>
          <p:nvPr/>
        </p:nvSpPr>
        <p:spPr>
          <a:xfrm>
            <a:off x="640080" y="1828800"/>
            <a:ext cx="8778240" cy="1645920"/>
          </a:xfrm>
          <a:prstGeom prst="rect">
            <a:avLst/>
          </a:prstGeom>
          <a:noFill/>
        </p:spPr>
        <p:txBody>
          <a:bodyPr wrap="square" anchor="t">
            <a:spAutoFit/>
          </a:bodyPr>
          <a:lstStyle/>
          <a:p>
            <a:pPr algn="l"/>
            <a:r>
              <a:rPr sz="5600" b="1" i="0">
                <a:solidFill>
                  <a:srgbClr val="FFFFFF"/>
                </a:solidFill>
                <a:latin typeface="Segoe UI Light"/>
              </a:rPr>
              <a:t>8 Days Tour in Sri Lanka</a:t>
            </a:r>
          </a:p>
        </p:txBody>
      </p:sp>
      <p:sp>
        <p:nvSpPr>
          <p:cNvPr id="7" name="TextBox 6"/>
          <p:cNvSpPr txBox="1"/>
          <p:nvPr/>
        </p:nvSpPr>
        <p:spPr>
          <a:xfrm>
            <a:off x="676656" y="3657600"/>
            <a:ext cx="4114800" cy="457200"/>
          </a:xfrm>
          <a:prstGeom prst="rect">
            <a:avLst/>
          </a:prstGeom>
          <a:noFill/>
        </p:spPr>
        <p:txBody>
          <a:bodyPr wrap="square" anchor="t">
            <a:spAutoFit/>
          </a:bodyPr>
          <a:lstStyle/>
          <a:p>
            <a:pPr algn="l"/>
            <a:r>
              <a:rPr sz="2400" b="0" i="1">
                <a:solidFill>
                  <a:srgbClr val="DCF7FC"/>
                </a:solidFill>
                <a:latin typeface="Segoe UI"/>
              </a:rPr>
              <a:t>Sri Lanka</a:t>
            </a:r>
          </a:p>
        </p:txBody>
      </p:sp>
      <p:sp>
        <p:nvSpPr>
          <p:cNvPr id="8" name="Rounded Rectangle 7"/>
          <p:cNvSpPr/>
          <p:nvPr/>
        </p:nvSpPr>
        <p:spPr>
          <a:xfrm>
            <a:off x="9189720" y="2011680"/>
            <a:ext cx="2331720" cy="1143000"/>
          </a:xfrm>
          <a:prstGeom prst="roundRect">
            <a:avLst/>
          </a:prstGeom>
          <a:solidFill>
            <a:srgbClr val="0CA6C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7 NIGHTS</a:t>
            </a:r>
          </a:p>
          <a:p>
            <a:pPr algn="ctr"/>
            <a:r>
              <a:rPr sz="1800" b="1">
                <a:solidFill>
                  <a:srgbClr val="FFFFFF"/>
                </a:solidFill>
                <a:latin typeface="Segoe UI"/>
              </a:rPr>
              <a:t>8 DAYS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8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
            <a:ext cx="4572000" cy="548640"/>
          </a:xfrm>
          <a:prstGeom prst="rect">
            <a:avLst/>
          </a:prstGeom>
          <a:noFill/>
        </p:spPr>
        <p:txBody>
          <a:bodyPr wrap="square" anchor="t">
            <a:spAutoFit/>
          </a:bodyPr>
          <a:lstStyle/>
          <a:p>
            <a:pPr algn="l"/>
            <a:r>
              <a:rPr sz="3400" b="1" i="0">
                <a:solidFill>
                  <a:srgbClr val="FFFFFF"/>
                </a:solidFill>
                <a:latin typeface="Segoe UI Light"/>
              </a:rPr>
              <a:t>Trip Overview</a:t>
            </a:r>
          </a:p>
        </p:txBody>
      </p:sp>
      <p:sp>
        <p:nvSpPr>
          <p:cNvPr id="5" name="Rounded Rectangle 4"/>
          <p:cNvSpPr/>
          <p:nvPr/>
        </p:nvSpPr>
        <p:spPr>
          <a:xfrm>
            <a:off x="640080" y="1234440"/>
            <a:ext cx="7223760" cy="50749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6583680" cy="4389120"/>
          </a:xfrm>
          <a:prstGeom prst="rect">
            <a:avLst/>
          </a:prstGeom>
          <a:noFill/>
        </p:spPr>
        <p:txBody>
          <a:bodyPr wrap="square" anchor="t">
            <a:spAutoFit/>
          </a:bodyPr>
          <a:lstStyle/>
          <a:p>
            <a:pPr algn="l"/>
            <a:r>
              <a:rPr sz="1600" b="0" i="0">
                <a:solidFill>
                  <a:srgbClr val="182234"/>
                </a:solidFill>
                <a:latin typeface="Segoe UI"/>
              </a:rPr>
              <a:t>Embark on an unforgettable journey through Sri Lanka, the Pearl of the Indian Ocean. This carefully curated 8-day adventure takes you from the bustling streets of Colombo to the ancient cultural wonders of Kandy, through the misty tea plantations of Nuwara Eliya, and down to the pristine southern coast. Experience the perfect blend of cultural heritage, natural beauty, and authentic Sri Lankan hospitality.</a:t>
            </a:r>
          </a:p>
        </p:txBody>
      </p:sp>
      <p:sp>
        <p:nvSpPr>
          <p:cNvPr id="7" name="Rounded Rectangle 6"/>
          <p:cNvSpPr/>
          <p:nvPr/>
        </p:nvSpPr>
        <p:spPr>
          <a:xfrm>
            <a:off x="8138160" y="1234440"/>
            <a:ext cx="3383280" cy="5074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0" y="1600200"/>
            <a:ext cx="2834640" cy="548640"/>
          </a:xfrm>
          <a:prstGeom prst="rect">
            <a:avLst/>
          </a:prstGeom>
          <a:noFill/>
        </p:spPr>
        <p:txBody>
          <a:bodyPr wrap="square" anchor="t">
            <a:spAutoFit/>
          </a:bodyPr>
          <a:lstStyle/>
          <a:p>
            <a:pPr algn="l"/>
            <a:r>
              <a:rPr sz="2100" b="1" i="0">
                <a:solidFill>
                  <a:srgbClr val="FFFFFF"/>
                </a:solidFill>
                <a:latin typeface="Segoe UI"/>
              </a:rPr>
              <a:t>Location Summary</a:t>
            </a:r>
          </a:p>
        </p:txBody>
      </p:sp>
      <p:sp>
        <p:nvSpPr>
          <p:cNvPr id="9" name="TextBox 8"/>
          <p:cNvSpPr txBox="1"/>
          <p:nvPr/>
        </p:nvSpPr>
        <p:spPr>
          <a:xfrm>
            <a:off x="8412480" y="2240280"/>
            <a:ext cx="2743200" cy="347472"/>
          </a:xfrm>
          <a:prstGeom prst="rect">
            <a:avLst/>
          </a:prstGeom>
          <a:noFill/>
        </p:spPr>
        <p:txBody>
          <a:bodyPr wrap="square" anchor="t">
            <a:spAutoFit/>
          </a:bodyPr>
          <a:lstStyle/>
          <a:p>
            <a:pPr algn="l"/>
            <a:r>
              <a:rPr sz="1400" b="0" i="0">
                <a:solidFill>
                  <a:srgbClr val="FFFFFF"/>
                </a:solidFill>
                <a:latin typeface="Segoe UI"/>
              </a:rPr>
              <a:t>• Colombo - 2 nights</a:t>
            </a:r>
          </a:p>
        </p:txBody>
      </p:sp>
      <p:sp>
        <p:nvSpPr>
          <p:cNvPr id="10" name="TextBox 9"/>
          <p:cNvSpPr txBox="1"/>
          <p:nvPr/>
        </p:nvSpPr>
        <p:spPr>
          <a:xfrm>
            <a:off x="8412480" y="2633472"/>
            <a:ext cx="2743200" cy="347472"/>
          </a:xfrm>
          <a:prstGeom prst="rect">
            <a:avLst/>
          </a:prstGeom>
          <a:noFill/>
        </p:spPr>
        <p:txBody>
          <a:bodyPr wrap="square" anchor="t">
            <a:spAutoFit/>
          </a:bodyPr>
          <a:lstStyle/>
          <a:p>
            <a:pPr algn="l"/>
            <a:r>
              <a:rPr sz="1400" b="0" i="0">
                <a:solidFill>
                  <a:srgbClr val="FFFFFF"/>
                </a:solidFill>
                <a:latin typeface="Segoe UI"/>
              </a:rPr>
              <a:t>• Kandy - 2 nights</a:t>
            </a:r>
          </a:p>
        </p:txBody>
      </p:sp>
      <p:sp>
        <p:nvSpPr>
          <p:cNvPr id="11" name="TextBox 10"/>
          <p:cNvSpPr txBox="1"/>
          <p:nvPr/>
        </p:nvSpPr>
        <p:spPr>
          <a:xfrm>
            <a:off x="8412480" y="3026664"/>
            <a:ext cx="2743200" cy="347472"/>
          </a:xfrm>
          <a:prstGeom prst="rect">
            <a:avLst/>
          </a:prstGeom>
          <a:noFill/>
        </p:spPr>
        <p:txBody>
          <a:bodyPr wrap="square" anchor="t">
            <a:spAutoFit/>
          </a:bodyPr>
          <a:lstStyle/>
          <a:p>
            <a:pPr algn="l"/>
            <a:r>
              <a:rPr sz="1400" b="0" i="0">
                <a:solidFill>
                  <a:srgbClr val="FFFFFF"/>
                </a:solidFill>
                <a:latin typeface="Segoe UI"/>
              </a:rPr>
              <a:t>• Nuwara Eliya - 2 nights</a:t>
            </a:r>
          </a:p>
        </p:txBody>
      </p:sp>
      <p:sp>
        <p:nvSpPr>
          <p:cNvPr id="12" name="TextBox 11"/>
          <p:cNvSpPr txBox="1"/>
          <p:nvPr/>
        </p:nvSpPr>
        <p:spPr>
          <a:xfrm>
            <a:off x="8412480" y="3419856"/>
            <a:ext cx="2743200" cy="347472"/>
          </a:xfrm>
          <a:prstGeom prst="rect">
            <a:avLst/>
          </a:prstGeom>
          <a:noFill/>
        </p:spPr>
        <p:txBody>
          <a:bodyPr wrap="square" anchor="t">
            <a:spAutoFit/>
          </a:bodyPr>
          <a:lstStyle/>
          <a:p>
            <a:pPr algn="l"/>
            <a:r>
              <a:rPr sz="1400" b="0" i="0">
                <a:solidFill>
                  <a:srgbClr val="FFFFFF"/>
                </a:solidFill>
                <a:latin typeface="Segoe UI"/>
              </a:rPr>
              <a:t>• Galle - 1 night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029200" cy="548640"/>
          </a:xfrm>
          <a:prstGeom prst="rect">
            <a:avLst/>
          </a:prstGeom>
          <a:noFill/>
        </p:spPr>
        <p:txBody>
          <a:bodyPr wrap="square" anchor="t">
            <a:spAutoFit/>
          </a:bodyPr>
          <a:lstStyle/>
          <a:p>
            <a:pPr algn="l"/>
            <a:r>
              <a:rPr sz="3400" b="1" i="0">
                <a:solidFill>
                  <a:srgbClr val="182234"/>
                </a:solidFill>
                <a:latin typeface="Segoe UI Light"/>
              </a:rPr>
              <a:t>Route At A Glance</a:t>
            </a:r>
          </a:p>
        </p:txBody>
      </p:sp>
      <p:sp>
        <p:nvSpPr>
          <p:cNvPr id="4" name="Rectangle 3"/>
          <p:cNvSpPr/>
          <p:nvPr/>
        </p:nvSpPr>
        <p:spPr>
          <a:xfrm>
            <a:off x="914400" y="2926080"/>
            <a:ext cx="10241280" cy="54864"/>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2743200"/>
            <a:ext cx="274320" cy="274320"/>
          </a:xfrm>
          <a:prstGeom prst="roundRect">
            <a:avLst/>
          </a:prstGeom>
          <a:solidFill>
            <a:srgbClr val="0CA6C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39" y="3154680"/>
            <a:ext cx="1645920" cy="411480"/>
          </a:xfrm>
          <a:prstGeom prst="rect">
            <a:avLst/>
          </a:prstGeom>
          <a:noFill/>
        </p:spPr>
        <p:txBody>
          <a:bodyPr wrap="square" anchor="t">
            <a:spAutoFit/>
          </a:bodyPr>
          <a:lstStyle/>
          <a:p>
            <a:pPr algn="ctr"/>
            <a:r>
              <a:rPr sz="1300" b="1" i="0">
                <a:solidFill>
                  <a:srgbClr val="182234"/>
                </a:solidFill>
                <a:latin typeface="Segoe UI"/>
              </a:rPr>
              <a:t>Colombo</a:t>
            </a:r>
          </a:p>
        </p:txBody>
      </p:sp>
      <p:sp>
        <p:nvSpPr>
          <p:cNvPr id="7" name="Rounded Rectangle 6"/>
          <p:cNvSpPr/>
          <p:nvPr/>
        </p:nvSpPr>
        <p:spPr>
          <a:xfrm>
            <a:off x="3337560" y="2743200"/>
            <a:ext cx="274320" cy="274320"/>
          </a:xfrm>
          <a:prstGeom prst="roundRect">
            <a:avLst/>
          </a:prstGeom>
          <a:solidFill>
            <a:srgbClr val="0CA6C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651760" y="3154680"/>
            <a:ext cx="1645920" cy="411480"/>
          </a:xfrm>
          <a:prstGeom prst="rect">
            <a:avLst/>
          </a:prstGeom>
          <a:noFill/>
        </p:spPr>
        <p:txBody>
          <a:bodyPr wrap="square" anchor="t">
            <a:spAutoFit/>
          </a:bodyPr>
          <a:lstStyle/>
          <a:p>
            <a:pPr algn="ctr"/>
            <a:r>
              <a:rPr sz="1300" b="1" i="0">
                <a:solidFill>
                  <a:srgbClr val="182234"/>
                </a:solidFill>
                <a:latin typeface="Segoe UI"/>
              </a:rPr>
              <a:t>Kandy</a:t>
            </a:r>
          </a:p>
        </p:txBody>
      </p:sp>
      <p:sp>
        <p:nvSpPr>
          <p:cNvPr id="9" name="Rounded Rectangle 8"/>
          <p:cNvSpPr/>
          <p:nvPr/>
        </p:nvSpPr>
        <p:spPr>
          <a:xfrm>
            <a:off x="5897879" y="2743200"/>
            <a:ext cx="274320" cy="274320"/>
          </a:xfrm>
          <a:prstGeom prst="roundRect">
            <a:avLst/>
          </a:prstGeom>
          <a:solidFill>
            <a:srgbClr val="0CA6C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79" y="3154680"/>
            <a:ext cx="1645920" cy="411480"/>
          </a:xfrm>
          <a:prstGeom prst="rect">
            <a:avLst/>
          </a:prstGeom>
          <a:noFill/>
        </p:spPr>
        <p:txBody>
          <a:bodyPr wrap="square" anchor="t">
            <a:spAutoFit/>
          </a:bodyPr>
          <a:lstStyle/>
          <a:p>
            <a:pPr algn="ctr"/>
            <a:r>
              <a:rPr sz="1300" b="1" i="0">
                <a:solidFill>
                  <a:srgbClr val="182234"/>
                </a:solidFill>
                <a:latin typeface="Segoe UI"/>
              </a:rPr>
              <a:t>Nuwara Eliya</a:t>
            </a:r>
          </a:p>
        </p:txBody>
      </p:sp>
      <p:sp>
        <p:nvSpPr>
          <p:cNvPr id="11" name="Rounded Rectangle 10"/>
          <p:cNvSpPr/>
          <p:nvPr/>
        </p:nvSpPr>
        <p:spPr>
          <a:xfrm>
            <a:off x="8458199" y="2743200"/>
            <a:ext cx="274320" cy="274320"/>
          </a:xfrm>
          <a:prstGeom prst="roundRect">
            <a:avLst/>
          </a:prstGeom>
          <a:solidFill>
            <a:srgbClr val="0CA6C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399" y="3154680"/>
            <a:ext cx="1645920" cy="411480"/>
          </a:xfrm>
          <a:prstGeom prst="rect">
            <a:avLst/>
          </a:prstGeom>
          <a:noFill/>
        </p:spPr>
        <p:txBody>
          <a:bodyPr wrap="square" anchor="t">
            <a:spAutoFit/>
          </a:bodyPr>
          <a:lstStyle/>
          <a:p>
            <a:pPr algn="ctr"/>
            <a:r>
              <a:rPr sz="1300" b="1" i="0">
                <a:solidFill>
                  <a:srgbClr val="182234"/>
                </a:solidFill>
                <a:latin typeface="Segoe UI"/>
              </a:rPr>
              <a:t>Galle</a:t>
            </a:r>
          </a:p>
        </p:txBody>
      </p:sp>
      <p:sp>
        <p:nvSpPr>
          <p:cNvPr id="13" name="Rounded Rectangle 12"/>
          <p:cNvSpPr/>
          <p:nvPr/>
        </p:nvSpPr>
        <p:spPr>
          <a:xfrm>
            <a:off x="11018519" y="2743200"/>
            <a:ext cx="274320" cy="274320"/>
          </a:xfrm>
          <a:prstGeom prst="roundRect">
            <a:avLst/>
          </a:prstGeom>
          <a:solidFill>
            <a:srgbClr val="0CA6C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332719" y="3154680"/>
            <a:ext cx="1645920" cy="411480"/>
          </a:xfrm>
          <a:prstGeom prst="rect">
            <a:avLst/>
          </a:prstGeom>
          <a:noFill/>
        </p:spPr>
        <p:txBody>
          <a:bodyPr wrap="square" anchor="t">
            <a:spAutoFit/>
          </a:bodyPr>
          <a:lstStyle/>
          <a:p>
            <a:pPr algn="ctr"/>
            <a:r>
              <a:rPr sz="1300" b="1" i="0">
                <a:solidFill>
                  <a:srgbClr val="182234"/>
                </a:solidFill>
                <a:latin typeface="Segoe UI"/>
              </a:rPr>
              <a:t>Colombo</a:t>
            </a:r>
          </a:p>
        </p:txBody>
      </p:sp>
      <p:sp>
        <p:nvSpPr>
          <p:cNvPr id="15" name="Rounded Rectangle 14"/>
          <p:cNvSpPr/>
          <p:nvPr/>
        </p:nvSpPr>
        <p:spPr>
          <a:xfrm>
            <a:off x="640080" y="5120640"/>
            <a:ext cx="10972800" cy="10972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86400"/>
            <a:ext cx="10332720" cy="411480"/>
          </a:xfrm>
          <a:prstGeom prst="rect">
            <a:avLst/>
          </a:prstGeom>
          <a:noFill/>
        </p:spPr>
        <p:txBody>
          <a:bodyPr wrap="square" anchor="t">
            <a:spAutoFit/>
          </a:bodyPr>
          <a:lstStyle/>
          <a:p>
            <a:pPr algn="ctr"/>
            <a:r>
              <a:rPr sz="1500" b="0" i="0">
                <a:solidFill>
                  <a:srgbClr val="626F84"/>
                </a:solidFill>
                <a:latin typeface="Segoe UI"/>
              </a:rPr>
              <a:t>8 days • 7 nights • Curated experiences across key destinations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1"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3736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1</a:t>
            </a:r>
          </a:p>
        </p:txBody>
      </p:sp>
      <p:sp>
        <p:nvSpPr>
          <p:cNvPr id="8" name="TextBox 7"/>
          <p:cNvSpPr txBox="1"/>
          <p:nvPr/>
        </p:nvSpPr>
        <p:spPr>
          <a:xfrm>
            <a:off x="6400800" y="1572768"/>
            <a:ext cx="5029200" cy="658368"/>
          </a:xfrm>
          <a:prstGeom prst="rect">
            <a:avLst/>
          </a:prstGeom>
          <a:noFill/>
        </p:spPr>
        <p:txBody>
          <a:bodyPr wrap="square" anchor="t">
            <a:spAutoFit/>
          </a:bodyPr>
          <a:lstStyle/>
          <a:p>
            <a:pPr algn="l"/>
            <a:r>
              <a:rPr sz="2800" b="1" i="0">
                <a:solidFill>
                  <a:srgbClr val="182234"/>
                </a:solidFill>
                <a:latin typeface="Segoe UI Semibold"/>
              </a:rPr>
              <a:t>Welcome to Sri Lanka</a:t>
            </a:r>
          </a:p>
        </p:txBody>
      </p:sp>
      <p:sp>
        <p:nvSpPr>
          <p:cNvPr id="9" name="TextBox 8"/>
          <p:cNvSpPr txBox="1"/>
          <p:nvPr/>
        </p:nvSpPr>
        <p:spPr>
          <a:xfrm>
            <a:off x="6400800" y="2212848"/>
            <a:ext cx="3200400" cy="365760"/>
          </a:xfrm>
          <a:prstGeom prst="rect">
            <a:avLst/>
          </a:prstGeom>
          <a:noFill/>
        </p:spPr>
        <p:txBody>
          <a:bodyPr wrap="square" anchor="t">
            <a:spAutoFit/>
          </a:bodyPr>
          <a:lstStyle/>
          <a:p>
            <a:pPr algn="l"/>
            <a:r>
              <a:rPr sz="1500" b="0" i="0">
                <a:solidFill>
                  <a:srgbClr val="626F84"/>
                </a:solidFill>
                <a:latin typeface="Segoe UI"/>
              </a:rPr>
              <a:t>Colombo</a:t>
            </a:r>
          </a:p>
        </p:txBody>
      </p:sp>
      <p:sp>
        <p:nvSpPr>
          <p:cNvPr id="10" name="TextBox 9"/>
          <p:cNvSpPr txBox="1"/>
          <p:nvPr/>
        </p:nvSpPr>
        <p:spPr>
          <a:xfrm>
            <a:off x="6400800" y="2697480"/>
            <a:ext cx="5120640" cy="347472"/>
          </a:xfrm>
          <a:prstGeom prst="rect">
            <a:avLst/>
          </a:prstGeom>
          <a:noFill/>
        </p:spPr>
        <p:txBody>
          <a:bodyPr wrap="square" anchor="t">
            <a:spAutoFit/>
          </a:bodyPr>
          <a:lstStyle/>
          <a:p>
            <a:pPr algn="l"/>
            <a:r>
              <a:rPr sz="1300" b="0" i="0">
                <a:solidFill>
                  <a:srgbClr val="182234"/>
                </a:solidFill>
                <a:latin typeface="Segoe UI"/>
              </a:rPr>
              <a:t>• Arrive at Bandaranaike International Airport</a:t>
            </a:r>
          </a:p>
        </p:txBody>
      </p:sp>
      <p:sp>
        <p:nvSpPr>
          <p:cNvPr id="11" name="TextBox 10"/>
          <p:cNvSpPr txBox="1"/>
          <p:nvPr/>
        </p:nvSpPr>
        <p:spPr>
          <a:xfrm>
            <a:off x="6400800" y="3090672"/>
            <a:ext cx="5120640" cy="347472"/>
          </a:xfrm>
          <a:prstGeom prst="rect">
            <a:avLst/>
          </a:prstGeom>
          <a:noFill/>
        </p:spPr>
        <p:txBody>
          <a:bodyPr wrap="square" anchor="t">
            <a:spAutoFit/>
          </a:bodyPr>
          <a:lstStyle/>
          <a:p>
            <a:pPr algn="l"/>
            <a:r>
              <a:rPr sz="1300" b="0" i="0">
                <a:solidFill>
                  <a:srgbClr val="182234"/>
                </a:solidFill>
                <a:latin typeface="Segoe UI"/>
              </a:rPr>
              <a:t>• Meet and greet by VSL 360 representative</a:t>
            </a:r>
          </a:p>
        </p:txBody>
      </p:sp>
      <p:sp>
        <p:nvSpPr>
          <p:cNvPr id="12" name="TextBox 11"/>
          <p:cNvSpPr txBox="1"/>
          <p:nvPr/>
        </p:nvSpPr>
        <p:spPr>
          <a:xfrm>
            <a:off x="6400800" y="3483864"/>
            <a:ext cx="5120640" cy="347472"/>
          </a:xfrm>
          <a:prstGeom prst="rect">
            <a:avLst/>
          </a:prstGeom>
          <a:noFill/>
        </p:spPr>
        <p:txBody>
          <a:bodyPr wrap="square" anchor="t">
            <a:spAutoFit/>
          </a:bodyPr>
          <a:lstStyle/>
          <a:p>
            <a:pPr algn="l"/>
            <a:r>
              <a:rPr sz="1300" b="0" i="0">
                <a:solidFill>
                  <a:srgbClr val="182234"/>
                </a:solidFill>
                <a:latin typeface="Segoe UI"/>
              </a:rPr>
              <a:t>• Transfer to hotel in Colombo (30 mins)</a:t>
            </a:r>
          </a:p>
        </p:txBody>
      </p:sp>
      <p:sp>
        <p:nvSpPr>
          <p:cNvPr id="13" name="TextBox 12"/>
          <p:cNvSpPr txBox="1"/>
          <p:nvPr/>
        </p:nvSpPr>
        <p:spPr>
          <a:xfrm>
            <a:off x="6400800" y="3877056"/>
            <a:ext cx="5120640" cy="347472"/>
          </a:xfrm>
          <a:prstGeom prst="rect">
            <a:avLst/>
          </a:prstGeom>
          <a:noFill/>
        </p:spPr>
        <p:txBody>
          <a:bodyPr wrap="square" anchor="t">
            <a:spAutoFit/>
          </a:bodyPr>
          <a:lstStyle/>
          <a:p>
            <a:pPr algn="l"/>
            <a:r>
              <a:rPr sz="1300" b="0" i="0">
                <a:solidFill>
                  <a:srgbClr val="182234"/>
                </a:solidFill>
                <a:latin typeface="Segoe UI"/>
              </a:rPr>
              <a:t>• Check-in and freshen up</a:t>
            </a:r>
          </a:p>
        </p:txBody>
      </p:sp>
      <p:sp>
        <p:nvSpPr>
          <p:cNvPr id="14" name="TextBox 13"/>
          <p:cNvSpPr txBox="1"/>
          <p:nvPr/>
        </p:nvSpPr>
        <p:spPr>
          <a:xfrm>
            <a:off x="6400800" y="4270248"/>
            <a:ext cx="5120640" cy="347472"/>
          </a:xfrm>
          <a:prstGeom prst="rect">
            <a:avLst/>
          </a:prstGeom>
          <a:noFill/>
        </p:spPr>
        <p:txBody>
          <a:bodyPr wrap="square" anchor="t">
            <a:spAutoFit/>
          </a:bodyPr>
          <a:lstStyle/>
          <a:p>
            <a:pPr algn="l"/>
            <a:r>
              <a:rPr sz="1300" b="0" i="0">
                <a:solidFill>
                  <a:srgbClr val="182234"/>
                </a:solidFill>
                <a:latin typeface="Segoe UI"/>
              </a:rPr>
              <a:t>• Welcome dinner featuring traditional Sri Lankan cuisine</a:t>
            </a:r>
          </a:p>
        </p:txBody>
      </p:sp>
      <p:sp>
        <p:nvSpPr>
          <p:cNvPr id="15" name="Rounded Rectangle 14"/>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30 minutes   |   Distance: 35 km   |   Overnight: Colombo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88352"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2</a:t>
            </a:r>
          </a:p>
        </p:txBody>
      </p:sp>
      <p:sp>
        <p:nvSpPr>
          <p:cNvPr id="8" name="TextBox 7"/>
          <p:cNvSpPr txBox="1"/>
          <p:nvPr/>
        </p:nvSpPr>
        <p:spPr>
          <a:xfrm>
            <a:off x="640080" y="1572768"/>
            <a:ext cx="5029200" cy="658368"/>
          </a:xfrm>
          <a:prstGeom prst="rect">
            <a:avLst/>
          </a:prstGeom>
          <a:noFill/>
        </p:spPr>
        <p:txBody>
          <a:bodyPr wrap="square" anchor="t">
            <a:spAutoFit/>
          </a:bodyPr>
          <a:lstStyle/>
          <a:p>
            <a:pPr algn="l"/>
            <a:r>
              <a:rPr sz="2800" b="1" i="0">
                <a:solidFill>
                  <a:srgbClr val="182234"/>
                </a:solidFill>
                <a:latin typeface="Segoe UI Semibold"/>
              </a:rPr>
              <a:t>Discovering Colombo</a:t>
            </a:r>
          </a:p>
        </p:txBody>
      </p:sp>
      <p:sp>
        <p:nvSpPr>
          <p:cNvPr id="9" name="TextBox 8"/>
          <p:cNvSpPr txBox="1"/>
          <p:nvPr/>
        </p:nvSpPr>
        <p:spPr>
          <a:xfrm>
            <a:off x="640080" y="2212848"/>
            <a:ext cx="3200400" cy="365760"/>
          </a:xfrm>
          <a:prstGeom prst="rect">
            <a:avLst/>
          </a:prstGeom>
          <a:noFill/>
        </p:spPr>
        <p:txBody>
          <a:bodyPr wrap="square" anchor="t">
            <a:spAutoFit/>
          </a:bodyPr>
          <a:lstStyle/>
          <a:p>
            <a:pPr algn="l"/>
            <a:r>
              <a:rPr sz="1500" b="0" i="0">
                <a:solidFill>
                  <a:srgbClr val="626F84"/>
                </a:solidFill>
                <a:latin typeface="Segoe UI"/>
              </a:rPr>
              <a:t>Colombo</a:t>
            </a:r>
          </a:p>
        </p:txBody>
      </p:sp>
      <p:sp>
        <p:nvSpPr>
          <p:cNvPr id="10" name="TextBox 9"/>
          <p:cNvSpPr txBox="1"/>
          <p:nvPr/>
        </p:nvSpPr>
        <p:spPr>
          <a:xfrm>
            <a:off x="640080" y="2697480"/>
            <a:ext cx="5120640" cy="347472"/>
          </a:xfrm>
          <a:prstGeom prst="rect">
            <a:avLst/>
          </a:prstGeom>
          <a:noFill/>
        </p:spPr>
        <p:txBody>
          <a:bodyPr wrap="square" anchor="t">
            <a:spAutoFit/>
          </a:bodyPr>
          <a:lstStyle/>
          <a:p>
            <a:pPr algn="l"/>
            <a:r>
              <a:rPr sz="1300" b="0" i="0">
                <a:solidFill>
                  <a:srgbClr val="182234"/>
                </a:solidFill>
                <a:latin typeface="Segoe UI"/>
              </a:rPr>
              <a:t>• Breakfast at hotel</a:t>
            </a:r>
          </a:p>
        </p:txBody>
      </p:sp>
      <p:sp>
        <p:nvSpPr>
          <p:cNvPr id="11" name="TextBox 10"/>
          <p:cNvSpPr txBox="1"/>
          <p:nvPr/>
        </p:nvSpPr>
        <p:spPr>
          <a:xfrm>
            <a:off x="640080" y="3090672"/>
            <a:ext cx="5120640" cy="347472"/>
          </a:xfrm>
          <a:prstGeom prst="rect">
            <a:avLst/>
          </a:prstGeom>
          <a:noFill/>
        </p:spPr>
        <p:txBody>
          <a:bodyPr wrap="square" anchor="t">
            <a:spAutoFit/>
          </a:bodyPr>
          <a:lstStyle/>
          <a:p>
            <a:pPr algn="l"/>
            <a:r>
              <a:rPr sz="1300" b="0" i="0">
                <a:solidFill>
                  <a:srgbClr val="182234"/>
                </a:solidFill>
                <a:latin typeface="Segoe UI"/>
              </a:rPr>
              <a:t>• Guided city tour: Galle Face Green, Independence Square &amp; colonial buildings</a:t>
            </a:r>
          </a:p>
        </p:txBody>
      </p:sp>
      <p:sp>
        <p:nvSpPr>
          <p:cNvPr id="12" name="TextBox 11"/>
          <p:cNvSpPr txBox="1"/>
          <p:nvPr/>
        </p:nvSpPr>
        <p:spPr>
          <a:xfrm>
            <a:off x="640080" y="3483864"/>
            <a:ext cx="5120640" cy="347472"/>
          </a:xfrm>
          <a:prstGeom prst="rect">
            <a:avLst/>
          </a:prstGeom>
          <a:noFill/>
        </p:spPr>
        <p:txBody>
          <a:bodyPr wrap="square" anchor="t">
            <a:spAutoFit/>
          </a:bodyPr>
          <a:lstStyle/>
          <a:p>
            <a:pPr algn="l"/>
            <a:r>
              <a:rPr sz="1300" b="0" i="0">
                <a:solidFill>
                  <a:srgbClr val="182234"/>
                </a:solidFill>
                <a:latin typeface="Segoe UI"/>
              </a:rPr>
              <a:t>• Visit Gangaramaya Temple - Buddhist temple complex</a:t>
            </a:r>
          </a:p>
        </p:txBody>
      </p:sp>
      <p:sp>
        <p:nvSpPr>
          <p:cNvPr id="13" name="TextBox 12"/>
          <p:cNvSpPr txBox="1"/>
          <p:nvPr/>
        </p:nvSpPr>
        <p:spPr>
          <a:xfrm>
            <a:off x="640080" y="3877056"/>
            <a:ext cx="5120640" cy="347472"/>
          </a:xfrm>
          <a:prstGeom prst="rect">
            <a:avLst/>
          </a:prstGeom>
          <a:noFill/>
        </p:spPr>
        <p:txBody>
          <a:bodyPr wrap="square" anchor="t">
            <a:spAutoFit/>
          </a:bodyPr>
          <a:lstStyle/>
          <a:p>
            <a:pPr algn="l"/>
            <a:r>
              <a:rPr sz="1300" b="0" i="0">
                <a:solidFill>
                  <a:srgbClr val="182234"/>
                </a:solidFill>
                <a:latin typeface="Segoe UI"/>
              </a:rPr>
              <a:t>• Lunch at Ministry of Crab (famous seafood restaurant)</a:t>
            </a:r>
          </a:p>
        </p:txBody>
      </p:sp>
      <p:sp>
        <p:nvSpPr>
          <p:cNvPr id="14" name="TextBox 13"/>
          <p:cNvSpPr txBox="1"/>
          <p:nvPr/>
        </p:nvSpPr>
        <p:spPr>
          <a:xfrm>
            <a:off x="640080" y="4270248"/>
            <a:ext cx="5120640" cy="347472"/>
          </a:xfrm>
          <a:prstGeom prst="rect">
            <a:avLst/>
          </a:prstGeom>
          <a:noFill/>
        </p:spPr>
        <p:txBody>
          <a:bodyPr wrap="square" anchor="t">
            <a:spAutoFit/>
          </a:bodyPr>
          <a:lstStyle/>
          <a:p>
            <a:pPr algn="l"/>
            <a:r>
              <a:rPr sz="1300" b="0" i="0">
                <a:solidFill>
                  <a:srgbClr val="182234"/>
                </a:solidFill>
                <a:latin typeface="Segoe UI"/>
              </a:rPr>
              <a:t>• Colombo National Museum - explore Sri Lankan history</a:t>
            </a:r>
          </a:p>
        </p:txBody>
      </p:sp>
      <p:sp>
        <p:nvSpPr>
          <p:cNvPr id="15" name="TextBox 14"/>
          <p:cNvSpPr txBox="1"/>
          <p:nvPr/>
        </p:nvSpPr>
        <p:spPr>
          <a:xfrm>
            <a:off x="640080" y="4663440"/>
            <a:ext cx="5120640" cy="347472"/>
          </a:xfrm>
          <a:prstGeom prst="rect">
            <a:avLst/>
          </a:prstGeom>
          <a:noFill/>
        </p:spPr>
        <p:txBody>
          <a:bodyPr wrap="square" anchor="t">
            <a:spAutoFit/>
          </a:bodyPr>
          <a:lstStyle/>
          <a:p>
            <a:pPr algn="l"/>
            <a:r>
              <a:rPr sz="1300" b="0" i="0">
                <a:solidFill>
                  <a:srgbClr val="182234"/>
                </a:solidFill>
                <a:latin typeface="Segoe UI"/>
              </a:rPr>
              <a:t>• Shopping at Barefoot Gallery and Odel</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N/A   |   Distance: City tour   |   Overnight: Colombo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1"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3736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3</a:t>
            </a:r>
          </a:p>
        </p:txBody>
      </p:sp>
      <p:sp>
        <p:nvSpPr>
          <p:cNvPr id="8" name="TextBox 7"/>
          <p:cNvSpPr txBox="1"/>
          <p:nvPr/>
        </p:nvSpPr>
        <p:spPr>
          <a:xfrm>
            <a:off x="6400800" y="1572768"/>
            <a:ext cx="5029200" cy="658368"/>
          </a:xfrm>
          <a:prstGeom prst="rect">
            <a:avLst/>
          </a:prstGeom>
          <a:noFill/>
        </p:spPr>
        <p:txBody>
          <a:bodyPr wrap="square" anchor="t">
            <a:spAutoFit/>
          </a:bodyPr>
          <a:lstStyle/>
          <a:p>
            <a:pPr algn="l"/>
            <a:r>
              <a:rPr sz="2800" b="1" i="0">
                <a:solidFill>
                  <a:srgbClr val="182234"/>
                </a:solidFill>
                <a:latin typeface="Segoe UI Semibold"/>
              </a:rPr>
              <a:t>Journey to the Cultural Capital</a:t>
            </a:r>
          </a:p>
        </p:txBody>
      </p:sp>
      <p:sp>
        <p:nvSpPr>
          <p:cNvPr id="9" name="TextBox 8"/>
          <p:cNvSpPr txBox="1"/>
          <p:nvPr/>
        </p:nvSpPr>
        <p:spPr>
          <a:xfrm>
            <a:off x="6400800" y="2212848"/>
            <a:ext cx="3200400" cy="365760"/>
          </a:xfrm>
          <a:prstGeom prst="rect">
            <a:avLst/>
          </a:prstGeom>
          <a:noFill/>
        </p:spPr>
        <p:txBody>
          <a:bodyPr wrap="square" anchor="t">
            <a:spAutoFit/>
          </a:bodyPr>
          <a:lstStyle/>
          <a:p>
            <a:pPr algn="l"/>
            <a:r>
              <a:rPr sz="1500" b="0" i="0">
                <a:solidFill>
                  <a:srgbClr val="626F84"/>
                </a:solidFill>
                <a:latin typeface="Segoe UI"/>
              </a:rPr>
              <a:t>Kandy</a:t>
            </a:r>
          </a:p>
        </p:txBody>
      </p:sp>
      <p:sp>
        <p:nvSpPr>
          <p:cNvPr id="10" name="TextBox 9"/>
          <p:cNvSpPr txBox="1"/>
          <p:nvPr/>
        </p:nvSpPr>
        <p:spPr>
          <a:xfrm>
            <a:off x="6400800" y="2697480"/>
            <a:ext cx="5120640" cy="347472"/>
          </a:xfrm>
          <a:prstGeom prst="rect">
            <a:avLst/>
          </a:prstGeom>
          <a:noFill/>
        </p:spPr>
        <p:txBody>
          <a:bodyPr wrap="square" anchor="t">
            <a:spAutoFit/>
          </a:bodyPr>
          <a:lstStyle/>
          <a:p>
            <a:pPr algn="l"/>
            <a:r>
              <a:rPr sz="1300" b="0" i="0">
                <a:solidFill>
                  <a:srgbClr val="182234"/>
                </a:solidFill>
                <a:latin typeface="Segoe UI"/>
              </a:rPr>
              <a:t>• Breakfast and check-out</a:t>
            </a:r>
          </a:p>
        </p:txBody>
      </p:sp>
      <p:sp>
        <p:nvSpPr>
          <p:cNvPr id="11" name="TextBox 10"/>
          <p:cNvSpPr txBox="1"/>
          <p:nvPr/>
        </p:nvSpPr>
        <p:spPr>
          <a:xfrm>
            <a:off x="6400800" y="3090672"/>
            <a:ext cx="5120640" cy="347472"/>
          </a:xfrm>
          <a:prstGeom prst="rect">
            <a:avLst/>
          </a:prstGeom>
          <a:noFill/>
        </p:spPr>
        <p:txBody>
          <a:bodyPr wrap="square" anchor="t">
            <a:spAutoFit/>
          </a:bodyPr>
          <a:lstStyle/>
          <a:p>
            <a:pPr algn="l"/>
            <a:r>
              <a:rPr sz="1300" b="0" i="0">
                <a:solidFill>
                  <a:srgbClr val="182234"/>
                </a:solidFill>
                <a:latin typeface="Segoe UI"/>
              </a:rPr>
              <a:t>• Scenic drive to Kandy through lush landscapes</a:t>
            </a:r>
          </a:p>
        </p:txBody>
      </p:sp>
      <p:sp>
        <p:nvSpPr>
          <p:cNvPr id="12" name="TextBox 11"/>
          <p:cNvSpPr txBox="1"/>
          <p:nvPr/>
        </p:nvSpPr>
        <p:spPr>
          <a:xfrm>
            <a:off x="6400800" y="3483864"/>
            <a:ext cx="5120640" cy="347472"/>
          </a:xfrm>
          <a:prstGeom prst="rect">
            <a:avLst/>
          </a:prstGeom>
          <a:noFill/>
        </p:spPr>
        <p:txBody>
          <a:bodyPr wrap="square" anchor="t">
            <a:spAutoFit/>
          </a:bodyPr>
          <a:lstStyle/>
          <a:p>
            <a:pPr algn="l"/>
            <a:r>
              <a:rPr sz="1300" b="0" i="0">
                <a:solidFill>
                  <a:srgbClr val="182234"/>
                </a:solidFill>
                <a:latin typeface="Segoe UI"/>
              </a:rPr>
              <a:t>• En-route visit: Pinnawala Elephant Orphanage</a:t>
            </a:r>
          </a:p>
        </p:txBody>
      </p:sp>
      <p:sp>
        <p:nvSpPr>
          <p:cNvPr id="13" name="TextBox 12"/>
          <p:cNvSpPr txBox="1"/>
          <p:nvPr/>
        </p:nvSpPr>
        <p:spPr>
          <a:xfrm>
            <a:off x="6400800" y="3877056"/>
            <a:ext cx="5120640" cy="347472"/>
          </a:xfrm>
          <a:prstGeom prst="rect">
            <a:avLst/>
          </a:prstGeom>
          <a:noFill/>
        </p:spPr>
        <p:txBody>
          <a:bodyPr wrap="square" anchor="t">
            <a:spAutoFit/>
          </a:bodyPr>
          <a:lstStyle/>
          <a:p>
            <a:pPr algn="l"/>
            <a:r>
              <a:rPr sz="1300" b="0" i="0">
                <a:solidFill>
                  <a:srgbClr val="182234"/>
                </a:solidFill>
                <a:latin typeface="Segoe UI"/>
              </a:rPr>
              <a:t>• Watch elephants bathing in the river</a:t>
            </a:r>
          </a:p>
        </p:txBody>
      </p:sp>
      <p:sp>
        <p:nvSpPr>
          <p:cNvPr id="14" name="TextBox 13"/>
          <p:cNvSpPr txBox="1"/>
          <p:nvPr/>
        </p:nvSpPr>
        <p:spPr>
          <a:xfrm>
            <a:off x="6400800" y="4270248"/>
            <a:ext cx="5120640" cy="347472"/>
          </a:xfrm>
          <a:prstGeom prst="rect">
            <a:avLst/>
          </a:prstGeom>
          <a:noFill/>
        </p:spPr>
        <p:txBody>
          <a:bodyPr wrap="square" anchor="t">
            <a:spAutoFit/>
          </a:bodyPr>
          <a:lstStyle/>
          <a:p>
            <a:pPr algn="l"/>
            <a:r>
              <a:rPr sz="1300" b="0" i="0">
                <a:solidFill>
                  <a:srgbClr val="182234"/>
                </a:solidFill>
                <a:latin typeface="Segoe UI"/>
              </a:rPr>
              <a:t>• Arrive in Kandy and check-in to hotel</a:t>
            </a:r>
          </a:p>
        </p:txBody>
      </p:sp>
      <p:sp>
        <p:nvSpPr>
          <p:cNvPr id="15" name="TextBox 14"/>
          <p:cNvSpPr txBox="1"/>
          <p:nvPr/>
        </p:nvSpPr>
        <p:spPr>
          <a:xfrm>
            <a:off x="6400800" y="4663440"/>
            <a:ext cx="5120640" cy="347472"/>
          </a:xfrm>
          <a:prstGeom prst="rect">
            <a:avLst/>
          </a:prstGeom>
          <a:noFill/>
        </p:spPr>
        <p:txBody>
          <a:bodyPr wrap="square" anchor="t">
            <a:spAutoFit/>
          </a:bodyPr>
          <a:lstStyle/>
          <a:p>
            <a:pPr algn="l"/>
            <a:r>
              <a:rPr sz="1300" b="0" i="0">
                <a:solidFill>
                  <a:srgbClr val="182234"/>
                </a:solidFill>
                <a:latin typeface="Segoe UI"/>
              </a:rPr>
              <a:t>• Evening visit to Temple of the Sacred Tooth Relic (UNESCO Site)</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3.5 hours   |   Distance: 115 km   |   Overnight: Kandy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88352"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4</a:t>
            </a:r>
          </a:p>
        </p:txBody>
      </p:sp>
      <p:sp>
        <p:nvSpPr>
          <p:cNvPr id="8" name="TextBox 7"/>
          <p:cNvSpPr txBox="1"/>
          <p:nvPr/>
        </p:nvSpPr>
        <p:spPr>
          <a:xfrm>
            <a:off x="640080" y="1572768"/>
            <a:ext cx="5029200" cy="658368"/>
          </a:xfrm>
          <a:prstGeom prst="rect">
            <a:avLst/>
          </a:prstGeom>
          <a:noFill/>
        </p:spPr>
        <p:txBody>
          <a:bodyPr wrap="square" anchor="t">
            <a:spAutoFit/>
          </a:bodyPr>
          <a:lstStyle/>
          <a:p>
            <a:pPr algn="l"/>
            <a:r>
              <a:rPr sz="2800" b="1" i="0">
                <a:solidFill>
                  <a:srgbClr val="182234"/>
                </a:solidFill>
                <a:latin typeface="Segoe UI Semibold"/>
              </a:rPr>
              <a:t>Kandy &amp; Royal Botanical Gardens</a:t>
            </a:r>
          </a:p>
        </p:txBody>
      </p:sp>
      <p:sp>
        <p:nvSpPr>
          <p:cNvPr id="9" name="TextBox 8"/>
          <p:cNvSpPr txBox="1"/>
          <p:nvPr/>
        </p:nvSpPr>
        <p:spPr>
          <a:xfrm>
            <a:off x="640080" y="2212848"/>
            <a:ext cx="3200400" cy="365760"/>
          </a:xfrm>
          <a:prstGeom prst="rect">
            <a:avLst/>
          </a:prstGeom>
          <a:noFill/>
        </p:spPr>
        <p:txBody>
          <a:bodyPr wrap="square" anchor="t">
            <a:spAutoFit/>
          </a:bodyPr>
          <a:lstStyle/>
          <a:p>
            <a:pPr algn="l"/>
            <a:r>
              <a:rPr sz="1500" b="0" i="0">
                <a:solidFill>
                  <a:srgbClr val="626F84"/>
                </a:solidFill>
                <a:latin typeface="Segoe UI"/>
              </a:rPr>
              <a:t>Kandy</a:t>
            </a:r>
          </a:p>
        </p:txBody>
      </p:sp>
      <p:sp>
        <p:nvSpPr>
          <p:cNvPr id="10" name="TextBox 9"/>
          <p:cNvSpPr txBox="1"/>
          <p:nvPr/>
        </p:nvSpPr>
        <p:spPr>
          <a:xfrm>
            <a:off x="640080" y="2697480"/>
            <a:ext cx="5120640" cy="347472"/>
          </a:xfrm>
          <a:prstGeom prst="rect">
            <a:avLst/>
          </a:prstGeom>
          <a:noFill/>
        </p:spPr>
        <p:txBody>
          <a:bodyPr wrap="square" anchor="t">
            <a:spAutoFit/>
          </a:bodyPr>
          <a:lstStyle/>
          <a:p>
            <a:pPr algn="l"/>
            <a:r>
              <a:rPr sz="1300" b="0" i="0">
                <a:solidFill>
                  <a:srgbClr val="182234"/>
                </a:solidFill>
                <a:latin typeface="Segoe UI"/>
              </a:rPr>
              <a:t>• Breakfast at hotel</a:t>
            </a:r>
          </a:p>
        </p:txBody>
      </p:sp>
      <p:sp>
        <p:nvSpPr>
          <p:cNvPr id="11" name="TextBox 10"/>
          <p:cNvSpPr txBox="1"/>
          <p:nvPr/>
        </p:nvSpPr>
        <p:spPr>
          <a:xfrm>
            <a:off x="640080" y="3090672"/>
            <a:ext cx="5120640" cy="347472"/>
          </a:xfrm>
          <a:prstGeom prst="rect">
            <a:avLst/>
          </a:prstGeom>
          <a:noFill/>
        </p:spPr>
        <p:txBody>
          <a:bodyPr wrap="square" anchor="t">
            <a:spAutoFit/>
          </a:bodyPr>
          <a:lstStyle/>
          <a:p>
            <a:pPr algn="l"/>
            <a:r>
              <a:rPr sz="1300" b="0" i="0">
                <a:solidFill>
                  <a:srgbClr val="182234"/>
                </a:solidFill>
                <a:latin typeface="Segoe UI"/>
              </a:rPr>
              <a:t>• Visit Royal Botanical Gardens at Peradeniya (147 acres)</a:t>
            </a:r>
          </a:p>
        </p:txBody>
      </p:sp>
      <p:sp>
        <p:nvSpPr>
          <p:cNvPr id="12" name="TextBox 11"/>
          <p:cNvSpPr txBox="1"/>
          <p:nvPr/>
        </p:nvSpPr>
        <p:spPr>
          <a:xfrm>
            <a:off x="640080" y="3483864"/>
            <a:ext cx="5120640" cy="347472"/>
          </a:xfrm>
          <a:prstGeom prst="rect">
            <a:avLst/>
          </a:prstGeom>
          <a:noFill/>
        </p:spPr>
        <p:txBody>
          <a:bodyPr wrap="square" anchor="t">
            <a:spAutoFit/>
          </a:bodyPr>
          <a:lstStyle/>
          <a:p>
            <a:pPr algn="l"/>
            <a:r>
              <a:rPr sz="1300" b="0" i="0">
                <a:solidFill>
                  <a:srgbClr val="182234"/>
                </a:solidFill>
                <a:latin typeface="Segoe UI"/>
              </a:rPr>
              <a:t>• Walk among orchid collections and giant bamboo groves</a:t>
            </a:r>
          </a:p>
        </p:txBody>
      </p:sp>
      <p:sp>
        <p:nvSpPr>
          <p:cNvPr id="13" name="TextBox 12"/>
          <p:cNvSpPr txBox="1"/>
          <p:nvPr/>
        </p:nvSpPr>
        <p:spPr>
          <a:xfrm>
            <a:off x="640080" y="3877056"/>
            <a:ext cx="5120640" cy="347472"/>
          </a:xfrm>
          <a:prstGeom prst="rect">
            <a:avLst/>
          </a:prstGeom>
          <a:noFill/>
        </p:spPr>
        <p:txBody>
          <a:bodyPr wrap="square" anchor="t">
            <a:spAutoFit/>
          </a:bodyPr>
          <a:lstStyle/>
          <a:p>
            <a:pPr algn="l"/>
            <a:r>
              <a:rPr sz="1300" b="0" i="0">
                <a:solidFill>
                  <a:srgbClr val="182234"/>
                </a:solidFill>
                <a:latin typeface="Segoe UI"/>
              </a:rPr>
              <a:t>• Lunch at garden restaurant</a:t>
            </a:r>
          </a:p>
        </p:txBody>
      </p:sp>
      <p:sp>
        <p:nvSpPr>
          <p:cNvPr id="14" name="TextBox 13"/>
          <p:cNvSpPr txBox="1"/>
          <p:nvPr/>
        </p:nvSpPr>
        <p:spPr>
          <a:xfrm>
            <a:off x="640080" y="4270248"/>
            <a:ext cx="5120640" cy="347472"/>
          </a:xfrm>
          <a:prstGeom prst="rect">
            <a:avLst/>
          </a:prstGeom>
          <a:noFill/>
        </p:spPr>
        <p:txBody>
          <a:bodyPr wrap="square" anchor="t">
            <a:spAutoFit/>
          </a:bodyPr>
          <a:lstStyle/>
          <a:p>
            <a:pPr algn="l"/>
            <a:r>
              <a:rPr sz="1300" b="0" i="0">
                <a:solidFill>
                  <a:srgbClr val="182234"/>
                </a:solidFill>
                <a:latin typeface="Segoe UI"/>
              </a:rPr>
              <a:t>• Ceylon Tea Museum and working tea plantation visit</a:t>
            </a:r>
          </a:p>
        </p:txBody>
      </p:sp>
      <p:sp>
        <p:nvSpPr>
          <p:cNvPr id="15" name="TextBox 14"/>
          <p:cNvSpPr txBox="1"/>
          <p:nvPr/>
        </p:nvSpPr>
        <p:spPr>
          <a:xfrm>
            <a:off x="640080" y="4663440"/>
            <a:ext cx="5120640" cy="347472"/>
          </a:xfrm>
          <a:prstGeom prst="rect">
            <a:avLst/>
          </a:prstGeom>
          <a:noFill/>
        </p:spPr>
        <p:txBody>
          <a:bodyPr wrap="square" anchor="t">
            <a:spAutoFit/>
          </a:bodyPr>
          <a:lstStyle/>
          <a:p>
            <a:pPr algn="l"/>
            <a:r>
              <a:rPr sz="1300" b="0" i="0">
                <a:solidFill>
                  <a:srgbClr val="182234"/>
                </a:solidFill>
                <a:latin typeface="Segoe UI"/>
              </a:rPr>
              <a:t>• Tea tasting experience with panoramic views</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30 minutes   |   Distance: 15 km   |   Overnight: Kandy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1"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3736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5</a:t>
            </a:r>
          </a:p>
        </p:txBody>
      </p:sp>
      <p:sp>
        <p:nvSpPr>
          <p:cNvPr id="8" name="TextBox 7"/>
          <p:cNvSpPr txBox="1"/>
          <p:nvPr/>
        </p:nvSpPr>
        <p:spPr>
          <a:xfrm>
            <a:off x="6400800" y="1572768"/>
            <a:ext cx="5029200" cy="658368"/>
          </a:xfrm>
          <a:prstGeom prst="rect">
            <a:avLst/>
          </a:prstGeom>
          <a:noFill/>
        </p:spPr>
        <p:txBody>
          <a:bodyPr wrap="square" anchor="t">
            <a:spAutoFit/>
          </a:bodyPr>
          <a:lstStyle/>
          <a:p>
            <a:pPr algn="l"/>
            <a:r>
              <a:rPr sz="2800" b="1" i="0">
                <a:solidFill>
                  <a:srgbClr val="182234"/>
                </a:solidFill>
                <a:latin typeface="Segoe UI Semibold"/>
              </a:rPr>
              <a:t>Scenic Train to Hill Country</a:t>
            </a:r>
          </a:p>
        </p:txBody>
      </p:sp>
      <p:sp>
        <p:nvSpPr>
          <p:cNvPr id="9" name="TextBox 8"/>
          <p:cNvSpPr txBox="1"/>
          <p:nvPr/>
        </p:nvSpPr>
        <p:spPr>
          <a:xfrm>
            <a:off x="6400800" y="2212848"/>
            <a:ext cx="3200400" cy="365760"/>
          </a:xfrm>
          <a:prstGeom prst="rect">
            <a:avLst/>
          </a:prstGeom>
          <a:noFill/>
        </p:spPr>
        <p:txBody>
          <a:bodyPr wrap="square" anchor="t">
            <a:spAutoFit/>
          </a:bodyPr>
          <a:lstStyle/>
          <a:p>
            <a:pPr algn="l"/>
            <a:r>
              <a:rPr sz="1500" b="0" i="0">
                <a:solidFill>
                  <a:srgbClr val="626F84"/>
                </a:solidFill>
                <a:latin typeface="Segoe UI"/>
              </a:rPr>
              <a:t>Nuwara Eliya</a:t>
            </a:r>
          </a:p>
        </p:txBody>
      </p:sp>
      <p:sp>
        <p:nvSpPr>
          <p:cNvPr id="10" name="TextBox 9"/>
          <p:cNvSpPr txBox="1"/>
          <p:nvPr/>
        </p:nvSpPr>
        <p:spPr>
          <a:xfrm>
            <a:off x="6400800" y="2697480"/>
            <a:ext cx="5120640" cy="347472"/>
          </a:xfrm>
          <a:prstGeom prst="rect">
            <a:avLst/>
          </a:prstGeom>
          <a:noFill/>
        </p:spPr>
        <p:txBody>
          <a:bodyPr wrap="square" anchor="t">
            <a:spAutoFit/>
          </a:bodyPr>
          <a:lstStyle/>
          <a:p>
            <a:pPr algn="l"/>
            <a:r>
              <a:rPr sz="1300" b="0" i="0">
                <a:solidFill>
                  <a:srgbClr val="182234"/>
                </a:solidFill>
                <a:latin typeface="Segoe UI"/>
              </a:rPr>
              <a:t>• Early breakfast and check-out</a:t>
            </a:r>
          </a:p>
        </p:txBody>
      </p:sp>
      <p:sp>
        <p:nvSpPr>
          <p:cNvPr id="11" name="TextBox 10"/>
          <p:cNvSpPr txBox="1"/>
          <p:nvPr/>
        </p:nvSpPr>
        <p:spPr>
          <a:xfrm>
            <a:off x="6400800" y="3090672"/>
            <a:ext cx="5120640" cy="347472"/>
          </a:xfrm>
          <a:prstGeom prst="rect">
            <a:avLst/>
          </a:prstGeom>
          <a:noFill/>
        </p:spPr>
        <p:txBody>
          <a:bodyPr wrap="square" anchor="t">
            <a:spAutoFit/>
          </a:bodyPr>
          <a:lstStyle/>
          <a:p>
            <a:pPr algn="l"/>
            <a:r>
              <a:rPr sz="1300" b="0" i="0">
                <a:solidFill>
                  <a:srgbClr val="182234"/>
                </a:solidFill>
                <a:latin typeface="Segoe UI"/>
              </a:rPr>
              <a:t>• Board famous Kandy to Nuwara Eliya train</a:t>
            </a:r>
          </a:p>
        </p:txBody>
      </p:sp>
      <p:sp>
        <p:nvSpPr>
          <p:cNvPr id="12" name="TextBox 11"/>
          <p:cNvSpPr txBox="1"/>
          <p:nvPr/>
        </p:nvSpPr>
        <p:spPr>
          <a:xfrm>
            <a:off x="6400800" y="3483864"/>
            <a:ext cx="5120640" cy="347472"/>
          </a:xfrm>
          <a:prstGeom prst="rect">
            <a:avLst/>
          </a:prstGeom>
          <a:noFill/>
        </p:spPr>
        <p:txBody>
          <a:bodyPr wrap="square" anchor="t">
            <a:spAutoFit/>
          </a:bodyPr>
          <a:lstStyle/>
          <a:p>
            <a:pPr algn="l"/>
            <a:r>
              <a:rPr sz="1300" b="0" i="0">
                <a:solidFill>
                  <a:srgbClr val="182234"/>
                </a:solidFill>
                <a:latin typeface="Segoe UI"/>
              </a:rPr>
              <a:t>• Journey through tea plantations and mountain scenery</a:t>
            </a:r>
          </a:p>
        </p:txBody>
      </p:sp>
      <p:sp>
        <p:nvSpPr>
          <p:cNvPr id="13" name="TextBox 12"/>
          <p:cNvSpPr txBox="1"/>
          <p:nvPr/>
        </p:nvSpPr>
        <p:spPr>
          <a:xfrm>
            <a:off x="6400800" y="3877056"/>
            <a:ext cx="5120640" cy="347472"/>
          </a:xfrm>
          <a:prstGeom prst="rect">
            <a:avLst/>
          </a:prstGeom>
          <a:noFill/>
        </p:spPr>
        <p:txBody>
          <a:bodyPr wrap="square" anchor="t">
            <a:spAutoFit/>
          </a:bodyPr>
          <a:lstStyle/>
          <a:p>
            <a:pPr algn="l"/>
            <a:r>
              <a:rPr sz="1300" b="0" i="0">
                <a:solidFill>
                  <a:srgbClr val="182234"/>
                </a:solidFill>
                <a:latin typeface="Segoe UI"/>
              </a:rPr>
              <a:t>• One of the world's most scenic train rides</a:t>
            </a:r>
          </a:p>
        </p:txBody>
      </p:sp>
      <p:sp>
        <p:nvSpPr>
          <p:cNvPr id="14" name="TextBox 13"/>
          <p:cNvSpPr txBox="1"/>
          <p:nvPr/>
        </p:nvSpPr>
        <p:spPr>
          <a:xfrm>
            <a:off x="6400800" y="4270248"/>
            <a:ext cx="5120640" cy="347472"/>
          </a:xfrm>
          <a:prstGeom prst="rect">
            <a:avLst/>
          </a:prstGeom>
          <a:noFill/>
        </p:spPr>
        <p:txBody>
          <a:bodyPr wrap="square" anchor="t">
            <a:spAutoFit/>
          </a:bodyPr>
          <a:lstStyle/>
          <a:p>
            <a:pPr algn="l"/>
            <a:r>
              <a:rPr sz="1300" b="0" i="0">
                <a:solidFill>
                  <a:srgbClr val="182234"/>
                </a:solidFill>
                <a:latin typeface="Segoe UI"/>
              </a:rPr>
              <a:t>• Arrive in Nuwara Eliya - 'Little England' of Sri Lanka</a:t>
            </a:r>
          </a:p>
        </p:txBody>
      </p:sp>
      <p:sp>
        <p:nvSpPr>
          <p:cNvPr id="15" name="TextBox 14"/>
          <p:cNvSpPr txBox="1"/>
          <p:nvPr/>
        </p:nvSpPr>
        <p:spPr>
          <a:xfrm>
            <a:off x="6400800" y="4663440"/>
            <a:ext cx="5120640" cy="347472"/>
          </a:xfrm>
          <a:prstGeom prst="rect">
            <a:avLst/>
          </a:prstGeom>
          <a:noFill/>
        </p:spPr>
        <p:txBody>
          <a:bodyPr wrap="square" anchor="t">
            <a:spAutoFit/>
          </a:bodyPr>
          <a:lstStyle/>
          <a:p>
            <a:pPr algn="l"/>
            <a:r>
              <a:rPr sz="1300" b="0" i="0">
                <a:solidFill>
                  <a:srgbClr val="182234"/>
                </a:solidFill>
                <a:latin typeface="Segoe UI"/>
              </a:rPr>
              <a:t>• Check-in to colonial-era hotel</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4 hours   |   Distance: 80 km   |   Overnight: Nuwara Eliya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88352"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6</a:t>
            </a:r>
          </a:p>
        </p:txBody>
      </p:sp>
      <p:sp>
        <p:nvSpPr>
          <p:cNvPr id="8" name="TextBox 7"/>
          <p:cNvSpPr txBox="1"/>
          <p:nvPr/>
        </p:nvSpPr>
        <p:spPr>
          <a:xfrm>
            <a:off x="640080" y="1572768"/>
            <a:ext cx="5029200" cy="658368"/>
          </a:xfrm>
          <a:prstGeom prst="rect">
            <a:avLst/>
          </a:prstGeom>
          <a:noFill/>
        </p:spPr>
        <p:txBody>
          <a:bodyPr wrap="square" anchor="t">
            <a:spAutoFit/>
          </a:bodyPr>
          <a:lstStyle/>
          <a:p>
            <a:pPr algn="l"/>
            <a:r>
              <a:rPr sz="2800" b="1" i="0">
                <a:solidFill>
                  <a:srgbClr val="182234"/>
                </a:solidFill>
                <a:latin typeface="Segoe UI Semibold"/>
              </a:rPr>
              <a:t>Horton Plains &amp; World's End</a:t>
            </a:r>
          </a:p>
        </p:txBody>
      </p:sp>
      <p:sp>
        <p:nvSpPr>
          <p:cNvPr id="9" name="TextBox 8"/>
          <p:cNvSpPr txBox="1"/>
          <p:nvPr/>
        </p:nvSpPr>
        <p:spPr>
          <a:xfrm>
            <a:off x="640080" y="2212848"/>
            <a:ext cx="3200400" cy="365760"/>
          </a:xfrm>
          <a:prstGeom prst="rect">
            <a:avLst/>
          </a:prstGeom>
          <a:noFill/>
        </p:spPr>
        <p:txBody>
          <a:bodyPr wrap="square" anchor="t">
            <a:spAutoFit/>
          </a:bodyPr>
          <a:lstStyle/>
          <a:p>
            <a:pPr algn="l"/>
            <a:r>
              <a:rPr sz="1500" b="0" i="0">
                <a:solidFill>
                  <a:srgbClr val="626F84"/>
                </a:solidFill>
                <a:latin typeface="Segoe UI"/>
              </a:rPr>
              <a:t>Nuwara Eliya</a:t>
            </a:r>
          </a:p>
        </p:txBody>
      </p:sp>
      <p:sp>
        <p:nvSpPr>
          <p:cNvPr id="10" name="TextBox 9"/>
          <p:cNvSpPr txBox="1"/>
          <p:nvPr/>
        </p:nvSpPr>
        <p:spPr>
          <a:xfrm>
            <a:off x="640080" y="2697480"/>
            <a:ext cx="5120640" cy="347472"/>
          </a:xfrm>
          <a:prstGeom prst="rect">
            <a:avLst/>
          </a:prstGeom>
          <a:noFill/>
        </p:spPr>
        <p:txBody>
          <a:bodyPr wrap="square" anchor="t">
            <a:spAutoFit/>
          </a:bodyPr>
          <a:lstStyle/>
          <a:p>
            <a:pPr algn="l"/>
            <a:r>
              <a:rPr sz="1300" b="0" i="0">
                <a:solidFill>
                  <a:srgbClr val="182234"/>
                </a:solidFill>
                <a:latin typeface="Segoe UI"/>
              </a:rPr>
              <a:t>• Very early breakfast box (4:30 AM)</a:t>
            </a:r>
          </a:p>
        </p:txBody>
      </p:sp>
      <p:sp>
        <p:nvSpPr>
          <p:cNvPr id="11" name="TextBox 10"/>
          <p:cNvSpPr txBox="1"/>
          <p:nvPr/>
        </p:nvSpPr>
        <p:spPr>
          <a:xfrm>
            <a:off x="640080" y="3090672"/>
            <a:ext cx="5120640" cy="347472"/>
          </a:xfrm>
          <a:prstGeom prst="rect">
            <a:avLst/>
          </a:prstGeom>
          <a:noFill/>
        </p:spPr>
        <p:txBody>
          <a:bodyPr wrap="square" anchor="t">
            <a:spAutoFit/>
          </a:bodyPr>
          <a:lstStyle/>
          <a:p>
            <a:pPr algn="l"/>
            <a:r>
              <a:rPr sz="1300" b="0" i="0">
                <a:solidFill>
                  <a:srgbClr val="182234"/>
                </a:solidFill>
                <a:latin typeface="Segoe UI"/>
              </a:rPr>
              <a:t>• Drive to Horton Plains National Park</a:t>
            </a:r>
          </a:p>
        </p:txBody>
      </p:sp>
      <p:sp>
        <p:nvSpPr>
          <p:cNvPr id="12" name="TextBox 11"/>
          <p:cNvSpPr txBox="1"/>
          <p:nvPr/>
        </p:nvSpPr>
        <p:spPr>
          <a:xfrm>
            <a:off x="640080" y="3483864"/>
            <a:ext cx="5120640" cy="347472"/>
          </a:xfrm>
          <a:prstGeom prst="rect">
            <a:avLst/>
          </a:prstGeom>
          <a:noFill/>
        </p:spPr>
        <p:txBody>
          <a:bodyPr wrap="square" anchor="t">
            <a:spAutoFit/>
          </a:bodyPr>
          <a:lstStyle/>
          <a:p>
            <a:pPr algn="l"/>
            <a:r>
              <a:rPr sz="1300" b="0" i="0">
                <a:solidFill>
                  <a:srgbClr val="182234"/>
                </a:solidFill>
                <a:latin typeface="Segoe UI"/>
              </a:rPr>
              <a:t>• Trek to World's End viewpoint - breathtaking 4000ft drop</a:t>
            </a:r>
          </a:p>
        </p:txBody>
      </p:sp>
      <p:sp>
        <p:nvSpPr>
          <p:cNvPr id="13" name="TextBox 12"/>
          <p:cNvSpPr txBox="1"/>
          <p:nvPr/>
        </p:nvSpPr>
        <p:spPr>
          <a:xfrm>
            <a:off x="640080" y="3877056"/>
            <a:ext cx="5120640" cy="347472"/>
          </a:xfrm>
          <a:prstGeom prst="rect">
            <a:avLst/>
          </a:prstGeom>
          <a:noFill/>
        </p:spPr>
        <p:txBody>
          <a:bodyPr wrap="square" anchor="t">
            <a:spAutoFit/>
          </a:bodyPr>
          <a:lstStyle/>
          <a:p>
            <a:pPr algn="l"/>
            <a:r>
              <a:rPr sz="1300" b="0" i="0">
                <a:solidFill>
                  <a:srgbClr val="182234"/>
                </a:solidFill>
                <a:latin typeface="Segoe UI"/>
              </a:rPr>
              <a:t>• Visit Baker's Falls waterfall</a:t>
            </a:r>
          </a:p>
        </p:txBody>
      </p:sp>
      <p:sp>
        <p:nvSpPr>
          <p:cNvPr id="14" name="TextBox 13"/>
          <p:cNvSpPr txBox="1"/>
          <p:nvPr/>
        </p:nvSpPr>
        <p:spPr>
          <a:xfrm>
            <a:off x="640080" y="4270248"/>
            <a:ext cx="5120640" cy="347472"/>
          </a:xfrm>
          <a:prstGeom prst="rect">
            <a:avLst/>
          </a:prstGeom>
          <a:noFill/>
        </p:spPr>
        <p:txBody>
          <a:bodyPr wrap="square" anchor="t">
            <a:spAutoFit/>
          </a:bodyPr>
          <a:lstStyle/>
          <a:p>
            <a:pPr algn="l"/>
            <a:r>
              <a:rPr sz="1300" b="0" i="0">
                <a:solidFill>
                  <a:srgbClr val="182234"/>
                </a:solidFill>
                <a:latin typeface="Segoe UI"/>
              </a:rPr>
              <a:t>• Return to hotel for late brunch</a:t>
            </a:r>
          </a:p>
        </p:txBody>
      </p:sp>
      <p:sp>
        <p:nvSpPr>
          <p:cNvPr id="15" name="TextBox 14"/>
          <p:cNvSpPr txBox="1"/>
          <p:nvPr/>
        </p:nvSpPr>
        <p:spPr>
          <a:xfrm>
            <a:off x="640080" y="4663440"/>
            <a:ext cx="5120640" cy="347472"/>
          </a:xfrm>
          <a:prstGeom prst="rect">
            <a:avLst/>
          </a:prstGeom>
          <a:noFill/>
        </p:spPr>
        <p:txBody>
          <a:bodyPr wrap="square" anchor="t">
            <a:spAutoFit/>
          </a:bodyPr>
          <a:lstStyle/>
          <a:p>
            <a:pPr algn="l"/>
            <a:r>
              <a:rPr sz="1300" b="0" i="0">
                <a:solidFill>
                  <a:srgbClr val="182234"/>
                </a:solidFill>
                <a:latin typeface="Segoe UI"/>
              </a:rPr>
              <a:t>• Visit working tea factory - learn Ceylon tea production</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1.5 hours   |   Distance: 35 km   |   Overnight: Nuwara Eliya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1"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3736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7</a:t>
            </a:r>
          </a:p>
        </p:txBody>
      </p:sp>
      <p:sp>
        <p:nvSpPr>
          <p:cNvPr id="8" name="TextBox 7"/>
          <p:cNvSpPr txBox="1"/>
          <p:nvPr/>
        </p:nvSpPr>
        <p:spPr>
          <a:xfrm>
            <a:off x="6400800" y="1572768"/>
            <a:ext cx="5029200" cy="658368"/>
          </a:xfrm>
          <a:prstGeom prst="rect">
            <a:avLst/>
          </a:prstGeom>
          <a:noFill/>
        </p:spPr>
        <p:txBody>
          <a:bodyPr wrap="square" anchor="t">
            <a:spAutoFit/>
          </a:bodyPr>
          <a:lstStyle/>
          <a:p>
            <a:pPr algn="l"/>
            <a:r>
              <a:rPr sz="2800" b="1" i="0">
                <a:solidFill>
                  <a:srgbClr val="182234"/>
                </a:solidFill>
                <a:latin typeface="Segoe UI Semibold"/>
              </a:rPr>
              <a:t>Coastal Beauty of Galle</a:t>
            </a:r>
          </a:p>
        </p:txBody>
      </p:sp>
      <p:sp>
        <p:nvSpPr>
          <p:cNvPr id="9" name="TextBox 8"/>
          <p:cNvSpPr txBox="1"/>
          <p:nvPr/>
        </p:nvSpPr>
        <p:spPr>
          <a:xfrm>
            <a:off x="6400800" y="2212848"/>
            <a:ext cx="3200400" cy="365760"/>
          </a:xfrm>
          <a:prstGeom prst="rect">
            <a:avLst/>
          </a:prstGeom>
          <a:noFill/>
        </p:spPr>
        <p:txBody>
          <a:bodyPr wrap="square" anchor="t">
            <a:spAutoFit/>
          </a:bodyPr>
          <a:lstStyle/>
          <a:p>
            <a:pPr algn="l"/>
            <a:r>
              <a:rPr sz="1500" b="0" i="0">
                <a:solidFill>
                  <a:srgbClr val="626F84"/>
                </a:solidFill>
                <a:latin typeface="Segoe UI"/>
              </a:rPr>
              <a:t>Galle</a:t>
            </a:r>
          </a:p>
        </p:txBody>
      </p:sp>
      <p:sp>
        <p:nvSpPr>
          <p:cNvPr id="10" name="TextBox 9"/>
          <p:cNvSpPr txBox="1"/>
          <p:nvPr/>
        </p:nvSpPr>
        <p:spPr>
          <a:xfrm>
            <a:off x="6400800" y="2697480"/>
            <a:ext cx="5120640" cy="347472"/>
          </a:xfrm>
          <a:prstGeom prst="rect">
            <a:avLst/>
          </a:prstGeom>
          <a:noFill/>
        </p:spPr>
        <p:txBody>
          <a:bodyPr wrap="square" anchor="t">
            <a:spAutoFit/>
          </a:bodyPr>
          <a:lstStyle/>
          <a:p>
            <a:pPr algn="l"/>
            <a:r>
              <a:rPr sz="1300" b="0" i="0">
                <a:solidFill>
                  <a:srgbClr val="182234"/>
                </a:solidFill>
                <a:latin typeface="Segoe UI"/>
              </a:rPr>
              <a:t>• Breakfast and check-out</a:t>
            </a:r>
          </a:p>
        </p:txBody>
      </p:sp>
      <p:sp>
        <p:nvSpPr>
          <p:cNvPr id="11" name="TextBox 10"/>
          <p:cNvSpPr txBox="1"/>
          <p:nvPr/>
        </p:nvSpPr>
        <p:spPr>
          <a:xfrm>
            <a:off x="6400800" y="3090672"/>
            <a:ext cx="5120640" cy="347472"/>
          </a:xfrm>
          <a:prstGeom prst="rect">
            <a:avLst/>
          </a:prstGeom>
          <a:noFill/>
        </p:spPr>
        <p:txBody>
          <a:bodyPr wrap="square" anchor="t">
            <a:spAutoFit/>
          </a:bodyPr>
          <a:lstStyle/>
          <a:p>
            <a:pPr algn="l"/>
            <a:r>
              <a:rPr sz="1300" b="0" i="0">
                <a:solidFill>
                  <a:srgbClr val="182234"/>
                </a:solidFill>
                <a:latin typeface="Segoe UI"/>
              </a:rPr>
              <a:t>• Scenic drive to southern coast through hill country</a:t>
            </a:r>
          </a:p>
        </p:txBody>
      </p:sp>
      <p:sp>
        <p:nvSpPr>
          <p:cNvPr id="12" name="TextBox 11"/>
          <p:cNvSpPr txBox="1"/>
          <p:nvPr/>
        </p:nvSpPr>
        <p:spPr>
          <a:xfrm>
            <a:off x="6400800" y="3483864"/>
            <a:ext cx="5120640" cy="347472"/>
          </a:xfrm>
          <a:prstGeom prst="rect">
            <a:avLst/>
          </a:prstGeom>
          <a:noFill/>
        </p:spPr>
        <p:txBody>
          <a:bodyPr wrap="square" anchor="t">
            <a:spAutoFit/>
          </a:bodyPr>
          <a:lstStyle/>
          <a:p>
            <a:pPr algn="l"/>
            <a:r>
              <a:rPr sz="1300" b="0" i="0">
                <a:solidFill>
                  <a:srgbClr val="182234"/>
                </a:solidFill>
                <a:latin typeface="Segoe UI"/>
              </a:rPr>
              <a:t>• Lunch at beachside restaurant</a:t>
            </a:r>
          </a:p>
        </p:txBody>
      </p:sp>
      <p:sp>
        <p:nvSpPr>
          <p:cNvPr id="13" name="TextBox 12"/>
          <p:cNvSpPr txBox="1"/>
          <p:nvPr/>
        </p:nvSpPr>
        <p:spPr>
          <a:xfrm>
            <a:off x="6400800" y="3877056"/>
            <a:ext cx="5120640" cy="347472"/>
          </a:xfrm>
          <a:prstGeom prst="rect">
            <a:avLst/>
          </a:prstGeom>
          <a:noFill/>
        </p:spPr>
        <p:txBody>
          <a:bodyPr wrap="square" anchor="t">
            <a:spAutoFit/>
          </a:bodyPr>
          <a:lstStyle/>
          <a:p>
            <a:pPr algn="l"/>
            <a:r>
              <a:rPr sz="1300" b="0" i="0">
                <a:solidFill>
                  <a:srgbClr val="182234"/>
                </a:solidFill>
                <a:latin typeface="Segoe UI"/>
              </a:rPr>
              <a:t>• Explore UNESCO-listed Galle Fort</a:t>
            </a:r>
          </a:p>
        </p:txBody>
      </p:sp>
      <p:sp>
        <p:nvSpPr>
          <p:cNvPr id="14" name="TextBox 13"/>
          <p:cNvSpPr txBox="1"/>
          <p:nvPr/>
        </p:nvSpPr>
        <p:spPr>
          <a:xfrm>
            <a:off x="6400800" y="4270248"/>
            <a:ext cx="5120640" cy="347472"/>
          </a:xfrm>
          <a:prstGeom prst="rect">
            <a:avLst/>
          </a:prstGeom>
          <a:noFill/>
        </p:spPr>
        <p:txBody>
          <a:bodyPr wrap="square" anchor="t">
            <a:spAutoFit/>
          </a:bodyPr>
          <a:lstStyle/>
          <a:p>
            <a:pPr algn="l"/>
            <a:r>
              <a:rPr sz="1300" b="0" i="0">
                <a:solidFill>
                  <a:srgbClr val="182234"/>
                </a:solidFill>
                <a:latin typeface="Segoe UI"/>
              </a:rPr>
              <a:t>• Walk through Dutch colonial architecture</a:t>
            </a:r>
          </a:p>
        </p:txBody>
      </p:sp>
      <p:sp>
        <p:nvSpPr>
          <p:cNvPr id="15" name="TextBox 14"/>
          <p:cNvSpPr txBox="1"/>
          <p:nvPr/>
        </p:nvSpPr>
        <p:spPr>
          <a:xfrm>
            <a:off x="6400800" y="4663440"/>
            <a:ext cx="5120640" cy="347472"/>
          </a:xfrm>
          <a:prstGeom prst="rect">
            <a:avLst/>
          </a:prstGeom>
          <a:noFill/>
        </p:spPr>
        <p:txBody>
          <a:bodyPr wrap="square" anchor="t">
            <a:spAutoFit/>
          </a:bodyPr>
          <a:lstStyle/>
          <a:p>
            <a:pPr algn="l"/>
            <a:r>
              <a:rPr sz="1300" b="0" i="0">
                <a:solidFill>
                  <a:srgbClr val="182234"/>
                </a:solidFill>
                <a:latin typeface="Segoe UI"/>
              </a:rPr>
              <a:t>• Visit lighthouse and fort ramparts</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5 hours   |   Distance: 175 km   |   Overnight: Galle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0" y="914400"/>
            <a:ext cx="4206240" cy="42062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88352" y="987552"/>
            <a:ext cx="4059936" cy="4059936"/>
          </a:xfrm>
          <a:prstGeom prst="roundRect">
            <a:avLst/>
          </a:prstGeom>
          <a:solidFill>
            <a:srgbClr val="EA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2834640"/>
            <a:ext cx="2011680" cy="365760"/>
          </a:xfrm>
          <a:prstGeom prst="rect">
            <a:avLst/>
          </a:prstGeom>
          <a:noFill/>
        </p:spPr>
        <p:txBody>
          <a:bodyPr wrap="square" anchor="t">
            <a:spAutoFit/>
          </a:bodyPr>
          <a:lstStyle/>
          <a:p>
            <a:pPr algn="ctr"/>
            <a:r>
              <a:rPr sz="1200" b="0" i="0">
                <a:solidFill>
                  <a:srgbClr val="626F84"/>
                </a:solidFill>
                <a:latin typeface="Segoe UI"/>
              </a:rPr>
              <a:t>Image Placeholder</a:t>
            </a:r>
          </a:p>
        </p:txBody>
      </p:sp>
      <p:sp>
        <p:nvSpPr>
          <p:cNvPr id="7" name="Rounded Rectangle 6"/>
          <p:cNvSpPr/>
          <p:nvPr/>
        </p:nvSpPr>
        <p:spPr>
          <a:xfrm>
            <a:off x="640080" y="914400"/>
            <a:ext cx="1325880" cy="502920"/>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a:rPr>
              <a:t>DAY 8</a:t>
            </a:r>
          </a:p>
        </p:txBody>
      </p:sp>
      <p:sp>
        <p:nvSpPr>
          <p:cNvPr id="8" name="TextBox 7"/>
          <p:cNvSpPr txBox="1"/>
          <p:nvPr/>
        </p:nvSpPr>
        <p:spPr>
          <a:xfrm>
            <a:off x="640080" y="1572768"/>
            <a:ext cx="5029200" cy="658368"/>
          </a:xfrm>
          <a:prstGeom prst="rect">
            <a:avLst/>
          </a:prstGeom>
          <a:noFill/>
        </p:spPr>
        <p:txBody>
          <a:bodyPr wrap="square" anchor="t">
            <a:spAutoFit/>
          </a:bodyPr>
          <a:lstStyle/>
          <a:p>
            <a:pPr algn="l"/>
            <a:r>
              <a:rPr sz="2800" b="1" i="0">
                <a:solidFill>
                  <a:srgbClr val="182234"/>
                </a:solidFill>
                <a:latin typeface="Segoe UI Semibold"/>
              </a:rPr>
              <a:t>Farewell Sri Lanka</a:t>
            </a:r>
          </a:p>
        </p:txBody>
      </p:sp>
      <p:sp>
        <p:nvSpPr>
          <p:cNvPr id="9" name="TextBox 8"/>
          <p:cNvSpPr txBox="1"/>
          <p:nvPr/>
        </p:nvSpPr>
        <p:spPr>
          <a:xfrm>
            <a:off x="640080" y="2212848"/>
            <a:ext cx="3200400" cy="365760"/>
          </a:xfrm>
          <a:prstGeom prst="rect">
            <a:avLst/>
          </a:prstGeom>
          <a:noFill/>
        </p:spPr>
        <p:txBody>
          <a:bodyPr wrap="square" anchor="t">
            <a:spAutoFit/>
          </a:bodyPr>
          <a:lstStyle/>
          <a:p>
            <a:pPr algn="l"/>
            <a:r>
              <a:rPr sz="1500" b="0" i="0">
                <a:solidFill>
                  <a:srgbClr val="626F84"/>
                </a:solidFill>
                <a:latin typeface="Segoe UI"/>
              </a:rPr>
              <a:t>Colombo</a:t>
            </a:r>
          </a:p>
        </p:txBody>
      </p:sp>
      <p:sp>
        <p:nvSpPr>
          <p:cNvPr id="10" name="TextBox 9"/>
          <p:cNvSpPr txBox="1"/>
          <p:nvPr/>
        </p:nvSpPr>
        <p:spPr>
          <a:xfrm>
            <a:off x="640080" y="2697480"/>
            <a:ext cx="5120640" cy="347472"/>
          </a:xfrm>
          <a:prstGeom prst="rect">
            <a:avLst/>
          </a:prstGeom>
          <a:noFill/>
        </p:spPr>
        <p:txBody>
          <a:bodyPr wrap="square" anchor="t">
            <a:spAutoFit/>
          </a:bodyPr>
          <a:lstStyle/>
          <a:p>
            <a:pPr algn="l"/>
            <a:r>
              <a:rPr sz="1300" b="0" i="0">
                <a:solidFill>
                  <a:srgbClr val="182234"/>
                </a:solidFill>
                <a:latin typeface="Segoe UI"/>
              </a:rPr>
              <a:t>• Breakfast at hotel</a:t>
            </a:r>
          </a:p>
        </p:txBody>
      </p:sp>
      <p:sp>
        <p:nvSpPr>
          <p:cNvPr id="11" name="TextBox 10"/>
          <p:cNvSpPr txBox="1"/>
          <p:nvPr/>
        </p:nvSpPr>
        <p:spPr>
          <a:xfrm>
            <a:off x="640080" y="3090672"/>
            <a:ext cx="5120640" cy="347472"/>
          </a:xfrm>
          <a:prstGeom prst="rect">
            <a:avLst/>
          </a:prstGeom>
          <a:noFill/>
        </p:spPr>
        <p:txBody>
          <a:bodyPr wrap="square" anchor="t">
            <a:spAutoFit/>
          </a:bodyPr>
          <a:lstStyle/>
          <a:p>
            <a:pPr algn="l"/>
            <a:r>
              <a:rPr sz="1300" b="0" i="0">
                <a:solidFill>
                  <a:srgbClr val="182234"/>
                </a:solidFill>
                <a:latin typeface="Segoe UI"/>
              </a:rPr>
              <a:t>• Morning at leisure - optional beach time</a:t>
            </a:r>
          </a:p>
        </p:txBody>
      </p:sp>
      <p:sp>
        <p:nvSpPr>
          <p:cNvPr id="12" name="TextBox 11"/>
          <p:cNvSpPr txBox="1"/>
          <p:nvPr/>
        </p:nvSpPr>
        <p:spPr>
          <a:xfrm>
            <a:off x="640080" y="3483864"/>
            <a:ext cx="5120640" cy="347472"/>
          </a:xfrm>
          <a:prstGeom prst="rect">
            <a:avLst/>
          </a:prstGeom>
          <a:noFill/>
        </p:spPr>
        <p:txBody>
          <a:bodyPr wrap="square" anchor="t">
            <a:spAutoFit/>
          </a:bodyPr>
          <a:lstStyle/>
          <a:p>
            <a:pPr algn="l"/>
            <a:r>
              <a:rPr sz="1300" b="0" i="0">
                <a:solidFill>
                  <a:srgbClr val="182234"/>
                </a:solidFill>
                <a:latin typeface="Segoe UI"/>
              </a:rPr>
              <a:t>• Check-out and drive to Colombo airport</a:t>
            </a:r>
          </a:p>
        </p:txBody>
      </p:sp>
      <p:sp>
        <p:nvSpPr>
          <p:cNvPr id="13" name="TextBox 12"/>
          <p:cNvSpPr txBox="1"/>
          <p:nvPr/>
        </p:nvSpPr>
        <p:spPr>
          <a:xfrm>
            <a:off x="640080" y="3877056"/>
            <a:ext cx="5120640" cy="347472"/>
          </a:xfrm>
          <a:prstGeom prst="rect">
            <a:avLst/>
          </a:prstGeom>
          <a:noFill/>
        </p:spPr>
        <p:txBody>
          <a:bodyPr wrap="square" anchor="t">
            <a:spAutoFit/>
          </a:bodyPr>
          <a:lstStyle/>
          <a:p>
            <a:pPr algn="l"/>
            <a:r>
              <a:rPr sz="1300" b="0" i="0">
                <a:solidFill>
                  <a:srgbClr val="182234"/>
                </a:solidFill>
                <a:latin typeface="Segoe UI"/>
              </a:rPr>
              <a:t>• Last-minute shopping if time permits</a:t>
            </a:r>
          </a:p>
        </p:txBody>
      </p:sp>
      <p:sp>
        <p:nvSpPr>
          <p:cNvPr id="14" name="TextBox 13"/>
          <p:cNvSpPr txBox="1"/>
          <p:nvPr/>
        </p:nvSpPr>
        <p:spPr>
          <a:xfrm>
            <a:off x="640080" y="4270248"/>
            <a:ext cx="5120640" cy="347472"/>
          </a:xfrm>
          <a:prstGeom prst="rect">
            <a:avLst/>
          </a:prstGeom>
          <a:noFill/>
        </p:spPr>
        <p:txBody>
          <a:bodyPr wrap="square" anchor="t">
            <a:spAutoFit/>
          </a:bodyPr>
          <a:lstStyle/>
          <a:p>
            <a:pPr algn="l"/>
            <a:r>
              <a:rPr sz="1300" b="0" i="0">
                <a:solidFill>
                  <a:srgbClr val="182234"/>
                </a:solidFill>
                <a:latin typeface="Segoe UI"/>
              </a:rPr>
              <a:t>• Departure from Bandaranaike International Airport</a:t>
            </a:r>
          </a:p>
        </p:txBody>
      </p:sp>
      <p:sp>
        <p:nvSpPr>
          <p:cNvPr id="15" name="TextBox 14"/>
          <p:cNvSpPr txBox="1"/>
          <p:nvPr/>
        </p:nvSpPr>
        <p:spPr>
          <a:xfrm>
            <a:off x="640080" y="4663440"/>
            <a:ext cx="5120640" cy="347472"/>
          </a:xfrm>
          <a:prstGeom prst="rect">
            <a:avLst/>
          </a:prstGeom>
          <a:noFill/>
        </p:spPr>
        <p:txBody>
          <a:bodyPr wrap="square" anchor="t">
            <a:spAutoFit/>
          </a:bodyPr>
          <a:lstStyle/>
          <a:p>
            <a:pPr algn="l"/>
            <a:r>
              <a:rPr sz="1300" b="0" i="0">
                <a:solidFill>
                  <a:srgbClr val="182234"/>
                </a:solidFill>
                <a:latin typeface="Segoe UI"/>
              </a:rPr>
              <a:t>• End of memorable Sri Lankan journey</a:t>
            </a:r>
          </a:p>
        </p:txBody>
      </p:sp>
      <p:sp>
        <p:nvSpPr>
          <p:cNvPr id="16" name="Rounded Rectangle 15"/>
          <p:cNvSpPr/>
          <p:nvPr/>
        </p:nvSpPr>
        <p:spPr>
          <a:xfrm>
            <a:off x="640080" y="5669280"/>
            <a:ext cx="10972800" cy="640080"/>
          </a:xfrm>
          <a:prstGeom prst="roundRect">
            <a:avLst/>
          </a:prstGeom>
          <a:solidFill>
            <a:srgbClr val="F6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70448"/>
            <a:ext cx="10515600" cy="274320"/>
          </a:xfrm>
          <a:prstGeom prst="rect">
            <a:avLst/>
          </a:prstGeom>
          <a:noFill/>
        </p:spPr>
        <p:txBody>
          <a:bodyPr wrap="square" anchor="t">
            <a:spAutoFit/>
          </a:bodyPr>
          <a:lstStyle/>
          <a:p>
            <a:pPr algn="ctr"/>
            <a:r>
              <a:rPr sz="1200" b="0" i="0">
                <a:solidFill>
                  <a:srgbClr val="626F84"/>
                </a:solidFill>
                <a:latin typeface="Segoe UI"/>
              </a:rPr>
              <a:t>Travel Time: 3 hours   |   Distance: 145 km   |   Overnight: 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548640"/>
          </a:xfrm>
          <a:prstGeom prst="rect">
            <a:avLst/>
          </a:prstGeom>
          <a:noFill/>
        </p:spPr>
        <p:txBody>
          <a:bodyPr wrap="square" anchor="t">
            <a:spAutoFit/>
          </a:bodyPr>
          <a:lstStyle/>
          <a:p>
            <a:pPr algn="l"/>
            <a:r>
              <a:rPr sz="3200" b="1" i="0">
                <a:solidFill>
                  <a:srgbClr val="182234"/>
                </a:solidFill>
                <a:latin typeface="Segoe UI Light"/>
              </a:rPr>
              <a:t>Accommodation Plan</a:t>
            </a:r>
          </a:p>
        </p:txBody>
      </p:sp>
      <p:sp>
        <p:nvSpPr>
          <p:cNvPr id="4" name="Rounded Rectangle 3"/>
          <p:cNvSpPr/>
          <p:nvPr/>
        </p:nvSpPr>
        <p:spPr>
          <a:xfrm>
            <a:off x="640080" y="1234440"/>
            <a:ext cx="10972800" cy="749808"/>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71600"/>
            <a:ext cx="4297680" cy="274320"/>
          </a:xfrm>
          <a:prstGeom prst="rect">
            <a:avLst/>
          </a:prstGeom>
          <a:noFill/>
        </p:spPr>
        <p:txBody>
          <a:bodyPr wrap="square" anchor="t">
            <a:spAutoFit/>
          </a:bodyPr>
          <a:lstStyle/>
          <a:p>
            <a:pPr algn="l"/>
            <a:r>
              <a:rPr sz="1600" b="1" i="0">
                <a:solidFill>
                  <a:srgbClr val="182234"/>
                </a:solidFill>
                <a:latin typeface="Segoe UI"/>
              </a:rPr>
              <a:t>The Kingsbury Hotel</a:t>
            </a:r>
          </a:p>
        </p:txBody>
      </p:sp>
      <p:sp>
        <p:nvSpPr>
          <p:cNvPr id="6" name="TextBox 5"/>
          <p:cNvSpPr txBox="1"/>
          <p:nvPr/>
        </p:nvSpPr>
        <p:spPr>
          <a:xfrm>
            <a:off x="5303520" y="1371600"/>
            <a:ext cx="1828800" cy="274320"/>
          </a:xfrm>
          <a:prstGeom prst="rect">
            <a:avLst/>
          </a:prstGeom>
          <a:noFill/>
        </p:spPr>
        <p:txBody>
          <a:bodyPr wrap="square" anchor="t">
            <a:spAutoFit/>
          </a:bodyPr>
          <a:lstStyle/>
          <a:p>
            <a:pPr algn="l"/>
            <a:r>
              <a:rPr sz="1400" b="0" i="0">
                <a:solidFill>
                  <a:srgbClr val="626F84"/>
                </a:solidFill>
                <a:latin typeface="Segoe UI"/>
              </a:rPr>
              <a:t>Colombo</a:t>
            </a:r>
          </a:p>
        </p:txBody>
      </p:sp>
      <p:sp>
        <p:nvSpPr>
          <p:cNvPr id="7" name="TextBox 6"/>
          <p:cNvSpPr txBox="1"/>
          <p:nvPr/>
        </p:nvSpPr>
        <p:spPr>
          <a:xfrm>
            <a:off x="7132320" y="1371600"/>
            <a:ext cx="2651760" cy="274320"/>
          </a:xfrm>
          <a:prstGeom prst="rect">
            <a:avLst/>
          </a:prstGeom>
          <a:noFill/>
        </p:spPr>
        <p:txBody>
          <a:bodyPr wrap="square" anchor="t">
            <a:spAutoFit/>
          </a:bodyPr>
          <a:lstStyle/>
          <a:p>
            <a:pPr algn="l"/>
            <a:r>
              <a:rPr sz="1300" b="0" i="0">
                <a:solidFill>
                  <a:srgbClr val="626F84"/>
                </a:solidFill>
                <a:latin typeface="Segoe UI"/>
              </a:rPr>
              <a:t>Deluxe Ocean View</a:t>
            </a:r>
          </a:p>
        </p:txBody>
      </p:sp>
      <p:sp>
        <p:nvSpPr>
          <p:cNvPr id="8" name="TextBox 7"/>
          <p:cNvSpPr txBox="1"/>
          <p:nvPr/>
        </p:nvSpPr>
        <p:spPr>
          <a:xfrm>
            <a:off x="10058400" y="1371600"/>
            <a:ext cx="1371600" cy="274320"/>
          </a:xfrm>
          <a:prstGeom prst="rect">
            <a:avLst/>
          </a:prstGeom>
          <a:noFill/>
        </p:spPr>
        <p:txBody>
          <a:bodyPr wrap="square" anchor="t">
            <a:spAutoFit/>
          </a:bodyPr>
          <a:lstStyle/>
          <a:p>
            <a:pPr algn="r"/>
            <a:r>
              <a:rPr sz="1300" b="1" i="0">
                <a:solidFill>
                  <a:srgbClr val="0A7491"/>
                </a:solidFill>
                <a:latin typeface="Segoe UI"/>
              </a:rPr>
              <a:t>Night 1-2</a:t>
            </a:r>
          </a:p>
        </p:txBody>
      </p:sp>
      <p:sp>
        <p:nvSpPr>
          <p:cNvPr id="9" name="Rounded Rectangle 8"/>
          <p:cNvSpPr/>
          <p:nvPr/>
        </p:nvSpPr>
        <p:spPr>
          <a:xfrm>
            <a:off x="640080" y="2075688"/>
            <a:ext cx="10972800" cy="749808"/>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12848"/>
            <a:ext cx="4297680" cy="274320"/>
          </a:xfrm>
          <a:prstGeom prst="rect">
            <a:avLst/>
          </a:prstGeom>
          <a:noFill/>
        </p:spPr>
        <p:txBody>
          <a:bodyPr wrap="square" anchor="t">
            <a:spAutoFit/>
          </a:bodyPr>
          <a:lstStyle/>
          <a:p>
            <a:pPr algn="l"/>
            <a:r>
              <a:rPr sz="1600" b="1" i="0">
                <a:solidFill>
                  <a:srgbClr val="182234"/>
                </a:solidFill>
                <a:latin typeface="Segoe UI"/>
              </a:rPr>
              <a:t>The Kandy House</a:t>
            </a:r>
          </a:p>
        </p:txBody>
      </p:sp>
      <p:sp>
        <p:nvSpPr>
          <p:cNvPr id="11" name="TextBox 10"/>
          <p:cNvSpPr txBox="1"/>
          <p:nvPr/>
        </p:nvSpPr>
        <p:spPr>
          <a:xfrm>
            <a:off x="5303520" y="2212848"/>
            <a:ext cx="1828800" cy="274320"/>
          </a:xfrm>
          <a:prstGeom prst="rect">
            <a:avLst/>
          </a:prstGeom>
          <a:noFill/>
        </p:spPr>
        <p:txBody>
          <a:bodyPr wrap="square" anchor="t">
            <a:spAutoFit/>
          </a:bodyPr>
          <a:lstStyle/>
          <a:p>
            <a:pPr algn="l"/>
            <a:r>
              <a:rPr sz="1400" b="0" i="0">
                <a:solidFill>
                  <a:srgbClr val="626F84"/>
                </a:solidFill>
                <a:latin typeface="Segoe UI"/>
              </a:rPr>
              <a:t>Kandy</a:t>
            </a:r>
          </a:p>
        </p:txBody>
      </p:sp>
      <p:sp>
        <p:nvSpPr>
          <p:cNvPr id="12" name="TextBox 11"/>
          <p:cNvSpPr txBox="1"/>
          <p:nvPr/>
        </p:nvSpPr>
        <p:spPr>
          <a:xfrm>
            <a:off x="7132320" y="2212848"/>
            <a:ext cx="2651760" cy="274320"/>
          </a:xfrm>
          <a:prstGeom prst="rect">
            <a:avLst/>
          </a:prstGeom>
          <a:noFill/>
        </p:spPr>
        <p:txBody>
          <a:bodyPr wrap="square" anchor="t">
            <a:spAutoFit/>
          </a:bodyPr>
          <a:lstStyle/>
          <a:p>
            <a:pPr algn="l"/>
            <a:r>
              <a:rPr sz="1300" b="0" i="0">
                <a:solidFill>
                  <a:srgbClr val="626F84"/>
                </a:solidFill>
                <a:latin typeface="Segoe UI"/>
              </a:rPr>
              <a:t>Luxury Suite</a:t>
            </a:r>
          </a:p>
        </p:txBody>
      </p:sp>
      <p:sp>
        <p:nvSpPr>
          <p:cNvPr id="13" name="TextBox 12"/>
          <p:cNvSpPr txBox="1"/>
          <p:nvPr/>
        </p:nvSpPr>
        <p:spPr>
          <a:xfrm>
            <a:off x="10058400" y="2212848"/>
            <a:ext cx="1371600" cy="274320"/>
          </a:xfrm>
          <a:prstGeom prst="rect">
            <a:avLst/>
          </a:prstGeom>
          <a:noFill/>
        </p:spPr>
        <p:txBody>
          <a:bodyPr wrap="square" anchor="t">
            <a:spAutoFit/>
          </a:bodyPr>
          <a:lstStyle/>
          <a:p>
            <a:pPr algn="r"/>
            <a:r>
              <a:rPr sz="1300" b="1" i="0">
                <a:solidFill>
                  <a:srgbClr val="0A7491"/>
                </a:solidFill>
                <a:latin typeface="Segoe UI"/>
              </a:rPr>
              <a:t>Night 3-4</a:t>
            </a:r>
          </a:p>
        </p:txBody>
      </p:sp>
      <p:sp>
        <p:nvSpPr>
          <p:cNvPr id="14" name="Rounded Rectangle 13"/>
          <p:cNvSpPr/>
          <p:nvPr/>
        </p:nvSpPr>
        <p:spPr>
          <a:xfrm>
            <a:off x="640080" y="2916936"/>
            <a:ext cx="10972800" cy="749808"/>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054096"/>
            <a:ext cx="4297680" cy="274320"/>
          </a:xfrm>
          <a:prstGeom prst="rect">
            <a:avLst/>
          </a:prstGeom>
          <a:noFill/>
        </p:spPr>
        <p:txBody>
          <a:bodyPr wrap="square" anchor="t">
            <a:spAutoFit/>
          </a:bodyPr>
          <a:lstStyle/>
          <a:p>
            <a:pPr algn="l"/>
            <a:r>
              <a:rPr sz="1600" b="1" i="0">
                <a:solidFill>
                  <a:srgbClr val="182234"/>
                </a:solidFill>
                <a:latin typeface="Segoe UI"/>
              </a:rPr>
              <a:t>Jetwing St. Andrew's</a:t>
            </a:r>
          </a:p>
        </p:txBody>
      </p:sp>
      <p:sp>
        <p:nvSpPr>
          <p:cNvPr id="16" name="TextBox 15"/>
          <p:cNvSpPr txBox="1"/>
          <p:nvPr/>
        </p:nvSpPr>
        <p:spPr>
          <a:xfrm>
            <a:off x="5303520" y="3054096"/>
            <a:ext cx="1828800" cy="274320"/>
          </a:xfrm>
          <a:prstGeom prst="rect">
            <a:avLst/>
          </a:prstGeom>
          <a:noFill/>
        </p:spPr>
        <p:txBody>
          <a:bodyPr wrap="square" anchor="t">
            <a:spAutoFit/>
          </a:bodyPr>
          <a:lstStyle/>
          <a:p>
            <a:pPr algn="l"/>
            <a:r>
              <a:rPr sz="1400" b="0" i="0">
                <a:solidFill>
                  <a:srgbClr val="626F84"/>
                </a:solidFill>
                <a:latin typeface="Segoe UI"/>
              </a:rPr>
              <a:t>Nuwara Eliya</a:t>
            </a:r>
          </a:p>
        </p:txBody>
      </p:sp>
      <p:sp>
        <p:nvSpPr>
          <p:cNvPr id="17" name="TextBox 16"/>
          <p:cNvSpPr txBox="1"/>
          <p:nvPr/>
        </p:nvSpPr>
        <p:spPr>
          <a:xfrm>
            <a:off x="7132320" y="3054096"/>
            <a:ext cx="2651760" cy="274320"/>
          </a:xfrm>
          <a:prstGeom prst="rect">
            <a:avLst/>
          </a:prstGeom>
          <a:noFill/>
        </p:spPr>
        <p:txBody>
          <a:bodyPr wrap="square" anchor="t">
            <a:spAutoFit/>
          </a:bodyPr>
          <a:lstStyle/>
          <a:p>
            <a:pPr algn="l"/>
            <a:r>
              <a:rPr sz="1300" b="0" i="0">
                <a:solidFill>
                  <a:srgbClr val="626F84"/>
                </a:solidFill>
                <a:latin typeface="Segoe UI"/>
              </a:rPr>
              <a:t>Colonial Room</a:t>
            </a:r>
          </a:p>
        </p:txBody>
      </p:sp>
      <p:sp>
        <p:nvSpPr>
          <p:cNvPr id="18" name="TextBox 17"/>
          <p:cNvSpPr txBox="1"/>
          <p:nvPr/>
        </p:nvSpPr>
        <p:spPr>
          <a:xfrm>
            <a:off x="10058400" y="3054096"/>
            <a:ext cx="1371600" cy="274320"/>
          </a:xfrm>
          <a:prstGeom prst="rect">
            <a:avLst/>
          </a:prstGeom>
          <a:noFill/>
        </p:spPr>
        <p:txBody>
          <a:bodyPr wrap="square" anchor="t">
            <a:spAutoFit/>
          </a:bodyPr>
          <a:lstStyle/>
          <a:p>
            <a:pPr algn="r"/>
            <a:r>
              <a:rPr sz="1300" b="1" i="0">
                <a:solidFill>
                  <a:srgbClr val="0A7491"/>
                </a:solidFill>
                <a:latin typeface="Segoe UI"/>
              </a:rPr>
              <a:t>Night 5-6</a:t>
            </a:r>
          </a:p>
        </p:txBody>
      </p:sp>
      <p:sp>
        <p:nvSpPr>
          <p:cNvPr id="19" name="Rounded Rectangle 18"/>
          <p:cNvSpPr/>
          <p:nvPr/>
        </p:nvSpPr>
        <p:spPr>
          <a:xfrm>
            <a:off x="640080" y="3758184"/>
            <a:ext cx="10972800" cy="749808"/>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95344"/>
            <a:ext cx="4297680" cy="274320"/>
          </a:xfrm>
          <a:prstGeom prst="rect">
            <a:avLst/>
          </a:prstGeom>
          <a:noFill/>
        </p:spPr>
        <p:txBody>
          <a:bodyPr wrap="square" anchor="t">
            <a:spAutoFit/>
          </a:bodyPr>
          <a:lstStyle/>
          <a:p>
            <a:pPr algn="l"/>
            <a:r>
              <a:rPr sz="1600" b="1" i="0">
                <a:solidFill>
                  <a:srgbClr val="182234"/>
                </a:solidFill>
                <a:latin typeface="Segoe UI"/>
              </a:rPr>
              <a:t>Amangalla</a:t>
            </a:r>
          </a:p>
        </p:txBody>
      </p:sp>
      <p:sp>
        <p:nvSpPr>
          <p:cNvPr id="21" name="TextBox 20"/>
          <p:cNvSpPr txBox="1"/>
          <p:nvPr/>
        </p:nvSpPr>
        <p:spPr>
          <a:xfrm>
            <a:off x="5303520" y="3895344"/>
            <a:ext cx="1828800" cy="274320"/>
          </a:xfrm>
          <a:prstGeom prst="rect">
            <a:avLst/>
          </a:prstGeom>
          <a:noFill/>
        </p:spPr>
        <p:txBody>
          <a:bodyPr wrap="square" anchor="t">
            <a:spAutoFit/>
          </a:bodyPr>
          <a:lstStyle/>
          <a:p>
            <a:pPr algn="l"/>
            <a:r>
              <a:rPr sz="1400" b="0" i="0">
                <a:solidFill>
                  <a:srgbClr val="626F84"/>
                </a:solidFill>
                <a:latin typeface="Segoe UI"/>
              </a:rPr>
              <a:t>Galle Fort</a:t>
            </a:r>
          </a:p>
        </p:txBody>
      </p:sp>
      <p:sp>
        <p:nvSpPr>
          <p:cNvPr id="22" name="TextBox 21"/>
          <p:cNvSpPr txBox="1"/>
          <p:nvPr/>
        </p:nvSpPr>
        <p:spPr>
          <a:xfrm>
            <a:off x="7132320" y="3895344"/>
            <a:ext cx="2651760" cy="274320"/>
          </a:xfrm>
          <a:prstGeom prst="rect">
            <a:avLst/>
          </a:prstGeom>
          <a:noFill/>
        </p:spPr>
        <p:txBody>
          <a:bodyPr wrap="square" anchor="t">
            <a:spAutoFit/>
          </a:bodyPr>
          <a:lstStyle/>
          <a:p>
            <a:pPr algn="l"/>
            <a:r>
              <a:rPr sz="1300" b="0" i="0">
                <a:solidFill>
                  <a:srgbClr val="626F84"/>
                </a:solidFill>
                <a:latin typeface="Segoe UI"/>
              </a:rPr>
              <a:t>Heritage Suite</a:t>
            </a:r>
          </a:p>
        </p:txBody>
      </p:sp>
      <p:sp>
        <p:nvSpPr>
          <p:cNvPr id="23" name="TextBox 22"/>
          <p:cNvSpPr txBox="1"/>
          <p:nvPr/>
        </p:nvSpPr>
        <p:spPr>
          <a:xfrm>
            <a:off x="10058400" y="3895344"/>
            <a:ext cx="1371600" cy="274320"/>
          </a:xfrm>
          <a:prstGeom prst="rect">
            <a:avLst/>
          </a:prstGeom>
          <a:noFill/>
        </p:spPr>
        <p:txBody>
          <a:bodyPr wrap="square" anchor="t">
            <a:spAutoFit/>
          </a:bodyPr>
          <a:lstStyle/>
          <a:p>
            <a:pPr algn="r"/>
            <a:r>
              <a:rPr sz="1300" b="1" i="0">
                <a:solidFill>
                  <a:srgbClr val="0A7491"/>
                </a:solidFill>
                <a:latin typeface="Segoe UI"/>
              </a:rPr>
              <a:t>Night 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6858000" cy="594360"/>
          </a:xfrm>
          <a:prstGeom prst="rect">
            <a:avLst/>
          </a:prstGeom>
          <a:noFill/>
        </p:spPr>
        <p:txBody>
          <a:bodyPr wrap="square" anchor="t">
            <a:spAutoFit/>
          </a:bodyPr>
          <a:lstStyle/>
          <a:p>
            <a:pPr algn="l"/>
            <a:r>
              <a:rPr sz="3200" b="1" i="0">
                <a:solidFill>
                  <a:srgbClr val="182234"/>
                </a:solidFill>
                <a:latin typeface="Segoe UI Light"/>
              </a:rPr>
              <a:t>Inclusions &amp; Exclusions</a:t>
            </a:r>
          </a:p>
        </p:txBody>
      </p:sp>
      <p:sp>
        <p:nvSpPr>
          <p:cNvPr id="4" name="Rounded Rectangle 3"/>
          <p:cNvSpPr/>
          <p:nvPr/>
        </p:nvSpPr>
        <p:spPr>
          <a:xfrm>
            <a:off x="640080" y="1234440"/>
            <a:ext cx="5577840" cy="4983480"/>
          </a:xfrm>
          <a:prstGeom prst="roundRect">
            <a:avLst/>
          </a:prstGeom>
          <a:solidFill>
            <a:srgbClr val="EDFCF7"/>
          </a:solidFill>
          <a:ln>
            <a:solidFill>
              <a:srgbClr val="C4E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55080" y="1234440"/>
            <a:ext cx="5166360" cy="4983480"/>
          </a:xfrm>
          <a:prstGeom prst="roundRect">
            <a:avLst/>
          </a:prstGeom>
          <a:solidFill>
            <a:srgbClr val="FFF1F1"/>
          </a:solidFill>
          <a:ln>
            <a:solidFill>
              <a:srgbClr val="F3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2743200" cy="411480"/>
          </a:xfrm>
          <a:prstGeom prst="rect">
            <a:avLst/>
          </a:prstGeom>
          <a:noFill/>
        </p:spPr>
        <p:txBody>
          <a:bodyPr wrap="square" anchor="t">
            <a:spAutoFit/>
          </a:bodyPr>
          <a:lstStyle/>
          <a:p>
            <a:pPr algn="l"/>
            <a:r>
              <a:rPr sz="2400" b="1" i="0">
                <a:solidFill>
                  <a:srgbClr val="1F9778"/>
                </a:solidFill>
                <a:latin typeface="Segoe UI"/>
              </a:rPr>
              <a:t>Included</a:t>
            </a:r>
          </a:p>
        </p:txBody>
      </p:sp>
      <p:sp>
        <p:nvSpPr>
          <p:cNvPr id="7" name="TextBox 6"/>
          <p:cNvSpPr txBox="1"/>
          <p:nvPr/>
        </p:nvSpPr>
        <p:spPr>
          <a:xfrm>
            <a:off x="6629400" y="1508760"/>
            <a:ext cx="2926080" cy="411480"/>
          </a:xfrm>
          <a:prstGeom prst="rect">
            <a:avLst/>
          </a:prstGeom>
          <a:noFill/>
        </p:spPr>
        <p:txBody>
          <a:bodyPr wrap="square" anchor="t">
            <a:spAutoFit/>
          </a:bodyPr>
          <a:lstStyle/>
          <a:p>
            <a:pPr algn="l"/>
            <a:r>
              <a:rPr sz="2400" b="1" i="0">
                <a:solidFill>
                  <a:srgbClr val="DC5656"/>
                </a:solidFill>
                <a:latin typeface="Segoe UI"/>
              </a:rPr>
              <a:t>Not Included</a:t>
            </a:r>
          </a:p>
        </p:txBody>
      </p:sp>
      <p:sp>
        <p:nvSpPr>
          <p:cNvPr id="8" name="TextBox 7"/>
          <p:cNvSpPr txBox="1"/>
          <p:nvPr/>
        </p:nvSpPr>
        <p:spPr>
          <a:xfrm>
            <a:off x="914400" y="2011680"/>
            <a:ext cx="5120640" cy="310896"/>
          </a:xfrm>
          <a:prstGeom prst="rect">
            <a:avLst/>
          </a:prstGeom>
          <a:noFill/>
        </p:spPr>
        <p:txBody>
          <a:bodyPr wrap="square" anchor="t">
            <a:spAutoFit/>
          </a:bodyPr>
          <a:lstStyle/>
          <a:p>
            <a:pPr algn="l"/>
            <a:r>
              <a:rPr sz="1300" b="0" i="0">
                <a:solidFill>
                  <a:srgbClr val="182234"/>
                </a:solidFill>
                <a:latin typeface="Segoe UI"/>
              </a:rPr>
              <a:t>✓ 7 nights accommodation in 4 &amp; 5 star hotels</a:t>
            </a:r>
          </a:p>
        </p:txBody>
      </p:sp>
      <p:sp>
        <p:nvSpPr>
          <p:cNvPr id="9" name="TextBox 8"/>
          <p:cNvSpPr txBox="1"/>
          <p:nvPr/>
        </p:nvSpPr>
        <p:spPr>
          <a:xfrm>
            <a:off x="914400" y="2359152"/>
            <a:ext cx="5120640" cy="310896"/>
          </a:xfrm>
          <a:prstGeom prst="rect">
            <a:avLst/>
          </a:prstGeom>
          <a:noFill/>
        </p:spPr>
        <p:txBody>
          <a:bodyPr wrap="square" anchor="t">
            <a:spAutoFit/>
          </a:bodyPr>
          <a:lstStyle/>
          <a:p>
            <a:pPr algn="l"/>
            <a:r>
              <a:rPr sz="1300" b="0" i="0">
                <a:solidFill>
                  <a:srgbClr val="182234"/>
                </a:solidFill>
                <a:latin typeface="Segoe UI"/>
              </a:rPr>
              <a:t>✓ Daily breakfast at all hotels</a:t>
            </a:r>
          </a:p>
        </p:txBody>
      </p:sp>
      <p:sp>
        <p:nvSpPr>
          <p:cNvPr id="10" name="TextBox 9"/>
          <p:cNvSpPr txBox="1"/>
          <p:nvPr/>
        </p:nvSpPr>
        <p:spPr>
          <a:xfrm>
            <a:off x="914400" y="2706624"/>
            <a:ext cx="5120640" cy="310896"/>
          </a:xfrm>
          <a:prstGeom prst="rect">
            <a:avLst/>
          </a:prstGeom>
          <a:noFill/>
        </p:spPr>
        <p:txBody>
          <a:bodyPr wrap="square" anchor="t">
            <a:spAutoFit/>
          </a:bodyPr>
          <a:lstStyle/>
          <a:p>
            <a:pPr algn="l"/>
            <a:r>
              <a:rPr sz="1300" b="0" i="0">
                <a:solidFill>
                  <a:srgbClr val="182234"/>
                </a:solidFill>
                <a:latin typeface="Segoe UI"/>
              </a:rPr>
              <a:t>✓ Welcome dinner on Day 1</a:t>
            </a:r>
          </a:p>
        </p:txBody>
      </p:sp>
      <p:sp>
        <p:nvSpPr>
          <p:cNvPr id="11" name="TextBox 10"/>
          <p:cNvSpPr txBox="1"/>
          <p:nvPr/>
        </p:nvSpPr>
        <p:spPr>
          <a:xfrm>
            <a:off x="914400" y="3054096"/>
            <a:ext cx="5120640" cy="310896"/>
          </a:xfrm>
          <a:prstGeom prst="rect">
            <a:avLst/>
          </a:prstGeom>
          <a:noFill/>
        </p:spPr>
        <p:txBody>
          <a:bodyPr wrap="square" anchor="t">
            <a:spAutoFit/>
          </a:bodyPr>
          <a:lstStyle/>
          <a:p>
            <a:pPr algn="l"/>
            <a:r>
              <a:rPr sz="1300" b="0" i="0">
                <a:solidFill>
                  <a:srgbClr val="182234"/>
                </a:solidFill>
                <a:latin typeface="Segoe UI"/>
              </a:rPr>
              <a:t>✓ 3 lunches at select restaurants</a:t>
            </a:r>
          </a:p>
        </p:txBody>
      </p:sp>
      <p:sp>
        <p:nvSpPr>
          <p:cNvPr id="12" name="TextBox 11"/>
          <p:cNvSpPr txBox="1"/>
          <p:nvPr/>
        </p:nvSpPr>
        <p:spPr>
          <a:xfrm>
            <a:off x="914400" y="3401568"/>
            <a:ext cx="5120640" cy="310896"/>
          </a:xfrm>
          <a:prstGeom prst="rect">
            <a:avLst/>
          </a:prstGeom>
          <a:noFill/>
        </p:spPr>
        <p:txBody>
          <a:bodyPr wrap="square" anchor="t">
            <a:spAutoFit/>
          </a:bodyPr>
          <a:lstStyle/>
          <a:p>
            <a:pPr algn="l"/>
            <a:r>
              <a:rPr sz="1300" b="0" i="0">
                <a:solidFill>
                  <a:srgbClr val="182234"/>
                </a:solidFill>
                <a:latin typeface="Segoe UI"/>
              </a:rPr>
              <a:t>✓ All entrance fees to monuments and sites</a:t>
            </a:r>
          </a:p>
        </p:txBody>
      </p:sp>
      <p:sp>
        <p:nvSpPr>
          <p:cNvPr id="13" name="TextBox 12"/>
          <p:cNvSpPr txBox="1"/>
          <p:nvPr/>
        </p:nvSpPr>
        <p:spPr>
          <a:xfrm>
            <a:off x="914400" y="3749039"/>
            <a:ext cx="5120640" cy="310896"/>
          </a:xfrm>
          <a:prstGeom prst="rect">
            <a:avLst/>
          </a:prstGeom>
          <a:noFill/>
        </p:spPr>
        <p:txBody>
          <a:bodyPr wrap="square" anchor="t">
            <a:spAutoFit/>
          </a:bodyPr>
          <a:lstStyle/>
          <a:p>
            <a:pPr algn="l"/>
            <a:r>
              <a:rPr sz="1300" b="0" i="0">
                <a:solidFill>
                  <a:srgbClr val="182234"/>
                </a:solidFill>
                <a:latin typeface="Segoe UI"/>
              </a:rPr>
              <a:t>✓ English-speaking professional guide throughout</a:t>
            </a:r>
          </a:p>
        </p:txBody>
      </p:sp>
      <p:sp>
        <p:nvSpPr>
          <p:cNvPr id="14" name="TextBox 13"/>
          <p:cNvSpPr txBox="1"/>
          <p:nvPr/>
        </p:nvSpPr>
        <p:spPr>
          <a:xfrm>
            <a:off x="914400" y="4096511"/>
            <a:ext cx="5120640" cy="310896"/>
          </a:xfrm>
          <a:prstGeom prst="rect">
            <a:avLst/>
          </a:prstGeom>
          <a:noFill/>
        </p:spPr>
        <p:txBody>
          <a:bodyPr wrap="square" anchor="t">
            <a:spAutoFit/>
          </a:bodyPr>
          <a:lstStyle/>
          <a:p>
            <a:pPr algn="l"/>
            <a:r>
              <a:rPr sz="1300" b="0" i="0">
                <a:solidFill>
                  <a:srgbClr val="182234"/>
                </a:solidFill>
                <a:latin typeface="Segoe UI"/>
              </a:rPr>
              <a:t>✓ Private air-conditioned vehicle for all transfers</a:t>
            </a:r>
          </a:p>
        </p:txBody>
      </p:sp>
      <p:sp>
        <p:nvSpPr>
          <p:cNvPr id="15" name="TextBox 14"/>
          <p:cNvSpPr txBox="1"/>
          <p:nvPr/>
        </p:nvSpPr>
        <p:spPr>
          <a:xfrm>
            <a:off x="914400" y="4443983"/>
            <a:ext cx="5120640" cy="310896"/>
          </a:xfrm>
          <a:prstGeom prst="rect">
            <a:avLst/>
          </a:prstGeom>
          <a:noFill/>
        </p:spPr>
        <p:txBody>
          <a:bodyPr wrap="square" anchor="t">
            <a:spAutoFit/>
          </a:bodyPr>
          <a:lstStyle/>
          <a:p>
            <a:pPr algn="l"/>
            <a:r>
              <a:rPr sz="1300" b="0" i="0">
                <a:solidFill>
                  <a:srgbClr val="182234"/>
                </a:solidFill>
                <a:latin typeface="Segoe UI"/>
              </a:rPr>
              <a:t>✓ Airport meet and greet service</a:t>
            </a:r>
          </a:p>
        </p:txBody>
      </p:sp>
      <p:sp>
        <p:nvSpPr>
          <p:cNvPr id="16" name="TextBox 15"/>
          <p:cNvSpPr txBox="1"/>
          <p:nvPr/>
        </p:nvSpPr>
        <p:spPr>
          <a:xfrm>
            <a:off x="914400" y="4791455"/>
            <a:ext cx="5120640" cy="310896"/>
          </a:xfrm>
          <a:prstGeom prst="rect">
            <a:avLst/>
          </a:prstGeom>
          <a:noFill/>
        </p:spPr>
        <p:txBody>
          <a:bodyPr wrap="square" anchor="t">
            <a:spAutoFit/>
          </a:bodyPr>
          <a:lstStyle/>
          <a:p>
            <a:pPr algn="l"/>
            <a:r>
              <a:rPr sz="1300" b="0" i="0">
                <a:solidFill>
                  <a:srgbClr val="182234"/>
                </a:solidFill>
                <a:latin typeface="Segoe UI"/>
              </a:rPr>
              <a:t>✓ Train tickets for Kandy to Nuwara Eliya scenic route</a:t>
            </a:r>
          </a:p>
        </p:txBody>
      </p:sp>
      <p:sp>
        <p:nvSpPr>
          <p:cNvPr id="17" name="TextBox 16"/>
          <p:cNvSpPr txBox="1"/>
          <p:nvPr/>
        </p:nvSpPr>
        <p:spPr>
          <a:xfrm>
            <a:off x="914400" y="5138927"/>
            <a:ext cx="5120640" cy="310896"/>
          </a:xfrm>
          <a:prstGeom prst="rect">
            <a:avLst/>
          </a:prstGeom>
          <a:noFill/>
        </p:spPr>
        <p:txBody>
          <a:bodyPr wrap="square" anchor="t">
            <a:spAutoFit/>
          </a:bodyPr>
          <a:lstStyle/>
          <a:p>
            <a:pPr algn="l"/>
            <a:r>
              <a:rPr sz="1300" b="0" i="0">
                <a:solidFill>
                  <a:srgbClr val="182234"/>
                </a:solidFill>
                <a:latin typeface="Segoe UI"/>
              </a:rPr>
              <a:t>✓ All activities mentioned in itinerary</a:t>
            </a:r>
          </a:p>
        </p:txBody>
      </p:sp>
      <p:sp>
        <p:nvSpPr>
          <p:cNvPr id="18" name="TextBox 17"/>
          <p:cNvSpPr txBox="1"/>
          <p:nvPr/>
        </p:nvSpPr>
        <p:spPr>
          <a:xfrm>
            <a:off x="6629400" y="2011680"/>
            <a:ext cx="4663440" cy="310896"/>
          </a:xfrm>
          <a:prstGeom prst="rect">
            <a:avLst/>
          </a:prstGeom>
          <a:noFill/>
        </p:spPr>
        <p:txBody>
          <a:bodyPr wrap="square" anchor="t">
            <a:spAutoFit/>
          </a:bodyPr>
          <a:lstStyle/>
          <a:p>
            <a:pPr algn="l"/>
            <a:r>
              <a:rPr sz="1300" b="0" i="0">
                <a:solidFill>
                  <a:srgbClr val="182234"/>
                </a:solidFill>
                <a:latin typeface="Segoe UI"/>
              </a:rPr>
              <a:t>✗ International and domestic airfare</a:t>
            </a:r>
          </a:p>
        </p:txBody>
      </p:sp>
      <p:sp>
        <p:nvSpPr>
          <p:cNvPr id="19" name="TextBox 18"/>
          <p:cNvSpPr txBox="1"/>
          <p:nvPr/>
        </p:nvSpPr>
        <p:spPr>
          <a:xfrm>
            <a:off x="6629400" y="2359152"/>
            <a:ext cx="4663440" cy="310896"/>
          </a:xfrm>
          <a:prstGeom prst="rect">
            <a:avLst/>
          </a:prstGeom>
          <a:noFill/>
        </p:spPr>
        <p:txBody>
          <a:bodyPr wrap="square" anchor="t">
            <a:spAutoFit/>
          </a:bodyPr>
          <a:lstStyle/>
          <a:p>
            <a:pPr algn="l"/>
            <a:r>
              <a:rPr sz="1300" b="0" i="0">
                <a:solidFill>
                  <a:srgbClr val="182234"/>
                </a:solidFill>
                <a:latin typeface="Segoe UI"/>
              </a:rPr>
              <a:t>✗ Sri Lankan visa fees (ETA)</a:t>
            </a:r>
          </a:p>
        </p:txBody>
      </p:sp>
      <p:sp>
        <p:nvSpPr>
          <p:cNvPr id="20" name="TextBox 19"/>
          <p:cNvSpPr txBox="1"/>
          <p:nvPr/>
        </p:nvSpPr>
        <p:spPr>
          <a:xfrm>
            <a:off x="6629400" y="2706624"/>
            <a:ext cx="4663440" cy="310896"/>
          </a:xfrm>
          <a:prstGeom prst="rect">
            <a:avLst/>
          </a:prstGeom>
          <a:noFill/>
        </p:spPr>
        <p:txBody>
          <a:bodyPr wrap="square" anchor="t">
            <a:spAutoFit/>
          </a:bodyPr>
          <a:lstStyle/>
          <a:p>
            <a:pPr algn="l"/>
            <a:r>
              <a:rPr sz="1300" b="0" i="0">
                <a:solidFill>
                  <a:srgbClr val="182234"/>
                </a:solidFill>
                <a:latin typeface="Segoe UI"/>
              </a:rPr>
              <a:t>✗ Travel insurance</a:t>
            </a:r>
          </a:p>
        </p:txBody>
      </p:sp>
      <p:sp>
        <p:nvSpPr>
          <p:cNvPr id="21" name="TextBox 20"/>
          <p:cNvSpPr txBox="1"/>
          <p:nvPr/>
        </p:nvSpPr>
        <p:spPr>
          <a:xfrm>
            <a:off x="6629400" y="3054096"/>
            <a:ext cx="4663440" cy="310896"/>
          </a:xfrm>
          <a:prstGeom prst="rect">
            <a:avLst/>
          </a:prstGeom>
          <a:noFill/>
        </p:spPr>
        <p:txBody>
          <a:bodyPr wrap="square" anchor="t">
            <a:spAutoFit/>
          </a:bodyPr>
          <a:lstStyle/>
          <a:p>
            <a:pPr algn="l"/>
            <a:r>
              <a:rPr sz="1300" b="0" i="0">
                <a:solidFill>
                  <a:srgbClr val="182234"/>
                </a:solidFill>
                <a:latin typeface="Segoe UI"/>
              </a:rPr>
              <a:t>✗ Lunches and dinners not mentioned in itinerary</a:t>
            </a:r>
          </a:p>
        </p:txBody>
      </p:sp>
      <p:sp>
        <p:nvSpPr>
          <p:cNvPr id="22" name="TextBox 21"/>
          <p:cNvSpPr txBox="1"/>
          <p:nvPr/>
        </p:nvSpPr>
        <p:spPr>
          <a:xfrm>
            <a:off x="6629400" y="3401568"/>
            <a:ext cx="4663440" cy="310896"/>
          </a:xfrm>
          <a:prstGeom prst="rect">
            <a:avLst/>
          </a:prstGeom>
          <a:noFill/>
        </p:spPr>
        <p:txBody>
          <a:bodyPr wrap="square" anchor="t">
            <a:spAutoFit/>
          </a:bodyPr>
          <a:lstStyle/>
          <a:p>
            <a:pPr algn="l"/>
            <a:r>
              <a:rPr sz="1300" b="0" i="0">
                <a:solidFill>
                  <a:srgbClr val="182234"/>
                </a:solidFill>
                <a:latin typeface="Segoe UI"/>
              </a:rPr>
              <a:t>✗ Optional activities and spa treatments</a:t>
            </a:r>
          </a:p>
        </p:txBody>
      </p:sp>
      <p:sp>
        <p:nvSpPr>
          <p:cNvPr id="23" name="TextBox 22"/>
          <p:cNvSpPr txBox="1"/>
          <p:nvPr/>
        </p:nvSpPr>
        <p:spPr>
          <a:xfrm>
            <a:off x="6629400" y="3749039"/>
            <a:ext cx="4663440" cy="310896"/>
          </a:xfrm>
          <a:prstGeom prst="rect">
            <a:avLst/>
          </a:prstGeom>
          <a:noFill/>
        </p:spPr>
        <p:txBody>
          <a:bodyPr wrap="square" anchor="t">
            <a:spAutoFit/>
          </a:bodyPr>
          <a:lstStyle/>
          <a:p>
            <a:pPr algn="l"/>
            <a:r>
              <a:rPr sz="1300" b="0" i="0">
                <a:solidFill>
                  <a:srgbClr val="182234"/>
                </a:solidFill>
                <a:latin typeface="Segoe UI"/>
              </a:rPr>
              <a:t>✗ Personal expenses and shopping</a:t>
            </a:r>
          </a:p>
        </p:txBody>
      </p:sp>
      <p:sp>
        <p:nvSpPr>
          <p:cNvPr id="24" name="TextBox 23"/>
          <p:cNvSpPr txBox="1"/>
          <p:nvPr/>
        </p:nvSpPr>
        <p:spPr>
          <a:xfrm>
            <a:off x="6629400" y="4096511"/>
            <a:ext cx="4663440" cy="310896"/>
          </a:xfrm>
          <a:prstGeom prst="rect">
            <a:avLst/>
          </a:prstGeom>
          <a:noFill/>
        </p:spPr>
        <p:txBody>
          <a:bodyPr wrap="square" anchor="t">
            <a:spAutoFit/>
          </a:bodyPr>
          <a:lstStyle/>
          <a:p>
            <a:pPr algn="l"/>
            <a:r>
              <a:rPr sz="1300" b="0" i="0">
                <a:solidFill>
                  <a:srgbClr val="182234"/>
                </a:solidFill>
                <a:latin typeface="Segoe UI"/>
              </a:rPr>
              <a:t>✗ Tips for guides and drivers</a:t>
            </a:r>
          </a:p>
        </p:txBody>
      </p:sp>
      <p:sp>
        <p:nvSpPr>
          <p:cNvPr id="25" name="TextBox 24"/>
          <p:cNvSpPr txBox="1"/>
          <p:nvPr/>
        </p:nvSpPr>
        <p:spPr>
          <a:xfrm>
            <a:off x="6629400" y="4443983"/>
            <a:ext cx="4663440" cy="310896"/>
          </a:xfrm>
          <a:prstGeom prst="rect">
            <a:avLst/>
          </a:prstGeom>
          <a:noFill/>
        </p:spPr>
        <p:txBody>
          <a:bodyPr wrap="square" anchor="t">
            <a:spAutoFit/>
          </a:bodyPr>
          <a:lstStyle/>
          <a:p>
            <a:pPr algn="l"/>
            <a:r>
              <a:rPr sz="1300" b="0" i="0">
                <a:solidFill>
                  <a:srgbClr val="182234"/>
                </a:solidFill>
                <a:latin typeface="Segoe UI"/>
              </a:rPr>
              <a:t>✗ Camera fees at certain sites</a:t>
            </a:r>
          </a:p>
        </p:txBody>
      </p:sp>
      <p:sp>
        <p:nvSpPr>
          <p:cNvPr id="26" name="TextBox 25"/>
          <p:cNvSpPr txBox="1"/>
          <p:nvPr/>
        </p:nvSpPr>
        <p:spPr>
          <a:xfrm>
            <a:off x="6629400" y="4791455"/>
            <a:ext cx="4663440" cy="310896"/>
          </a:xfrm>
          <a:prstGeom prst="rect">
            <a:avLst/>
          </a:prstGeom>
          <a:noFill/>
        </p:spPr>
        <p:txBody>
          <a:bodyPr wrap="square" anchor="t">
            <a:spAutoFit/>
          </a:bodyPr>
          <a:lstStyle/>
          <a:p>
            <a:pPr algn="l"/>
            <a:r>
              <a:rPr sz="1300" b="0" i="0">
                <a:solidFill>
                  <a:srgbClr val="182234"/>
                </a:solidFill>
                <a:latin typeface="Segoe UI"/>
              </a:rPr>
              <a:t>✗ Any services not mentioned in inclusions</a:t>
            </a:r>
          </a:p>
        </p:txBody>
      </p:sp>
      <p:sp>
        <p:nvSpPr>
          <p:cNvPr id="27" name="Rounded Rectangle 26"/>
          <p:cNvSpPr/>
          <p:nvPr/>
        </p:nvSpPr>
        <p:spPr>
          <a:xfrm>
            <a:off x="3886200" y="6355080"/>
            <a:ext cx="4389120" cy="384048"/>
          </a:xfrm>
          <a:prstGeom prst="roundRect">
            <a:avLst/>
          </a:prstGeom>
          <a:solidFill>
            <a:srgbClr val="0CA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Segoe UI"/>
              </a:rPr>
              <a:t>Cost Per Person: ₹48,500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8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594360"/>
            <a:ext cx="11000232" cy="5669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0" y="1920240"/>
            <a:ext cx="3200400" cy="731520"/>
          </a:xfrm>
          <a:prstGeom prst="rect">
            <a:avLst/>
          </a:prstGeom>
          <a:noFill/>
        </p:spPr>
        <p:txBody>
          <a:bodyPr wrap="square" anchor="t">
            <a:spAutoFit/>
          </a:bodyPr>
          <a:lstStyle/>
          <a:p>
            <a:pPr algn="ctr"/>
            <a:r>
              <a:rPr sz="4800" b="1" i="0">
                <a:solidFill>
                  <a:srgbClr val="182234"/>
                </a:solidFill>
                <a:latin typeface="Segoe UI Light"/>
              </a:rPr>
              <a:t>Thank You</a:t>
            </a:r>
          </a:p>
        </p:txBody>
      </p:sp>
      <p:sp>
        <p:nvSpPr>
          <p:cNvPr id="5" name="TextBox 4"/>
          <p:cNvSpPr txBox="1"/>
          <p:nvPr/>
        </p:nvSpPr>
        <p:spPr>
          <a:xfrm>
            <a:off x="3977639" y="2788920"/>
            <a:ext cx="4206240" cy="457200"/>
          </a:xfrm>
          <a:prstGeom prst="rect">
            <a:avLst/>
          </a:prstGeom>
          <a:noFill/>
        </p:spPr>
        <p:txBody>
          <a:bodyPr wrap="square" anchor="t">
            <a:spAutoFit/>
          </a:bodyPr>
          <a:lstStyle/>
          <a:p>
            <a:pPr algn="ctr"/>
            <a:r>
              <a:rPr sz="1800" b="0" i="0">
                <a:solidFill>
                  <a:srgbClr val="626F84"/>
                </a:solidFill>
                <a:latin typeface="Segoe UI"/>
              </a:rPr>
              <a:t>Your journey starts here.</a:t>
            </a:r>
          </a:p>
        </p:txBody>
      </p:sp>
      <p:sp>
        <p:nvSpPr>
          <p:cNvPr id="6" name="TextBox 5"/>
          <p:cNvSpPr txBox="1"/>
          <p:nvPr/>
        </p:nvSpPr>
        <p:spPr>
          <a:xfrm>
            <a:off x="1828800" y="3794760"/>
            <a:ext cx="8412480" cy="502920"/>
          </a:xfrm>
          <a:prstGeom prst="rect">
            <a:avLst/>
          </a:prstGeom>
          <a:noFill/>
        </p:spPr>
        <p:txBody>
          <a:bodyPr wrap="square" anchor="t">
            <a:spAutoFit/>
          </a:bodyPr>
          <a:lstStyle/>
          <a:p>
            <a:pPr algn="ctr"/>
            <a:r>
              <a:rPr sz="2000" b="1" i="0">
                <a:solidFill>
                  <a:srgbClr val="0A7491"/>
                </a:solidFill>
                <a:latin typeface="Segoe UI"/>
              </a:rPr>
              <a:t>8 Days Tour in Sri Lanka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
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5A81A1"/>
        </a:solidFill>
        <a:effectLst/>
      </p:bgPr>
    </p:bg>
    <p:spTree>
      <p:nvGrpSpPr>
        <p:cNvPr id="1" name=""/>
        <p:cNvGrpSpPr/>
        <p:nvPr/>
      </p:nvGrpSpPr>
      <p:grpSpPr/>
      <p:sp>
        <p:nvSpPr>
          <p:cNvPr id="2" name="Rectangle 1"/>
          <p:cNvSpPr/>
          <p:nvPr/>
        </p:nvSpPr>
        <p:spPr>
          <a:xfrm>
            <a:off x="0" y="0"/>
            <a:ext cx="12188952"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1554480"/>
            <a:ext cx="8412480" cy="1371600"/>
          </a:xfrm>
          <a:prstGeom prst="rect">
            <a:avLst/>
          </a:prstGeom>
          <a:noFill/>
        </p:spPr>
        <p:txBody>
          <a:bodyPr wrap="none">
            <a:spAutoFit/>
          </a:bodyPr>
          <a:lstStyle/>
          <a:p>
            <a:pPr algn="l"/>
            <a:r>
              <a:rPr sz="5600" b="1">
                <a:solidFill>
                  <a:srgbClr val="FFFFFF"/>
                </a:solidFill>
                <a:latin typeface="Palatino Linotype"/>
              </a:rPr>
              <a:t>8 Days Tour in Sri Lanka</a:t>
            </a:r>
          </a:p>
        </p:txBody>
      </p:sp>
      <p:sp>
        <p:nvSpPr>
          <p:cNvPr id="4" name="Rounded Rectangle 3"/>
          <p:cNvSpPr/>
          <p:nvPr/>
        </p:nvSpPr>
        <p:spPr>
          <a:xfrm>
            <a:off x="9052560" y="2011680"/>
            <a:ext cx="2103120" cy="914400"/>
          </a:xfrm>
          <a:prstGeom prst="roundRect">
            <a:avLst/>
          </a:prstGeom>
          <a:solidFill>
            <a:srgbClr val="C98D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800" b="1">
                <a:solidFill>
                  <a:srgbClr val="FFFFFF"/>
                </a:solidFill>
              </a:rPr>
              <a:t>7 NIGHTS</a:t>
            </a:r>
          </a:p>
          <a:p>
            <a:pPr algn="ctr"/>
            <a:r>
              <a:rPr sz="1800" b="1">
                <a:solidFill>
                  <a:srgbClr val="FFFFFF"/>
                </a:solidFill>
              </a:rPr>
              <a:t>8 DAYS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5F4F0"/>
        </a:solidFill>
        <a:effectLst/>
      </p:bgPr>
    </p:bg>
    <p:spTree>
      <p:nvGrpSpPr>
        <p:cNvPr id="1" name=""/>
        <p:cNvGrpSpPr/>
        <p:nvPr/>
      </p:nvGrpSpPr>
      <p:grpSpPr/>
      <p:sp>
        <p:nvSpPr>
          <p:cNvPr id="2" name="TextBox 1"/>
          <p:cNvSpPr txBox="1"/>
          <p:nvPr/>
        </p:nvSpPr>
        <p:spPr>
          <a:xfrm>
            <a:off x="731520" y="457200"/>
            <a:ext cx="5943600" cy="640080"/>
          </a:xfrm>
          <a:prstGeom prst="rect">
            <a:avLst/>
          </a:prstGeom>
          <a:noFill/>
        </p:spPr>
        <p:txBody>
          <a:bodyPr wrap="none">
            <a:spAutoFit/>
          </a:bodyPr>
          <a:lstStyle/>
          <a:p>
            <a:pPr algn="l"/>
            <a:r>
              <a:rPr sz="3400" b="1">
                <a:solidFill>
                  <a:srgbClr val="2D2D2D"/>
                </a:solidFill>
                <a:latin typeface="Palatino Linotype"/>
              </a:rPr>
              <a:t>Trip Overview</a:t>
            </a:r>
          </a:p>
        </p:txBody>
      </p:sp>
      <p:sp>
        <p:nvSpPr>
          <p:cNvPr id="3" name="TextBox 2"/>
          <p:cNvSpPr txBox="1"/>
          <p:nvPr/>
        </p:nvSpPr>
        <p:spPr>
          <a:xfrm>
            <a:off x="822960" y="1371600"/>
            <a:ext cx="6949440" cy="4114800"/>
          </a:xfrm>
          <a:prstGeom prst="rect">
            <a:avLst/>
          </a:prstGeom>
          <a:noFill/>
        </p:spPr>
        <p:txBody>
          <a:bodyPr wrap="square">
            <a:spAutoFit/>
          </a:bodyPr>
          <a:lstStyle/>
          <a:p>
            <a:r>
              <a:rPr sz="1800">
                <a:solidFill>
                  <a:srgbClr val="3C3C3C"/>
                </a:solidFill>
                <a:latin typeface="Calibri"/>
              </a:rPr>
              <a:t>Embark on an unforgettable journey through Sri Lanka, the Pearl of the Indian Ocean. This carefully curated 8-day adventure takes you from the bustling streets of Colombo to the ancient cultural wonders of Kandy, through the misty tea plantations of Nuwara Eliya, and down to the pristine southern coast. Experience the perfect blend of cultural heritage, natural beauty, and authentic Sri Lankan hospitality.</a:t>
            </a:r>
          </a:p>
        </p:txBody>
      </p:sp>
      <p:sp>
        <p:nvSpPr>
          <p:cNvPr id="4" name="TextBox 3"/>
          <p:cNvSpPr txBox="1"/>
          <p:nvPr/>
        </p:nvSpPr>
        <p:spPr>
          <a:xfrm>
            <a:off x="8046720" y="1371600"/>
            <a:ext cx="3474720" cy="4389120"/>
          </a:xfrm>
          <a:prstGeom prst="rect">
            <a:avLst/>
          </a:prstGeom>
          <a:noFill/>
        </p:spPr>
        <p:txBody>
          <a:bodyPr wrap="square">
            <a:spAutoFit/>
          </a:bodyPr>
          <a:lstStyle/>
          <a:p>
            <a:r>
              <a:rPr sz="2000" b="1">
                <a:solidFill>
                  <a:srgbClr val="785528"/>
                </a:solidFill>
              </a:rPr>
              <a:t>Location Summary</a:t>
            </a:r>
          </a:p>
          <a:p>
            <a:pPr/>
            <a:r>
              <a:rPr sz="1500">
                <a:latin typeface="Calibri"/>
              </a:rPr>
              <a:t>• Colombo - 2 nights</a:t>
            </a:r>
          </a:p>
          <a:p>
            <a:pPr/>
            <a:r>
              <a:rPr sz="1500">
                <a:latin typeface="Calibri"/>
              </a:rPr>
              <a:t>• Kandy - 2 nights</a:t>
            </a:r>
          </a:p>
          <a:p>
            <a:pPr/>
            <a:r>
              <a:rPr sz="1500">
                <a:latin typeface="Calibri"/>
              </a:rPr>
              <a:t>• Nuwara Eliya - 2 nights</a:t>
            </a:r>
          </a:p>
          <a:p>
            <a:pPr/>
            <a:r>
              <a:rPr sz="1500">
                <a:latin typeface="Calibri"/>
              </a:rPr>
              <a:t>• Galle - 1 night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8F8F8"/>
        </a:solidFill>
        <a:effectLst/>
      </p:bgPr>
    </p:bg>
    <p:spTree>
      <p:nvGrpSpPr>
        <p:cNvPr id="1" name=""/>
        <p:cNvGrpSpPr/>
        <p:nvPr/>
      </p:nvGrpSpPr>
      <p:grpSpPr/>
      <p:sp>
        <p:nvSpPr>
          <p:cNvPr id="2" name="Oval 1"/>
          <p:cNvSpPr/>
          <p:nvPr/>
        </p:nvSpPr>
        <p:spPr>
          <a:xfrm>
            <a:off x="640080" y="457200"/>
            <a:ext cx="1097280" cy="1097280"/>
          </a:xfrm>
          <a:prstGeom prst="ellipse">
            <a:avLst/>
          </a:prstGeom>
          <a:solidFill>
            <a:srgbClr val="FFFFFF"/>
          </a:solidFill>
          <a:ln>
            <a:solidFill>
              <a:srgbClr val="D2AA6E"/>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b="1" sz="1400"/>
              <a:t>DAY 1</a:t>
            </a:r>
          </a:p>
        </p:txBody>
      </p:sp>
      <p:sp>
        <p:nvSpPr>
          <p:cNvPr id="3" name="TextBox 2"/>
          <p:cNvSpPr txBox="1"/>
          <p:nvPr/>
        </p:nvSpPr>
        <p:spPr>
          <a:xfrm>
            <a:off x="1920240" y="566928"/>
            <a:ext cx="6949440" cy="548640"/>
          </a:xfrm>
          <a:prstGeom prst="rect">
            <a:avLst/>
          </a:prstGeom>
          <a:noFill/>
        </p:spPr>
        <p:txBody>
          <a:bodyPr wrap="none">
            <a:spAutoFit/>
          </a:bodyPr>
          <a:lstStyle/>
          <a:p>
            <a:pPr algn="l"/>
            <a:r>
              <a:rPr sz="3000" b="1">
                <a:solidFill>
                  <a:srgbClr val="323232"/>
                </a:solidFill>
                <a:latin typeface="Palatino Linotype"/>
              </a:rPr>
              <a:t>Welcome to Sri Lanka</a:t>
            </a:r>
          </a:p>
        </p:txBody>
      </p:sp>
      <p:sp>
        <p:nvSpPr>
          <p:cNvPr id="4" name="TextBox 3"/>
          <p:cNvSpPr txBox="1"/>
          <p:nvPr/>
        </p:nvSpPr>
        <p:spPr>
          <a:xfrm>
            <a:off x="1920240" y="1115568"/>
            <a:ext cx="2743200" cy="365760"/>
          </a:xfrm>
          <a:prstGeom prst="rect">
            <a:avLst/>
          </a:prstGeom>
          <a:noFill/>
        </p:spPr>
        <p:txBody>
          <a:bodyPr wrap="none">
            <a:spAutoFit/>
          </a:bodyPr>
          <a:lstStyle/>
          <a:p>
            <a:r>
              <a:rPr sz="1600">
                <a:solidFill>
                  <a:srgbClr val="828282"/>
                </a:solidFill>
              </a:rPr>
              <a:t>Colombo</a:t>
            </a:r>
          </a:p>
        </p:txBody>
      </p:sp>
      <p:sp>
        <p:nvSpPr>
          <p:cNvPr id="5" name="TextBox 4"/>
          <p:cNvSpPr txBox="1"/>
          <p:nvPr/>
        </p:nvSpPr>
        <p:spPr>
          <a:xfrm>
            <a:off x="731520" y="1828800"/>
            <a:ext cx="6583680" cy="3840480"/>
          </a:xfrm>
          <a:prstGeom prst="rect">
            <a:avLst/>
          </a:prstGeom>
          <a:noFill/>
        </p:spPr>
        <p:txBody>
          <a:bodyPr wrap="square">
            <a:spAutoFit/>
          </a:bodyPr>
          <a:lstStyle/>
          <a:p>
            <a:r>
              <a:rPr sz="1600">
                <a:solidFill>
                  <a:srgbClr val="373737"/>
                </a:solidFill>
                <a:latin typeface="Calibri"/>
              </a:rPr>
              <a:t>1. Arrive at Bandaranaike International Airport</a:t>
            </a:r>
          </a:p>
          <a:p>
            <a:r>
              <a:rPr sz="1600">
                <a:solidFill>
                  <a:srgbClr val="373737"/>
                </a:solidFill>
                <a:latin typeface="Calibri"/>
              </a:rPr>
              <a:t>2. Meet and greet by VSL 360 representative</a:t>
            </a:r>
          </a:p>
          <a:p>
            <a:r>
              <a:rPr sz="1600">
                <a:solidFill>
                  <a:srgbClr val="373737"/>
                </a:solidFill>
                <a:latin typeface="Calibri"/>
              </a:rPr>
              <a:t>3. Transfer to hotel in Colombo (30 mins)</a:t>
            </a:r>
          </a:p>
          <a:p>
            <a:r>
              <a:rPr sz="1600">
                <a:solidFill>
                  <a:srgbClr val="373737"/>
                </a:solidFill>
                <a:latin typeface="Calibri"/>
              </a:rPr>
              <a:t>4. Check-in and freshen up</a:t>
            </a:r>
          </a:p>
          <a:p>
            <a:r>
              <a:rPr sz="1600">
                <a:solidFill>
                  <a:srgbClr val="373737"/>
                </a:solidFill>
                <a:latin typeface="Calibri"/>
              </a:rPr>
              <a:t>5. Welcome dinner featuring traditional Sri Lankan cuisine</a:t>
            </a:r>
          </a:p>
        </p:txBody>
      </p:sp>
      <p:sp>
        <p:nvSpPr>
          <p:cNvPr id="6" name="Rounded Rectangle 5"/>
          <p:cNvSpPr/>
          <p:nvPr/>
        </p:nvSpPr>
        <p:spPr>
          <a:xfrm>
            <a:off x="7589520" y="1828800"/>
            <a:ext cx="3840480" cy="2560320"/>
          </a:xfrm>
          <a:prstGeom prst="roundRect">
            <a:avLst/>
          </a:prstGeom>
          <a:solidFill>
            <a:srgbClr val="EBEBEB"/>
          </a:solidFill>
          <a:ln>
            <a:solidFill>
              <a:srgbClr val="D2D2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5897880"/>
            <a:ext cx="10789920" cy="457200"/>
          </a:xfrm>
          <a:prstGeom prst="rect">
            <a:avLst/>
          </a:prstGeom>
          <a:noFill/>
        </p:spPr>
        <p:txBody>
          <a:bodyPr wrap="none">
            <a:spAutoFit/>
          </a:bodyPr>
          <a:lstStyle/>
          <a:p>
            <a:r>
              <a:rPr sz="1300" b="1">
                <a:solidFill>
                  <a:srgbClr val="5F5F5F"/>
                </a:solidFill>
              </a:rPr>
              <a:t>Travel Time: 30 minutes      Distance: 35 km      Overnight: Colombo</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8F8F8"/>
        </a:solidFill>
        <a:effectLst/>
      </p:bgPr>
    </p:bg>
    <p:spTree>
      <p:nvGrpSpPr>
        <p:cNvPr id="1" name=""/>
        <p:cNvGrpSpPr/>
        <p:nvPr/>
      </p:nvGrpSpPr>
      <p:grpSpPr/>
      <p:sp>
        <p:nvSpPr>
          <p:cNvPr id="2" name="Oval 1"/>
          <p:cNvSpPr/>
          <p:nvPr/>
        </p:nvSpPr>
        <p:spPr>
          <a:xfrm>
            <a:off x="640080" y="457200"/>
            <a:ext cx="1097280" cy="1097280"/>
          </a:xfrm>
          <a:prstGeom prst="ellipse">
            <a:avLst/>
          </a:prstGeom>
          <a:solidFill>
            <a:srgbClr val="FFFFFF"/>
          </a:solidFill>
          <a:ln>
            <a:solidFill>
              <a:srgbClr val="D2AA6E"/>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b="1" sz="1400"/>
              <a:t>DAY 2</a:t>
            </a:r>
          </a:p>
        </p:txBody>
      </p:sp>
      <p:sp>
        <p:nvSpPr>
          <p:cNvPr id="3" name="TextBox 2"/>
          <p:cNvSpPr txBox="1"/>
          <p:nvPr/>
        </p:nvSpPr>
        <p:spPr>
          <a:xfrm>
            <a:off x="1920240" y="566928"/>
            <a:ext cx="6949440" cy="548640"/>
          </a:xfrm>
          <a:prstGeom prst="rect">
            <a:avLst/>
          </a:prstGeom>
          <a:noFill/>
        </p:spPr>
        <p:txBody>
          <a:bodyPr wrap="none">
            <a:spAutoFit/>
          </a:bodyPr>
          <a:lstStyle/>
          <a:p>
            <a:pPr algn="l"/>
            <a:r>
              <a:rPr sz="3000" b="1">
                <a:solidFill>
                  <a:srgbClr val="323232"/>
                </a:solidFill>
                <a:latin typeface="Palatino Linotype"/>
              </a:rPr>
              <a:t>Discovering Colombo</a:t>
            </a:r>
          </a:p>
        </p:txBody>
      </p:sp>
      <p:sp>
        <p:nvSpPr>
          <p:cNvPr id="4" name="TextBox 3"/>
          <p:cNvSpPr txBox="1"/>
          <p:nvPr/>
        </p:nvSpPr>
        <p:spPr>
          <a:xfrm>
            <a:off x="1920240" y="1115568"/>
            <a:ext cx="2743200" cy="365760"/>
          </a:xfrm>
          <a:prstGeom prst="rect">
            <a:avLst/>
          </a:prstGeom>
          <a:noFill/>
        </p:spPr>
        <p:txBody>
          <a:bodyPr wrap="none">
            <a:spAutoFit/>
          </a:bodyPr>
          <a:lstStyle/>
          <a:p>
            <a:r>
              <a:rPr sz="1600">
                <a:solidFill>
                  <a:srgbClr val="828282"/>
                </a:solidFill>
              </a:rPr>
              <a:t>Colombo</a:t>
            </a:r>
          </a:p>
        </p:txBody>
      </p:sp>
      <p:sp>
        <p:nvSpPr>
          <p:cNvPr id="5" name="TextBox 4"/>
          <p:cNvSpPr txBox="1"/>
          <p:nvPr/>
        </p:nvSpPr>
        <p:spPr>
          <a:xfrm>
            <a:off x="731520" y="1828800"/>
            <a:ext cx="6583680" cy="3840480"/>
          </a:xfrm>
          <a:prstGeom prst="rect">
            <a:avLst/>
          </a:prstGeom>
          <a:noFill/>
        </p:spPr>
        <p:txBody>
          <a:bodyPr wrap="square">
            <a:spAutoFit/>
          </a:bodyPr>
          <a:lstStyle/>
          <a:p>
            <a:r>
              <a:rPr sz="1600">
                <a:solidFill>
                  <a:srgbClr val="373737"/>
                </a:solidFill>
                <a:latin typeface="Calibri"/>
              </a:rPr>
              <a:t>1. Breakfast at hotel</a:t>
            </a:r>
          </a:p>
          <a:p>
            <a:r>
              <a:rPr sz="1600">
                <a:solidFill>
                  <a:srgbClr val="373737"/>
                </a:solidFill>
                <a:latin typeface="Calibri"/>
              </a:rPr>
              <a:t>2. Guided city tour: Galle Face Green, Independence Square &amp; colonial buildings</a:t>
            </a:r>
          </a:p>
          <a:p>
            <a:r>
              <a:rPr sz="1600">
                <a:solidFill>
                  <a:srgbClr val="373737"/>
                </a:solidFill>
                <a:latin typeface="Calibri"/>
              </a:rPr>
              <a:t>3. Visit Gangaramaya Temple - Buddhist temple complex</a:t>
            </a:r>
          </a:p>
          <a:p>
            <a:r>
              <a:rPr sz="1600">
                <a:solidFill>
                  <a:srgbClr val="373737"/>
                </a:solidFill>
                <a:latin typeface="Calibri"/>
              </a:rPr>
              <a:t>4. Lunch at Ministry of Crab (famous seafood restaurant)</a:t>
            </a:r>
          </a:p>
          <a:p>
            <a:r>
              <a:rPr sz="1600">
                <a:solidFill>
                  <a:srgbClr val="373737"/>
                </a:solidFill>
                <a:latin typeface="Calibri"/>
              </a:rPr>
              <a:t>5. Colombo National Museum - explore Sri Lankan history</a:t>
            </a:r>
          </a:p>
          <a:p>
            <a:r>
              <a:rPr sz="1600">
                <a:solidFill>
                  <a:srgbClr val="373737"/>
                </a:solidFill>
                <a:latin typeface="Calibri"/>
              </a:rPr>
              <a:t>6. Shopping at Barefoot Gallery and Odel</a:t>
            </a:r>
          </a:p>
          <a:p>
            <a:r>
              <a:rPr sz="1600">
                <a:solidFill>
                  <a:srgbClr val="373737"/>
                </a:solidFill>
                <a:latin typeface="Calibri"/>
              </a:rPr>
              <a:t>7. Evening at leisure</a:t>
            </a:r>
          </a:p>
        </p:txBody>
      </p:sp>
      <p:sp>
        <p:nvSpPr>
          <p:cNvPr id="6" name="Rounded Rectangle 5"/>
          <p:cNvSpPr/>
          <p:nvPr/>
        </p:nvSpPr>
        <p:spPr>
          <a:xfrm>
            <a:off x="7589520" y="1828800"/>
            <a:ext cx="3840480" cy="2560320"/>
          </a:xfrm>
          <a:prstGeom prst="roundRect">
            <a:avLst/>
          </a:prstGeom>
          <a:solidFill>
            <a:srgbClr val="EBEBEB"/>
          </a:solidFill>
          <a:ln>
            <a:solidFill>
              <a:srgbClr val="D2D2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5897880"/>
            <a:ext cx="10789920" cy="457200"/>
          </a:xfrm>
          <a:prstGeom prst="rect">
            <a:avLst/>
          </a:prstGeom>
          <a:noFill/>
        </p:spPr>
        <p:txBody>
          <a:bodyPr wrap="none">
            <a:spAutoFit/>
          </a:bodyPr>
          <a:lstStyle/>
          <a:p>
            <a:r>
              <a:rPr sz="1300" b="1">
                <a:solidFill>
                  <a:srgbClr val="5F5F5F"/>
                </a:solidFill>
              </a:rPr>
              <a:t>Travel Time: N/A      Distance: City tour      Overnight: Colombo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8F8F8"/>
        </a:solidFill>
        <a:effectLst/>
      </p:bgPr>
    </p:bg>
    <p:spTree>
      <p:nvGrpSpPr>
        <p:cNvPr id="1" name=""/>
        <p:cNvGrpSpPr/>
        <p:nvPr/>
      </p:nvGrpSpPr>
      <p:grpSpPr/>
      <p:sp>
        <p:nvSpPr>
          <p:cNvPr id="2" name="Oval 1"/>
          <p:cNvSpPr/>
          <p:nvPr/>
        </p:nvSpPr>
        <p:spPr>
          <a:xfrm>
            <a:off x="640080" y="457200"/>
            <a:ext cx="1097280" cy="1097280"/>
          </a:xfrm>
          <a:prstGeom prst="ellipse">
            <a:avLst/>
          </a:prstGeom>
          <a:solidFill>
            <a:srgbClr val="FFFFFF"/>
          </a:solidFill>
          <a:ln>
            <a:solidFill>
              <a:srgbClr val="D2AA6E"/>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b="1" sz="1400"/>
              <a:t>DAY 3</a:t>
            </a:r>
          </a:p>
        </p:txBody>
      </p:sp>
      <p:sp>
        <p:nvSpPr>
          <p:cNvPr id="3" name="TextBox 2"/>
          <p:cNvSpPr txBox="1"/>
          <p:nvPr/>
        </p:nvSpPr>
        <p:spPr>
          <a:xfrm>
            <a:off x="1920240" y="566928"/>
            <a:ext cx="6949440" cy="548640"/>
          </a:xfrm>
          <a:prstGeom prst="rect">
            <a:avLst/>
          </a:prstGeom>
          <a:noFill/>
        </p:spPr>
        <p:txBody>
          <a:bodyPr wrap="none">
            <a:spAutoFit/>
          </a:bodyPr>
          <a:lstStyle/>
          <a:p>
            <a:pPr algn="l"/>
            <a:r>
              <a:rPr sz="3000" b="1">
                <a:solidFill>
                  <a:srgbClr val="323232"/>
                </a:solidFill>
                <a:latin typeface="Palatino Linotype"/>
              </a:rPr>
              <a:t>Journey to the Cultural Capital</a:t>
            </a:r>
          </a:p>
        </p:txBody>
      </p:sp>
      <p:sp>
        <p:nvSpPr>
          <p:cNvPr id="4" name="TextBox 3"/>
          <p:cNvSpPr txBox="1"/>
          <p:nvPr/>
        </p:nvSpPr>
        <p:spPr>
          <a:xfrm>
            <a:off x="1920240" y="1115568"/>
            <a:ext cx="2743200" cy="365760"/>
          </a:xfrm>
          <a:prstGeom prst="rect">
            <a:avLst/>
          </a:prstGeom>
          <a:noFill/>
        </p:spPr>
        <p:txBody>
          <a:bodyPr wrap="none">
            <a:spAutoFit/>
          </a:bodyPr>
          <a:lstStyle/>
          <a:p>
            <a:r>
              <a:rPr sz="1600">
                <a:solidFill>
                  <a:srgbClr val="828282"/>
                </a:solidFill>
              </a:rPr>
              <a:t>Kandy</a:t>
            </a:r>
          </a:p>
        </p:txBody>
      </p:sp>
      <p:sp>
        <p:nvSpPr>
          <p:cNvPr id="5" name="TextBox 4"/>
          <p:cNvSpPr txBox="1"/>
          <p:nvPr/>
        </p:nvSpPr>
        <p:spPr>
          <a:xfrm>
            <a:off x="731520" y="1828800"/>
            <a:ext cx="6583680" cy="3840480"/>
          </a:xfrm>
          <a:prstGeom prst="rect">
            <a:avLst/>
          </a:prstGeom>
          <a:noFill/>
        </p:spPr>
        <p:txBody>
          <a:bodyPr wrap="square">
            <a:spAutoFit/>
          </a:bodyPr>
          <a:lstStyle/>
          <a:p>
            <a:r>
              <a:rPr sz="1600">
                <a:solidFill>
                  <a:srgbClr val="373737"/>
                </a:solidFill>
                <a:latin typeface="Calibri"/>
              </a:rPr>
              <a:t>1. Breakfast and check-out</a:t>
            </a:r>
          </a:p>
          <a:p>
            <a:r>
              <a:rPr sz="1600">
                <a:solidFill>
                  <a:srgbClr val="373737"/>
                </a:solidFill>
                <a:latin typeface="Calibri"/>
              </a:rPr>
              <a:t>2. Scenic drive to Kandy through lush landscapes</a:t>
            </a:r>
          </a:p>
          <a:p>
            <a:r>
              <a:rPr sz="1600">
                <a:solidFill>
                  <a:srgbClr val="373737"/>
                </a:solidFill>
                <a:latin typeface="Calibri"/>
              </a:rPr>
              <a:t>3. En-route visit: Pinnawala Elephant Orphanage</a:t>
            </a:r>
          </a:p>
          <a:p>
            <a:r>
              <a:rPr sz="1600">
                <a:solidFill>
                  <a:srgbClr val="373737"/>
                </a:solidFill>
                <a:latin typeface="Calibri"/>
              </a:rPr>
              <a:t>4. Watch elephants bathing in the river</a:t>
            </a:r>
          </a:p>
          <a:p>
            <a:r>
              <a:rPr sz="1600">
                <a:solidFill>
                  <a:srgbClr val="373737"/>
                </a:solidFill>
                <a:latin typeface="Calibri"/>
              </a:rPr>
              <a:t>5. Arrive in Kandy and check-in to hotel</a:t>
            </a:r>
          </a:p>
          <a:p>
            <a:r>
              <a:rPr sz="1600">
                <a:solidFill>
                  <a:srgbClr val="373737"/>
                </a:solidFill>
                <a:latin typeface="Calibri"/>
              </a:rPr>
              <a:t>6. Evening visit to Temple of the Sacred Tooth Relic (UNESCO Site)</a:t>
            </a:r>
          </a:p>
          <a:p>
            <a:r>
              <a:rPr sz="1600">
                <a:solidFill>
                  <a:srgbClr val="373737"/>
                </a:solidFill>
                <a:latin typeface="Calibri"/>
              </a:rPr>
              <a:t>7. Attend traditional Kandyan dance performance</a:t>
            </a:r>
          </a:p>
        </p:txBody>
      </p:sp>
      <p:sp>
        <p:nvSpPr>
          <p:cNvPr id="6" name="Rounded Rectangle 5"/>
          <p:cNvSpPr/>
          <p:nvPr/>
        </p:nvSpPr>
        <p:spPr>
          <a:xfrm>
            <a:off x="7589520" y="1828800"/>
            <a:ext cx="3840480" cy="2560320"/>
          </a:xfrm>
          <a:prstGeom prst="roundRect">
            <a:avLst/>
          </a:prstGeom>
          <a:solidFill>
            <a:srgbClr val="EBEBEB"/>
          </a:solidFill>
          <a:ln>
            <a:solidFill>
              <a:srgbClr val="D2D2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5897880"/>
            <a:ext cx="10789920" cy="457200"/>
          </a:xfrm>
          <a:prstGeom prst="rect">
            <a:avLst/>
          </a:prstGeom>
          <a:noFill/>
        </p:spPr>
        <p:txBody>
          <a:bodyPr wrap="none">
            <a:spAutoFit/>
          </a:bodyPr>
          <a:lstStyle/>
          <a:p>
            <a:r>
              <a:rPr sz="1300" b="1">
                <a:solidFill>
                  <a:srgbClr val="5F5F5F"/>
                </a:solidFill>
              </a:rPr>
              <a:t>Travel Time: 3.5 hours      Distance: 115 km      Overnight: Kandy</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8F8F8"/>
        </a:solidFill>
        <a:effectLst/>
      </p:bgPr>
    </p:bg>
    <p:spTree>
      <p:nvGrpSpPr>
        <p:cNvPr id="1" name=""/>
        <p:cNvGrpSpPr/>
        <p:nvPr/>
      </p:nvGrpSpPr>
      <p:grpSpPr/>
      <p:sp>
        <p:nvSpPr>
          <p:cNvPr id="2" name="Oval 1"/>
          <p:cNvSpPr/>
          <p:nvPr/>
        </p:nvSpPr>
        <p:spPr>
          <a:xfrm>
            <a:off x="640080" y="457200"/>
            <a:ext cx="1097280" cy="1097280"/>
          </a:xfrm>
          <a:prstGeom prst="ellipse">
            <a:avLst/>
          </a:prstGeom>
          <a:solidFill>
            <a:srgbClr val="FFFFFF"/>
          </a:solidFill>
          <a:ln>
            <a:solidFill>
              <a:srgbClr val="D2AA6E"/>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b="1" sz="1400"/>
              <a:t>DAY 4</a:t>
            </a:r>
          </a:p>
        </p:txBody>
      </p:sp>
      <p:sp>
        <p:nvSpPr>
          <p:cNvPr id="3" name="TextBox 2"/>
          <p:cNvSpPr txBox="1"/>
          <p:nvPr/>
        </p:nvSpPr>
        <p:spPr>
          <a:xfrm>
            <a:off x="1920240" y="566928"/>
            <a:ext cx="6949440" cy="548640"/>
          </a:xfrm>
          <a:prstGeom prst="rect">
            <a:avLst/>
          </a:prstGeom>
          <a:noFill/>
        </p:spPr>
        <p:txBody>
          <a:bodyPr wrap="none">
            <a:spAutoFit/>
          </a:bodyPr>
          <a:lstStyle/>
          <a:p>
            <a:pPr algn="l"/>
            <a:r>
              <a:rPr sz="3000" b="1">
                <a:solidFill>
                  <a:srgbClr val="323232"/>
                </a:solidFill>
                <a:latin typeface="Palatino Linotype"/>
              </a:rPr>
              <a:t>Kandy &amp; Royal Botanical Gardens</a:t>
            </a:r>
          </a:p>
        </p:txBody>
      </p:sp>
      <p:sp>
        <p:nvSpPr>
          <p:cNvPr id="4" name="TextBox 3"/>
          <p:cNvSpPr txBox="1"/>
          <p:nvPr/>
        </p:nvSpPr>
        <p:spPr>
          <a:xfrm>
            <a:off x="1920240" y="1115568"/>
            <a:ext cx="2743200" cy="365760"/>
          </a:xfrm>
          <a:prstGeom prst="rect">
            <a:avLst/>
          </a:prstGeom>
          <a:noFill/>
        </p:spPr>
        <p:txBody>
          <a:bodyPr wrap="none">
            <a:spAutoFit/>
          </a:bodyPr>
          <a:lstStyle/>
          <a:p>
            <a:r>
              <a:rPr sz="1600">
                <a:solidFill>
                  <a:srgbClr val="828282"/>
                </a:solidFill>
              </a:rPr>
              <a:t>Kandy</a:t>
            </a:r>
          </a:p>
        </p:txBody>
      </p:sp>
      <p:sp>
        <p:nvSpPr>
          <p:cNvPr id="5" name="TextBox 4"/>
          <p:cNvSpPr txBox="1"/>
          <p:nvPr/>
        </p:nvSpPr>
        <p:spPr>
          <a:xfrm>
            <a:off x="731520" y="1828800"/>
            <a:ext cx="6583680" cy="3840480"/>
          </a:xfrm>
          <a:prstGeom prst="rect">
            <a:avLst/>
          </a:prstGeom>
          <a:noFill/>
        </p:spPr>
        <p:txBody>
          <a:bodyPr wrap="square">
            <a:spAutoFit/>
          </a:bodyPr>
          <a:lstStyle/>
          <a:p>
            <a:r>
              <a:rPr sz="1600">
                <a:solidFill>
                  <a:srgbClr val="373737"/>
                </a:solidFill>
                <a:latin typeface="Calibri"/>
              </a:rPr>
              <a:t>1. Breakfast at hotel</a:t>
            </a:r>
          </a:p>
          <a:p>
            <a:r>
              <a:rPr sz="1600">
                <a:solidFill>
                  <a:srgbClr val="373737"/>
                </a:solidFill>
                <a:latin typeface="Calibri"/>
              </a:rPr>
              <a:t>2. Visit Royal Botanical Gardens at Peradeniya (147 acres)</a:t>
            </a:r>
          </a:p>
          <a:p>
            <a:r>
              <a:rPr sz="1600">
                <a:solidFill>
                  <a:srgbClr val="373737"/>
                </a:solidFill>
                <a:latin typeface="Calibri"/>
              </a:rPr>
              <a:t>3. Walk among orchid collections and giant bamboo groves</a:t>
            </a:r>
          </a:p>
          <a:p>
            <a:r>
              <a:rPr sz="1600">
                <a:solidFill>
                  <a:srgbClr val="373737"/>
                </a:solidFill>
                <a:latin typeface="Calibri"/>
              </a:rPr>
              <a:t>4. Lunch at garden restaurant</a:t>
            </a:r>
          </a:p>
          <a:p>
            <a:r>
              <a:rPr sz="1600">
                <a:solidFill>
                  <a:srgbClr val="373737"/>
                </a:solidFill>
                <a:latin typeface="Calibri"/>
              </a:rPr>
              <a:t>5. Ceylon Tea Museum and working tea plantation visit</a:t>
            </a:r>
          </a:p>
          <a:p>
            <a:r>
              <a:rPr sz="1600">
                <a:solidFill>
                  <a:srgbClr val="373737"/>
                </a:solidFill>
                <a:latin typeface="Calibri"/>
              </a:rPr>
              <a:t>6. Tea tasting experience with panoramic views</a:t>
            </a:r>
          </a:p>
          <a:p>
            <a:r>
              <a:rPr sz="1600">
                <a:solidFill>
                  <a:srgbClr val="373737"/>
                </a:solidFill>
                <a:latin typeface="Calibri"/>
              </a:rPr>
              <a:t>7. Sunset walk around Kandy Lake</a:t>
            </a:r>
          </a:p>
        </p:txBody>
      </p:sp>
      <p:sp>
        <p:nvSpPr>
          <p:cNvPr id="6" name="Rounded Rectangle 5"/>
          <p:cNvSpPr/>
          <p:nvPr/>
        </p:nvSpPr>
        <p:spPr>
          <a:xfrm>
            <a:off x="7589520" y="1828800"/>
            <a:ext cx="3840480" cy="2560320"/>
          </a:xfrm>
          <a:prstGeom prst="roundRect">
            <a:avLst/>
          </a:prstGeom>
          <a:solidFill>
            <a:srgbClr val="EBEBEB"/>
          </a:solidFill>
          <a:ln>
            <a:solidFill>
              <a:srgbClr val="D2D2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5897880"/>
            <a:ext cx="10789920" cy="457200"/>
          </a:xfrm>
          <a:prstGeom prst="rect">
            <a:avLst/>
          </a:prstGeom>
          <a:noFill/>
        </p:spPr>
        <p:txBody>
          <a:bodyPr wrap="none">
            <a:spAutoFit/>
          </a:bodyPr>
          <a:lstStyle/>
          <a:p>
            <a:r>
              <a:rPr sz="1300" b="1">
                <a:solidFill>
                  <a:srgbClr val="5F5F5F"/>
                </a:solidFill>
              </a:rPr>
              <a:t>Travel Time: 30 minutes      Distance: 15 km      Overnight: Kandy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8F8F8"/>
        </a:solidFill>
        <a:effectLst/>
      </p:bgPr>
    </p:bg>
    <p:spTree>
      <p:nvGrpSpPr>
        <p:cNvPr id="1" name=""/>
        <p:cNvGrpSpPr/>
        <p:nvPr/>
      </p:nvGrpSpPr>
      <p:grpSpPr/>
      <p:sp>
        <p:nvSpPr>
          <p:cNvPr id="2" name="Oval 1"/>
          <p:cNvSpPr/>
          <p:nvPr/>
        </p:nvSpPr>
        <p:spPr>
          <a:xfrm>
            <a:off x="640080" y="457200"/>
            <a:ext cx="1097280" cy="1097280"/>
          </a:xfrm>
          <a:prstGeom prst="ellipse">
            <a:avLst/>
          </a:prstGeom>
          <a:solidFill>
            <a:srgbClr val="FFFFFF"/>
          </a:solidFill>
          <a:ln>
            <a:solidFill>
              <a:srgbClr val="D2AA6E"/>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b="1" sz="1400"/>
              <a:t>DAY 5</a:t>
            </a:r>
          </a:p>
        </p:txBody>
      </p:sp>
      <p:sp>
        <p:nvSpPr>
          <p:cNvPr id="3" name="TextBox 2"/>
          <p:cNvSpPr txBox="1"/>
          <p:nvPr/>
        </p:nvSpPr>
        <p:spPr>
          <a:xfrm>
            <a:off x="1920240" y="566928"/>
            <a:ext cx="6949440" cy="548640"/>
          </a:xfrm>
          <a:prstGeom prst="rect">
            <a:avLst/>
          </a:prstGeom>
          <a:noFill/>
        </p:spPr>
        <p:txBody>
          <a:bodyPr wrap="none">
            <a:spAutoFit/>
          </a:bodyPr>
          <a:lstStyle/>
          <a:p>
            <a:pPr algn="l"/>
            <a:r>
              <a:rPr sz="3000" b="1">
                <a:solidFill>
                  <a:srgbClr val="323232"/>
                </a:solidFill>
                <a:latin typeface="Palatino Linotype"/>
              </a:rPr>
              <a:t>Scenic Train to Hill Country</a:t>
            </a:r>
          </a:p>
        </p:txBody>
      </p:sp>
      <p:sp>
        <p:nvSpPr>
          <p:cNvPr id="4" name="TextBox 3"/>
          <p:cNvSpPr txBox="1"/>
          <p:nvPr/>
        </p:nvSpPr>
        <p:spPr>
          <a:xfrm>
            <a:off x="1920240" y="1115568"/>
            <a:ext cx="2743200" cy="365760"/>
          </a:xfrm>
          <a:prstGeom prst="rect">
            <a:avLst/>
          </a:prstGeom>
          <a:noFill/>
        </p:spPr>
        <p:txBody>
          <a:bodyPr wrap="none">
            <a:spAutoFit/>
          </a:bodyPr>
          <a:lstStyle/>
          <a:p>
            <a:r>
              <a:rPr sz="1600">
                <a:solidFill>
                  <a:srgbClr val="828282"/>
                </a:solidFill>
              </a:rPr>
              <a:t>Nuwara Eliya</a:t>
            </a:r>
          </a:p>
        </p:txBody>
      </p:sp>
      <p:sp>
        <p:nvSpPr>
          <p:cNvPr id="5" name="TextBox 4"/>
          <p:cNvSpPr txBox="1"/>
          <p:nvPr/>
        </p:nvSpPr>
        <p:spPr>
          <a:xfrm>
            <a:off x="731520" y="1828800"/>
            <a:ext cx="6583680" cy="3840480"/>
          </a:xfrm>
          <a:prstGeom prst="rect">
            <a:avLst/>
          </a:prstGeom>
          <a:noFill/>
        </p:spPr>
        <p:txBody>
          <a:bodyPr wrap="square">
            <a:spAutoFit/>
          </a:bodyPr>
          <a:lstStyle/>
          <a:p>
            <a:r>
              <a:rPr sz="1600">
                <a:solidFill>
                  <a:srgbClr val="373737"/>
                </a:solidFill>
                <a:latin typeface="Calibri"/>
              </a:rPr>
              <a:t>1. Early breakfast and check-out</a:t>
            </a:r>
          </a:p>
          <a:p>
            <a:r>
              <a:rPr sz="1600">
                <a:solidFill>
                  <a:srgbClr val="373737"/>
                </a:solidFill>
                <a:latin typeface="Calibri"/>
              </a:rPr>
              <a:t>2. Board famous Kandy to Nuwara Eliya train</a:t>
            </a:r>
          </a:p>
          <a:p>
            <a:r>
              <a:rPr sz="1600">
                <a:solidFill>
                  <a:srgbClr val="373737"/>
                </a:solidFill>
                <a:latin typeface="Calibri"/>
              </a:rPr>
              <a:t>3. Journey through tea plantations and mountain scenery</a:t>
            </a:r>
          </a:p>
          <a:p>
            <a:r>
              <a:rPr sz="1600">
                <a:solidFill>
                  <a:srgbClr val="373737"/>
                </a:solidFill>
                <a:latin typeface="Calibri"/>
              </a:rPr>
              <a:t>4. One of the world's most scenic train rides</a:t>
            </a:r>
          </a:p>
          <a:p>
            <a:r>
              <a:rPr sz="1600">
                <a:solidFill>
                  <a:srgbClr val="373737"/>
                </a:solidFill>
                <a:latin typeface="Calibri"/>
              </a:rPr>
              <a:t>5. Arrive in Nuwara Eliya - 'Little England' of Sri Lanka</a:t>
            </a:r>
          </a:p>
          <a:p>
            <a:r>
              <a:rPr sz="1600">
                <a:solidFill>
                  <a:srgbClr val="373737"/>
                </a:solidFill>
                <a:latin typeface="Calibri"/>
              </a:rPr>
              <a:t>6. Check-in to colonial-era hotel</a:t>
            </a:r>
          </a:p>
          <a:p>
            <a:r>
              <a:rPr sz="1600">
                <a:solidFill>
                  <a:srgbClr val="373737"/>
                </a:solidFill>
                <a:latin typeface="Calibri"/>
              </a:rPr>
              <a:t>7. City tour: Gregory Lake &amp; Victoria Park</a:t>
            </a:r>
          </a:p>
        </p:txBody>
      </p:sp>
      <p:sp>
        <p:nvSpPr>
          <p:cNvPr id="6" name="Rounded Rectangle 5"/>
          <p:cNvSpPr/>
          <p:nvPr/>
        </p:nvSpPr>
        <p:spPr>
          <a:xfrm>
            <a:off x="7589520" y="1828800"/>
            <a:ext cx="3840480" cy="2560320"/>
          </a:xfrm>
          <a:prstGeom prst="roundRect">
            <a:avLst/>
          </a:prstGeom>
          <a:solidFill>
            <a:srgbClr val="EBEBEB"/>
          </a:solidFill>
          <a:ln>
            <a:solidFill>
              <a:srgbClr val="D2D2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5897880"/>
            <a:ext cx="10789920" cy="457200"/>
          </a:xfrm>
          <a:prstGeom prst="rect">
            <a:avLst/>
          </a:prstGeom>
          <a:noFill/>
        </p:spPr>
        <p:txBody>
          <a:bodyPr wrap="none">
            <a:spAutoFit/>
          </a:bodyPr>
          <a:lstStyle/>
          <a:p>
            <a:r>
              <a:rPr sz="1300" b="1">
                <a:solidFill>
                  <a:srgbClr val="5F5F5F"/>
                </a:solidFill>
              </a:rPr>
              <a:t>Travel Time: 4 hours      Distance: 80 km      Overnight: Nuwara Eliya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8F8F8"/>
        </a:solidFill>
        <a:effectLst/>
      </p:bgPr>
    </p:bg>
    <p:spTree>
      <p:nvGrpSpPr>
        <p:cNvPr id="1" name=""/>
        <p:cNvGrpSpPr/>
        <p:nvPr/>
      </p:nvGrpSpPr>
      <p:grpSpPr/>
      <p:sp>
        <p:nvSpPr>
          <p:cNvPr id="2" name="Oval 1"/>
          <p:cNvSpPr/>
          <p:nvPr/>
        </p:nvSpPr>
        <p:spPr>
          <a:xfrm>
            <a:off x="640080" y="457200"/>
            <a:ext cx="1097280" cy="1097280"/>
          </a:xfrm>
          <a:prstGeom prst="ellipse">
            <a:avLst/>
          </a:prstGeom>
          <a:solidFill>
            <a:srgbClr val="FFFFFF"/>
          </a:solidFill>
          <a:ln>
            <a:solidFill>
              <a:srgbClr val="D2AA6E"/>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b="1" sz="1400"/>
              <a:t>DAY 6</a:t>
            </a:r>
          </a:p>
        </p:txBody>
      </p:sp>
      <p:sp>
        <p:nvSpPr>
          <p:cNvPr id="3" name="TextBox 2"/>
          <p:cNvSpPr txBox="1"/>
          <p:nvPr/>
        </p:nvSpPr>
        <p:spPr>
          <a:xfrm>
            <a:off x="1920240" y="566928"/>
            <a:ext cx="6949440" cy="548640"/>
          </a:xfrm>
          <a:prstGeom prst="rect">
            <a:avLst/>
          </a:prstGeom>
          <a:noFill/>
        </p:spPr>
        <p:txBody>
          <a:bodyPr wrap="none">
            <a:spAutoFit/>
          </a:bodyPr>
          <a:lstStyle/>
          <a:p>
            <a:pPr algn="l"/>
            <a:r>
              <a:rPr sz="3000" b="1">
                <a:solidFill>
                  <a:srgbClr val="323232"/>
                </a:solidFill>
                <a:latin typeface="Palatino Linotype"/>
              </a:rPr>
              <a:t>Horton Plains &amp; World's End</a:t>
            </a:r>
          </a:p>
        </p:txBody>
      </p:sp>
      <p:sp>
        <p:nvSpPr>
          <p:cNvPr id="4" name="TextBox 3"/>
          <p:cNvSpPr txBox="1"/>
          <p:nvPr/>
        </p:nvSpPr>
        <p:spPr>
          <a:xfrm>
            <a:off x="1920240" y="1115568"/>
            <a:ext cx="2743200" cy="365760"/>
          </a:xfrm>
          <a:prstGeom prst="rect">
            <a:avLst/>
          </a:prstGeom>
          <a:noFill/>
        </p:spPr>
        <p:txBody>
          <a:bodyPr wrap="none">
            <a:spAutoFit/>
          </a:bodyPr>
          <a:lstStyle/>
          <a:p>
            <a:r>
              <a:rPr sz="1600">
                <a:solidFill>
                  <a:srgbClr val="828282"/>
                </a:solidFill>
              </a:rPr>
              <a:t>Nuwara Eliya</a:t>
            </a:r>
          </a:p>
        </p:txBody>
      </p:sp>
      <p:sp>
        <p:nvSpPr>
          <p:cNvPr id="5" name="TextBox 4"/>
          <p:cNvSpPr txBox="1"/>
          <p:nvPr/>
        </p:nvSpPr>
        <p:spPr>
          <a:xfrm>
            <a:off x="731520" y="1828800"/>
            <a:ext cx="6583680" cy="3840480"/>
          </a:xfrm>
          <a:prstGeom prst="rect">
            <a:avLst/>
          </a:prstGeom>
          <a:noFill/>
        </p:spPr>
        <p:txBody>
          <a:bodyPr wrap="square">
            <a:spAutoFit/>
          </a:bodyPr>
          <a:lstStyle/>
          <a:p>
            <a:r>
              <a:rPr sz="1600">
                <a:solidFill>
                  <a:srgbClr val="373737"/>
                </a:solidFill>
                <a:latin typeface="Calibri"/>
              </a:rPr>
              <a:t>1. Very early breakfast box (4:30 AM)</a:t>
            </a:r>
          </a:p>
          <a:p>
            <a:r>
              <a:rPr sz="1600">
                <a:solidFill>
                  <a:srgbClr val="373737"/>
                </a:solidFill>
                <a:latin typeface="Calibri"/>
              </a:rPr>
              <a:t>2. Drive to Horton Plains National Park</a:t>
            </a:r>
          </a:p>
          <a:p>
            <a:r>
              <a:rPr sz="1600">
                <a:solidFill>
                  <a:srgbClr val="373737"/>
                </a:solidFill>
                <a:latin typeface="Calibri"/>
              </a:rPr>
              <a:t>3. Trek to World's End viewpoint - breathtaking 4000ft drop</a:t>
            </a:r>
          </a:p>
          <a:p>
            <a:r>
              <a:rPr sz="1600">
                <a:solidFill>
                  <a:srgbClr val="373737"/>
                </a:solidFill>
                <a:latin typeface="Calibri"/>
              </a:rPr>
              <a:t>4. Visit Baker's Falls waterfall</a:t>
            </a:r>
          </a:p>
          <a:p>
            <a:r>
              <a:rPr sz="1600">
                <a:solidFill>
                  <a:srgbClr val="373737"/>
                </a:solidFill>
                <a:latin typeface="Calibri"/>
              </a:rPr>
              <a:t>5. Return to hotel for late brunch</a:t>
            </a:r>
          </a:p>
          <a:p>
            <a:r>
              <a:rPr sz="1600">
                <a:solidFill>
                  <a:srgbClr val="373737"/>
                </a:solidFill>
                <a:latin typeface="Calibri"/>
              </a:rPr>
              <a:t>6. Visit working tea factory - learn Ceylon tea production</a:t>
            </a:r>
          </a:p>
          <a:p>
            <a:r>
              <a:rPr sz="1600">
                <a:solidFill>
                  <a:srgbClr val="373737"/>
                </a:solidFill>
                <a:latin typeface="Calibri"/>
              </a:rPr>
              <a:t>7. High tea at Grand Hotel - colonial tradition</a:t>
            </a:r>
          </a:p>
        </p:txBody>
      </p:sp>
      <p:sp>
        <p:nvSpPr>
          <p:cNvPr id="6" name="Rounded Rectangle 5"/>
          <p:cNvSpPr/>
          <p:nvPr/>
        </p:nvSpPr>
        <p:spPr>
          <a:xfrm>
            <a:off x="7589520" y="1828800"/>
            <a:ext cx="3840480" cy="2560320"/>
          </a:xfrm>
          <a:prstGeom prst="roundRect">
            <a:avLst/>
          </a:prstGeom>
          <a:solidFill>
            <a:srgbClr val="EBEBEB"/>
          </a:solidFill>
          <a:ln>
            <a:solidFill>
              <a:srgbClr val="D2D2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5897880"/>
            <a:ext cx="10789920" cy="457200"/>
          </a:xfrm>
          <a:prstGeom prst="rect">
            <a:avLst/>
          </a:prstGeom>
          <a:noFill/>
        </p:spPr>
        <p:txBody>
          <a:bodyPr wrap="none">
            <a:spAutoFit/>
          </a:bodyPr>
          <a:lstStyle/>
          <a:p>
            <a:r>
              <a:rPr sz="1300" b="1">
                <a:solidFill>
                  <a:srgbClr val="5F5F5F"/>
                </a:solidFill>
              </a:rPr>
              <a:t>Travel Time: 1.5 hours      Distance: 35 km      Overnight: Nuwara Eliya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8F8F8"/>
        </a:solidFill>
        <a:effectLst/>
      </p:bgPr>
    </p:bg>
    <p:spTree>
      <p:nvGrpSpPr>
        <p:cNvPr id="1" name=""/>
        <p:cNvGrpSpPr/>
        <p:nvPr/>
      </p:nvGrpSpPr>
      <p:grpSpPr/>
      <p:sp>
        <p:nvSpPr>
          <p:cNvPr id="2" name="Oval 1"/>
          <p:cNvSpPr/>
          <p:nvPr/>
        </p:nvSpPr>
        <p:spPr>
          <a:xfrm>
            <a:off x="640080" y="457200"/>
            <a:ext cx="1097280" cy="1097280"/>
          </a:xfrm>
          <a:prstGeom prst="ellipse">
            <a:avLst/>
          </a:prstGeom>
          <a:solidFill>
            <a:srgbClr val="FFFFFF"/>
          </a:solidFill>
          <a:ln>
            <a:solidFill>
              <a:srgbClr val="D2AA6E"/>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b="1" sz="1400"/>
              <a:t>DAY 7</a:t>
            </a:r>
          </a:p>
        </p:txBody>
      </p:sp>
      <p:sp>
        <p:nvSpPr>
          <p:cNvPr id="3" name="TextBox 2"/>
          <p:cNvSpPr txBox="1"/>
          <p:nvPr/>
        </p:nvSpPr>
        <p:spPr>
          <a:xfrm>
            <a:off x="1920240" y="566928"/>
            <a:ext cx="6949440" cy="548640"/>
          </a:xfrm>
          <a:prstGeom prst="rect">
            <a:avLst/>
          </a:prstGeom>
          <a:noFill/>
        </p:spPr>
        <p:txBody>
          <a:bodyPr wrap="none">
            <a:spAutoFit/>
          </a:bodyPr>
          <a:lstStyle/>
          <a:p>
            <a:pPr algn="l"/>
            <a:r>
              <a:rPr sz="3000" b="1">
                <a:solidFill>
                  <a:srgbClr val="323232"/>
                </a:solidFill>
                <a:latin typeface="Palatino Linotype"/>
              </a:rPr>
              <a:t>Coastal Beauty of Galle</a:t>
            </a:r>
          </a:p>
        </p:txBody>
      </p:sp>
      <p:sp>
        <p:nvSpPr>
          <p:cNvPr id="4" name="TextBox 3"/>
          <p:cNvSpPr txBox="1"/>
          <p:nvPr/>
        </p:nvSpPr>
        <p:spPr>
          <a:xfrm>
            <a:off x="1920240" y="1115568"/>
            <a:ext cx="2743200" cy="365760"/>
          </a:xfrm>
          <a:prstGeom prst="rect">
            <a:avLst/>
          </a:prstGeom>
          <a:noFill/>
        </p:spPr>
        <p:txBody>
          <a:bodyPr wrap="none">
            <a:spAutoFit/>
          </a:bodyPr>
          <a:lstStyle/>
          <a:p>
            <a:r>
              <a:rPr sz="1600">
                <a:solidFill>
                  <a:srgbClr val="828282"/>
                </a:solidFill>
              </a:rPr>
              <a:t>Galle</a:t>
            </a:r>
          </a:p>
        </p:txBody>
      </p:sp>
      <p:sp>
        <p:nvSpPr>
          <p:cNvPr id="5" name="TextBox 4"/>
          <p:cNvSpPr txBox="1"/>
          <p:nvPr/>
        </p:nvSpPr>
        <p:spPr>
          <a:xfrm>
            <a:off x="731520" y="1828800"/>
            <a:ext cx="6583680" cy="3840480"/>
          </a:xfrm>
          <a:prstGeom prst="rect">
            <a:avLst/>
          </a:prstGeom>
          <a:noFill/>
        </p:spPr>
        <p:txBody>
          <a:bodyPr wrap="square">
            <a:spAutoFit/>
          </a:bodyPr>
          <a:lstStyle/>
          <a:p>
            <a:r>
              <a:rPr sz="1600">
                <a:solidFill>
                  <a:srgbClr val="373737"/>
                </a:solidFill>
                <a:latin typeface="Calibri"/>
              </a:rPr>
              <a:t>1. Breakfast and check-out</a:t>
            </a:r>
          </a:p>
          <a:p>
            <a:r>
              <a:rPr sz="1600">
                <a:solidFill>
                  <a:srgbClr val="373737"/>
                </a:solidFill>
                <a:latin typeface="Calibri"/>
              </a:rPr>
              <a:t>2. Scenic drive to southern coast through hill country</a:t>
            </a:r>
          </a:p>
          <a:p>
            <a:r>
              <a:rPr sz="1600">
                <a:solidFill>
                  <a:srgbClr val="373737"/>
                </a:solidFill>
                <a:latin typeface="Calibri"/>
              </a:rPr>
              <a:t>3. Lunch at beachside restaurant</a:t>
            </a:r>
          </a:p>
          <a:p>
            <a:r>
              <a:rPr sz="1600">
                <a:solidFill>
                  <a:srgbClr val="373737"/>
                </a:solidFill>
                <a:latin typeface="Calibri"/>
              </a:rPr>
              <a:t>4. Explore UNESCO-listed Galle Fort</a:t>
            </a:r>
          </a:p>
          <a:p>
            <a:r>
              <a:rPr sz="1600">
                <a:solidFill>
                  <a:srgbClr val="373737"/>
                </a:solidFill>
                <a:latin typeface="Calibri"/>
              </a:rPr>
              <a:t>5. Walk through Dutch colonial architecture</a:t>
            </a:r>
          </a:p>
          <a:p>
            <a:r>
              <a:rPr sz="1600">
                <a:solidFill>
                  <a:srgbClr val="373737"/>
                </a:solidFill>
                <a:latin typeface="Calibri"/>
              </a:rPr>
              <a:t>6. Visit lighthouse and fort ramparts</a:t>
            </a:r>
          </a:p>
          <a:p>
            <a:r>
              <a:rPr sz="1600">
                <a:solidFill>
                  <a:srgbClr val="373737"/>
                </a:solidFill>
                <a:latin typeface="Calibri"/>
              </a:rPr>
              <a:t>7. Sunset photography along the fort walls</a:t>
            </a:r>
          </a:p>
          <a:p>
            <a:r>
              <a:rPr sz="1600">
                <a:solidFill>
                  <a:srgbClr val="373737"/>
                </a:solidFill>
                <a:latin typeface="Calibri"/>
              </a:rPr>
              <a:t>8. Dinner at boutique restaurant in the fort</a:t>
            </a:r>
          </a:p>
        </p:txBody>
      </p:sp>
      <p:sp>
        <p:nvSpPr>
          <p:cNvPr id="6" name="Rounded Rectangle 5"/>
          <p:cNvSpPr/>
          <p:nvPr/>
        </p:nvSpPr>
        <p:spPr>
          <a:xfrm>
            <a:off x="7589520" y="1828800"/>
            <a:ext cx="3840480" cy="2560320"/>
          </a:xfrm>
          <a:prstGeom prst="roundRect">
            <a:avLst/>
          </a:prstGeom>
          <a:solidFill>
            <a:srgbClr val="EBEBEB"/>
          </a:solidFill>
          <a:ln>
            <a:solidFill>
              <a:srgbClr val="D2D2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5897880"/>
            <a:ext cx="10789920" cy="457200"/>
          </a:xfrm>
          <a:prstGeom prst="rect">
            <a:avLst/>
          </a:prstGeom>
          <a:noFill/>
        </p:spPr>
        <p:txBody>
          <a:bodyPr wrap="none">
            <a:spAutoFit/>
          </a:bodyPr>
          <a:lstStyle/>
          <a:p>
            <a:r>
              <a:rPr sz="1300" b="1">
                <a:solidFill>
                  <a:srgbClr val="5F5F5F"/>
                </a:solidFill>
              </a:rPr>
              <a:t>Travel Time: 5 hours      Distance: 175 km      Overnight: Galle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8F8F8"/>
        </a:solidFill>
        <a:effectLst/>
      </p:bgPr>
    </p:bg>
    <p:spTree>
      <p:nvGrpSpPr>
        <p:cNvPr id="1" name=""/>
        <p:cNvGrpSpPr/>
        <p:nvPr/>
      </p:nvGrpSpPr>
      <p:grpSpPr/>
      <p:sp>
        <p:nvSpPr>
          <p:cNvPr id="2" name="Oval 1"/>
          <p:cNvSpPr/>
          <p:nvPr/>
        </p:nvSpPr>
        <p:spPr>
          <a:xfrm>
            <a:off x="640080" y="457200"/>
            <a:ext cx="1097280" cy="1097280"/>
          </a:xfrm>
          <a:prstGeom prst="ellipse">
            <a:avLst/>
          </a:prstGeom>
          <a:solidFill>
            <a:srgbClr val="FFFFFF"/>
          </a:solidFill>
          <a:ln>
            <a:solidFill>
              <a:srgbClr val="D2AA6E"/>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b="1" sz="1400"/>
              <a:t>DAY 8</a:t>
            </a:r>
          </a:p>
        </p:txBody>
      </p:sp>
      <p:sp>
        <p:nvSpPr>
          <p:cNvPr id="3" name="TextBox 2"/>
          <p:cNvSpPr txBox="1"/>
          <p:nvPr/>
        </p:nvSpPr>
        <p:spPr>
          <a:xfrm>
            <a:off x="1920240" y="566928"/>
            <a:ext cx="6949440" cy="548640"/>
          </a:xfrm>
          <a:prstGeom prst="rect">
            <a:avLst/>
          </a:prstGeom>
          <a:noFill/>
        </p:spPr>
        <p:txBody>
          <a:bodyPr wrap="none">
            <a:spAutoFit/>
          </a:bodyPr>
          <a:lstStyle/>
          <a:p>
            <a:pPr algn="l"/>
            <a:r>
              <a:rPr sz="3000" b="1">
                <a:solidFill>
                  <a:srgbClr val="323232"/>
                </a:solidFill>
                <a:latin typeface="Palatino Linotype"/>
              </a:rPr>
              <a:t>Farewell Sri Lanka</a:t>
            </a:r>
          </a:p>
        </p:txBody>
      </p:sp>
      <p:sp>
        <p:nvSpPr>
          <p:cNvPr id="4" name="TextBox 3"/>
          <p:cNvSpPr txBox="1"/>
          <p:nvPr/>
        </p:nvSpPr>
        <p:spPr>
          <a:xfrm>
            <a:off x="1920240" y="1115568"/>
            <a:ext cx="2743200" cy="365760"/>
          </a:xfrm>
          <a:prstGeom prst="rect">
            <a:avLst/>
          </a:prstGeom>
          <a:noFill/>
        </p:spPr>
        <p:txBody>
          <a:bodyPr wrap="none">
            <a:spAutoFit/>
          </a:bodyPr>
          <a:lstStyle/>
          <a:p>
            <a:r>
              <a:rPr sz="1600">
                <a:solidFill>
                  <a:srgbClr val="828282"/>
                </a:solidFill>
              </a:rPr>
              <a:t>Colombo</a:t>
            </a:r>
          </a:p>
        </p:txBody>
      </p:sp>
      <p:sp>
        <p:nvSpPr>
          <p:cNvPr id="5" name="TextBox 4"/>
          <p:cNvSpPr txBox="1"/>
          <p:nvPr/>
        </p:nvSpPr>
        <p:spPr>
          <a:xfrm>
            <a:off x="731520" y="1828800"/>
            <a:ext cx="6583680" cy="3840480"/>
          </a:xfrm>
          <a:prstGeom prst="rect">
            <a:avLst/>
          </a:prstGeom>
          <a:noFill/>
        </p:spPr>
        <p:txBody>
          <a:bodyPr wrap="square">
            <a:spAutoFit/>
          </a:bodyPr>
          <a:lstStyle/>
          <a:p>
            <a:r>
              <a:rPr sz="1600">
                <a:solidFill>
                  <a:srgbClr val="373737"/>
                </a:solidFill>
                <a:latin typeface="Calibri"/>
              </a:rPr>
              <a:t>1. Breakfast at hotel</a:t>
            </a:r>
          </a:p>
          <a:p>
            <a:r>
              <a:rPr sz="1600">
                <a:solidFill>
                  <a:srgbClr val="373737"/>
                </a:solidFill>
                <a:latin typeface="Calibri"/>
              </a:rPr>
              <a:t>2. Morning at leisure - optional beach time</a:t>
            </a:r>
          </a:p>
          <a:p>
            <a:r>
              <a:rPr sz="1600">
                <a:solidFill>
                  <a:srgbClr val="373737"/>
                </a:solidFill>
                <a:latin typeface="Calibri"/>
              </a:rPr>
              <a:t>3. Check-out and drive to Colombo airport</a:t>
            </a:r>
          </a:p>
          <a:p>
            <a:r>
              <a:rPr sz="1600">
                <a:solidFill>
                  <a:srgbClr val="373737"/>
                </a:solidFill>
                <a:latin typeface="Calibri"/>
              </a:rPr>
              <a:t>4. Last-minute shopping if time permits</a:t>
            </a:r>
          </a:p>
          <a:p>
            <a:r>
              <a:rPr sz="1600">
                <a:solidFill>
                  <a:srgbClr val="373737"/>
                </a:solidFill>
                <a:latin typeface="Calibri"/>
              </a:rPr>
              <a:t>5. Departure from Bandaranaike International Airport</a:t>
            </a:r>
          </a:p>
          <a:p>
            <a:r>
              <a:rPr sz="1600">
                <a:solidFill>
                  <a:srgbClr val="373737"/>
                </a:solidFill>
                <a:latin typeface="Calibri"/>
              </a:rPr>
              <a:t>6. End of memorable Sri Lankan journey</a:t>
            </a:r>
          </a:p>
        </p:txBody>
      </p:sp>
      <p:sp>
        <p:nvSpPr>
          <p:cNvPr id="6" name="Rounded Rectangle 5"/>
          <p:cNvSpPr/>
          <p:nvPr/>
        </p:nvSpPr>
        <p:spPr>
          <a:xfrm>
            <a:off x="7589520" y="1828800"/>
            <a:ext cx="3840480" cy="2560320"/>
          </a:xfrm>
          <a:prstGeom prst="roundRect">
            <a:avLst/>
          </a:prstGeom>
          <a:solidFill>
            <a:srgbClr val="EBEBEB"/>
          </a:solidFill>
          <a:ln>
            <a:solidFill>
              <a:srgbClr val="D2D2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5897880"/>
            <a:ext cx="10789920" cy="457200"/>
          </a:xfrm>
          <a:prstGeom prst="rect">
            <a:avLst/>
          </a:prstGeom>
          <a:noFill/>
        </p:spPr>
        <p:txBody>
          <a:bodyPr wrap="none">
            <a:spAutoFit/>
          </a:bodyPr>
          <a:lstStyle/>
          <a:p>
            <a:r>
              <a:rPr sz="1300" b="1">
                <a:solidFill>
                  <a:srgbClr val="5F5F5F"/>
                </a:solidFill>
              </a:rPr>
              <a:t>Travel Time: 3 hours      Distance: 145 km      Overnight: N/A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5F4F0"/>
        </a:solidFill>
        <a:effectLst/>
      </p:bgPr>
    </p:bg>
    <p:spTree>
      <p:nvGrpSpPr>
        <p:cNvPr id="1" name=""/>
        <p:cNvGrpSpPr/>
        <p:nvPr/>
      </p:nvGrpSpPr>
      <p:grpSpPr/>
      <p:sp>
        <p:nvSpPr>
          <p:cNvPr id="2" name="TextBox 1"/>
          <p:cNvSpPr txBox="1"/>
          <p:nvPr/>
        </p:nvSpPr>
        <p:spPr>
          <a:xfrm>
            <a:off x="731520" y="457200"/>
            <a:ext cx="5943600" cy="731520"/>
          </a:xfrm>
          <a:prstGeom prst="rect">
            <a:avLst/>
          </a:prstGeom>
          <a:noFill/>
        </p:spPr>
        <p:txBody>
          <a:bodyPr wrap="none">
            <a:spAutoFit/>
          </a:bodyPr>
          <a:lstStyle/>
          <a:p>
            <a:pPr algn="l"/>
            <a:r>
              <a:rPr sz="3200" b="1">
                <a:solidFill>
                  <a:srgbClr val="2D2D2D"/>
                </a:solidFill>
                <a:latin typeface="Palatino Linotype"/>
              </a:rPr>
              <a:t>Inclusions &amp; Notes</a:t>
            </a:r>
          </a:p>
        </p:txBody>
      </p:sp>
      <p:sp>
        <p:nvSpPr>
          <p:cNvPr id="3" name="TextBox 2"/>
          <p:cNvSpPr txBox="1"/>
          <p:nvPr/>
        </p:nvSpPr>
        <p:spPr>
          <a:xfrm>
            <a:off x="731520" y="1371600"/>
            <a:ext cx="5303520" cy="4480560"/>
          </a:xfrm>
          <a:prstGeom prst="rect">
            <a:avLst/>
          </a:prstGeom>
          <a:noFill/>
        </p:spPr>
        <p:txBody>
          <a:bodyPr wrap="square">
            <a:spAutoFit/>
          </a:bodyPr>
          <a:lstStyle/>
          <a:p>
            <a:r>
              <a:rPr b="1" sz="2100"/>
              <a:t>Inclusions</a:t>
            </a:r>
          </a:p>
          <a:p>
            <a:pPr/>
            <a:r>
              <a:rPr sz="1500"/>
              <a:t>• 7 nights accommodation in 4 &amp; 5 star hotels</a:t>
            </a:r>
          </a:p>
          <a:p>
            <a:pPr/>
            <a:r>
              <a:rPr sz="1500"/>
              <a:t>• Daily breakfast at all hotels</a:t>
            </a:r>
          </a:p>
          <a:p>
            <a:pPr/>
            <a:r>
              <a:rPr sz="1500"/>
              <a:t>• Welcome dinner on Day 1</a:t>
            </a:r>
          </a:p>
          <a:p>
            <a:pPr/>
            <a:r>
              <a:rPr sz="1500"/>
              <a:t>• 3 lunches at select restaurants</a:t>
            </a:r>
          </a:p>
          <a:p>
            <a:pPr/>
            <a:r>
              <a:rPr sz="1500"/>
              <a:t>• All entrance fees to monuments and sites</a:t>
            </a:r>
          </a:p>
          <a:p>
            <a:pPr/>
            <a:r>
              <a:rPr sz="1500"/>
              <a:t>• English-speaking professional guide throughout</a:t>
            </a:r>
          </a:p>
          <a:p>
            <a:pPr/>
            <a:r>
              <a:rPr sz="1500"/>
              <a:t>• Private air-conditioned vehicle for all transfers</a:t>
            </a:r>
          </a:p>
          <a:p>
            <a:pPr/>
            <a:r>
              <a:rPr sz="1500"/>
              <a:t>• Airport meet and greet service</a:t>
            </a:r>
          </a:p>
          <a:p>
            <a:pPr/>
            <a:r>
              <a:rPr sz="1500"/>
              <a:t>• Train tickets for Kandy to Nuwara Eliya scenic route</a:t>
            </a:r>
          </a:p>
          <a:p>
            <a:pPr/>
            <a:r>
              <a:rPr sz="1500"/>
              <a:t>• All activities mentioned in itinerary</a:t>
            </a:r>
          </a:p>
          <a:p>
            <a:pPr/>
            <a:r>
              <a:rPr sz="1500"/>
              <a:t>• High tea at Grand Hotel Nuwara Eliya</a:t>
            </a:r>
          </a:p>
          <a:p>
            <a:pPr/>
            <a:r>
              <a:rPr sz="1500"/>
              <a:t>• Bottled water during transfers</a:t>
            </a:r>
          </a:p>
          <a:p>
            <a:pPr/>
            <a:r>
              <a:rPr sz="1500"/>
              <a:t>• Hotel taxes and service charges</a:t>
            </a:r>
          </a:p>
        </p:txBody>
      </p:sp>
      <p:sp>
        <p:nvSpPr>
          <p:cNvPr id="4" name="TextBox 3"/>
          <p:cNvSpPr txBox="1"/>
          <p:nvPr/>
        </p:nvSpPr>
        <p:spPr>
          <a:xfrm>
            <a:off x="6217920" y="1371600"/>
            <a:ext cx="5303520" cy="4480560"/>
          </a:xfrm>
          <a:prstGeom prst="rect">
            <a:avLst/>
          </a:prstGeom>
          <a:noFill/>
        </p:spPr>
        <p:txBody>
          <a:bodyPr wrap="square">
            <a:spAutoFit/>
          </a:bodyPr>
          <a:lstStyle/>
          <a:p>
            <a:r>
              <a:rPr b="1" sz="2100"/>
              <a:t>Exclusions</a:t>
            </a:r>
          </a:p>
          <a:p>
            <a:pPr/>
            <a:r>
              <a:rPr sz="1500"/>
              <a:t>• International and domestic airfare</a:t>
            </a:r>
          </a:p>
          <a:p>
            <a:pPr/>
            <a:r>
              <a:rPr sz="1500"/>
              <a:t>• Sri Lankan visa fees (ETA)</a:t>
            </a:r>
          </a:p>
          <a:p>
            <a:pPr/>
            <a:r>
              <a:rPr sz="1500"/>
              <a:t>• Travel insurance</a:t>
            </a:r>
          </a:p>
          <a:p>
            <a:pPr/>
            <a:r>
              <a:rPr sz="1500"/>
              <a:t>• Lunches and dinners not mentioned in itinerary</a:t>
            </a:r>
          </a:p>
          <a:p>
            <a:pPr/>
            <a:r>
              <a:rPr sz="1500"/>
              <a:t>• Optional activities and spa treatments</a:t>
            </a:r>
          </a:p>
          <a:p>
            <a:pPr/>
            <a:r>
              <a:rPr sz="1500"/>
              <a:t>• Personal expenses and shopping</a:t>
            </a:r>
          </a:p>
          <a:p>
            <a:pPr/>
            <a:r>
              <a:rPr sz="1500"/>
              <a:t>• Tips for guides and drivers</a:t>
            </a:r>
          </a:p>
          <a:p>
            <a:pPr/>
            <a:r>
              <a:rPr sz="1500"/>
              <a:t>• Camera fees at certain sites</a:t>
            </a:r>
          </a:p>
          <a:p>
            <a:pPr/>
            <a:r>
              <a:rPr sz="1500"/>
              <a:t>• Any services not mentioned in inclusions</a:t>
            </a:r>
          </a:p>
        </p:txBody>
      </p:sp>
      <p:sp>
        <p:nvSpPr>
          <p:cNvPr id="5" name="Rounded Rectangle 4"/>
          <p:cNvSpPr/>
          <p:nvPr/>
        </p:nvSpPr>
        <p:spPr>
          <a:xfrm>
            <a:off x="4114800" y="5897880"/>
            <a:ext cx="4023360" cy="640080"/>
          </a:xfrm>
          <a:prstGeom prst="roundRect">
            <a:avLst/>
          </a:prstGeom>
          <a:solidFill>
            <a:srgbClr val="C98D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b="1" sz="1600">
                <a:solidFill>
                  <a:srgbClr val="FFFFFF"/>
                </a:solidFill>
              </a:rPr>
              <a:t>Cost Per Person: ₹48,500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